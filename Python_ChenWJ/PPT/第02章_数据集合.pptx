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media/image39.jpg" ContentType="image/png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140"/>
  </p:notesMasterIdLst>
  <p:handoutMasterIdLst>
    <p:handoutMasterId r:id="rId141"/>
  </p:handoutMasterIdLst>
  <p:sldIdLst>
    <p:sldId id="256" r:id="rId4"/>
    <p:sldId id="295" r:id="rId5"/>
    <p:sldId id="257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310" r:id="rId27"/>
    <p:sldId id="302" r:id="rId28"/>
    <p:sldId id="38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9" r:id="rId37"/>
    <p:sldId id="410" r:id="rId38"/>
    <p:sldId id="411" r:id="rId39"/>
    <p:sldId id="503" r:id="rId40"/>
    <p:sldId id="412" r:id="rId41"/>
    <p:sldId id="413" r:id="rId42"/>
    <p:sldId id="414" r:id="rId43"/>
    <p:sldId id="415" r:id="rId44"/>
    <p:sldId id="417" r:id="rId45"/>
    <p:sldId id="416" r:id="rId46"/>
    <p:sldId id="418" r:id="rId47"/>
    <p:sldId id="420" r:id="rId48"/>
    <p:sldId id="419" r:id="rId49"/>
    <p:sldId id="421" r:id="rId50"/>
    <p:sldId id="422" r:id="rId51"/>
    <p:sldId id="423" r:id="rId52"/>
    <p:sldId id="424" r:id="rId53"/>
    <p:sldId id="425" r:id="rId54"/>
    <p:sldId id="426" r:id="rId55"/>
    <p:sldId id="427" r:id="rId56"/>
    <p:sldId id="428" r:id="rId57"/>
    <p:sldId id="429" r:id="rId58"/>
    <p:sldId id="431" r:id="rId59"/>
    <p:sldId id="430" r:id="rId60"/>
    <p:sldId id="432" r:id="rId61"/>
    <p:sldId id="433" r:id="rId62"/>
    <p:sldId id="434" r:id="rId63"/>
    <p:sldId id="435" r:id="rId64"/>
    <p:sldId id="436" r:id="rId65"/>
    <p:sldId id="437" r:id="rId66"/>
    <p:sldId id="439" r:id="rId67"/>
    <p:sldId id="440" r:id="rId68"/>
    <p:sldId id="438" r:id="rId69"/>
    <p:sldId id="441" r:id="rId70"/>
    <p:sldId id="442" r:id="rId71"/>
    <p:sldId id="443" r:id="rId72"/>
    <p:sldId id="444" r:id="rId73"/>
    <p:sldId id="446" r:id="rId74"/>
    <p:sldId id="445" r:id="rId75"/>
    <p:sldId id="447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6" r:id="rId84"/>
    <p:sldId id="457" r:id="rId85"/>
    <p:sldId id="458" r:id="rId86"/>
    <p:sldId id="455" r:id="rId87"/>
    <p:sldId id="459" r:id="rId88"/>
    <p:sldId id="461" r:id="rId89"/>
    <p:sldId id="460" r:id="rId90"/>
    <p:sldId id="463" r:id="rId91"/>
    <p:sldId id="462" r:id="rId92"/>
    <p:sldId id="464" r:id="rId93"/>
    <p:sldId id="465" r:id="rId94"/>
    <p:sldId id="466" r:id="rId95"/>
    <p:sldId id="467" r:id="rId96"/>
    <p:sldId id="468" r:id="rId97"/>
    <p:sldId id="469" r:id="rId98"/>
    <p:sldId id="470" r:id="rId99"/>
    <p:sldId id="471" r:id="rId100"/>
    <p:sldId id="473" r:id="rId101"/>
    <p:sldId id="472" r:id="rId102"/>
    <p:sldId id="474" r:id="rId103"/>
    <p:sldId id="475" r:id="rId104"/>
    <p:sldId id="476" r:id="rId105"/>
    <p:sldId id="477" r:id="rId106"/>
    <p:sldId id="478" r:id="rId107"/>
    <p:sldId id="480" r:id="rId108"/>
    <p:sldId id="479" r:id="rId109"/>
    <p:sldId id="481" r:id="rId110"/>
    <p:sldId id="483" r:id="rId111"/>
    <p:sldId id="484" r:id="rId112"/>
    <p:sldId id="482" r:id="rId113"/>
    <p:sldId id="485" r:id="rId114"/>
    <p:sldId id="486" r:id="rId115"/>
    <p:sldId id="487" r:id="rId116"/>
    <p:sldId id="488" r:id="rId117"/>
    <p:sldId id="489" r:id="rId118"/>
    <p:sldId id="490" r:id="rId119"/>
    <p:sldId id="491" r:id="rId120"/>
    <p:sldId id="492" r:id="rId121"/>
    <p:sldId id="494" r:id="rId122"/>
    <p:sldId id="493" r:id="rId123"/>
    <p:sldId id="495" r:id="rId124"/>
    <p:sldId id="497" r:id="rId125"/>
    <p:sldId id="498" r:id="rId126"/>
    <p:sldId id="499" r:id="rId127"/>
    <p:sldId id="500" r:id="rId128"/>
    <p:sldId id="502" r:id="rId129"/>
    <p:sldId id="501" r:id="rId130"/>
    <p:sldId id="504" r:id="rId131"/>
    <p:sldId id="505" r:id="rId132"/>
    <p:sldId id="506" r:id="rId133"/>
    <p:sldId id="507" r:id="rId134"/>
    <p:sldId id="508" r:id="rId135"/>
    <p:sldId id="509" r:id="rId136"/>
    <p:sldId id="510" r:id="rId137"/>
    <p:sldId id="511" r:id="rId138"/>
    <p:sldId id="297" r:id="rId139"/>
  </p:sldIdLst>
  <p:sldSz cx="12192000" cy="6858000"/>
  <p:notesSz cx="6858000" cy="9144000"/>
  <p:custDataLst>
    <p:tags r:id="rId1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81308C"/>
    <a:srgbClr val="CECEEF"/>
    <a:srgbClr val="BBE0E3"/>
    <a:srgbClr val="6A005E"/>
    <a:srgbClr val="00863A"/>
    <a:srgbClr val="8C1515"/>
    <a:srgbClr val="DEC7DC"/>
    <a:srgbClr val="8F0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3939" autoAdjust="0"/>
  </p:normalViewPr>
  <p:slideViewPr>
    <p:cSldViewPr snapToGrid="0" showGuides="1">
      <p:cViewPr varScale="1">
        <p:scale>
          <a:sx n="107" d="100"/>
          <a:sy n="107" d="100"/>
        </p:scale>
        <p:origin x="696" y="16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slide" Target="slides/slide13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notesMaster" Target="notesMasters/notesMaster1.xml"/><Relationship Id="rId14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handoutMaster" Target="handoutMasters/handoutMaster1.xml"/><Relationship Id="rId14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tags" Target="tags/tag1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78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63266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00165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45734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66414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832055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827973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836458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6336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441159" y="6364332"/>
            <a:ext cx="574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2026/6/9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4277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jp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gi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数据集合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356539" y="432838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6666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5764319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715493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838782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393741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440103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486464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532825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9579187" y="2726619"/>
            <a:ext cx="1167434" cy="1317787"/>
            <a:chOff x="1393741" y="2302863"/>
            <a:chExt cx="1167434" cy="1317787"/>
          </a:xfrm>
        </p:grpSpPr>
        <p:grpSp>
          <p:nvGrpSpPr>
            <p:cNvPr id="62" name="组合 6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69" name="泪滴形 6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6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3584798" y="43283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630054" y="43283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7674026" y="43283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29"/>
          <p:cNvSpPr txBox="1"/>
          <p:nvPr/>
        </p:nvSpPr>
        <p:spPr>
          <a:xfrm>
            <a:off x="9725360" y="43283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  <a:endParaRPr lang="zh-CN" altLang="en-US" sz="28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9862756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01288" y="1259074"/>
            <a:ext cx="962113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字符串类型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str</a:t>
            </a:r>
          </a:p>
          <a:p>
            <a:pPr lvl="1"/>
            <a:r>
              <a:rPr lang="zh-CN" altLang="en-US"/>
              <a:t>用单引号或双引号括起来的一个字符序列</a:t>
            </a:r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1394403" y="3187570"/>
            <a:ext cx="95185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main():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riddle</a:t>
            </a:r>
            <a:r>
              <a:rPr lang="pl-PL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= "</a:t>
            </a: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what is the longest word in the world"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print(riddle)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32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print('smile')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91868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字符串的存储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 txBox="1">
            <a:spLocks/>
          </p:cNvSpPr>
          <p:nvPr/>
        </p:nvSpPr>
        <p:spPr bwMode="auto">
          <a:xfrm>
            <a:off x="1295422" y="131961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字符串中的字符下标从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开始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 = "smile"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  <a:defRPr/>
            </a:pP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可以访问其中第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个字符：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s[i]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147714"/>
              </p:ext>
            </p:extLst>
          </p:nvPr>
        </p:nvGraphicFramePr>
        <p:xfrm>
          <a:off x="3482997" y="2782650"/>
          <a:ext cx="4441825" cy="822960"/>
        </p:xfrm>
        <a:graphic>
          <a:graphicData uri="http://schemas.openxmlformats.org/drawingml/2006/table">
            <a:tbl>
              <a:tblPr/>
              <a:tblGrid>
                <a:gridCol w="88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8634" y="368181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0   1   2   3   4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8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字符串长度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3"/>
          <p:cNvSpPr txBox="1">
            <a:spLocks/>
          </p:cNvSpPr>
          <p:nvPr/>
        </p:nvSpPr>
        <p:spPr bwMode="auto">
          <a:xfrm>
            <a:off x="910851" y="1328156"/>
            <a:ext cx="10036311" cy="4200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字符串长度函数：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len(s)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，返回字符串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s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的长度，即该字符串中字符的个数。若长度为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N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，则元素下标为：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～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N-1</a:t>
            </a:r>
          </a:p>
        </p:txBody>
      </p:sp>
      <p:graphicFrame>
        <p:nvGraphicFramePr>
          <p:cNvPr id="1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38554"/>
              </p:ext>
            </p:extLst>
          </p:nvPr>
        </p:nvGraphicFramePr>
        <p:xfrm>
          <a:off x="1896478" y="3435900"/>
          <a:ext cx="7467597" cy="822960"/>
        </p:xfrm>
        <a:graphic>
          <a:graphicData uri="http://schemas.openxmlformats.org/drawingml/2006/table">
            <a:tbl>
              <a:tblPr/>
              <a:tblGrid>
                <a:gridCol w="830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6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6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zh-CN" altLang="en-US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！</a:t>
                      </a:r>
                      <a:endParaRPr kumimoji="0" lang="en-US" altLang="zh-CN" sz="4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ＭＳ Ｐゴシック" pitchFamily="34" charset="-128"/>
                        <a:cs typeface="Courier New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25076" y="433506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0   1   2   3   4   5   6   7  8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785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字符串拼接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 txBox="1">
            <a:spLocks/>
          </p:cNvSpPr>
          <p:nvPr/>
        </p:nvSpPr>
        <p:spPr bwMode="auto">
          <a:xfrm>
            <a:off x="1474888" y="1319610"/>
            <a:ext cx="8534400" cy="410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buSzPct val="80000"/>
              <a:buFont typeface="Wingdings" pitchFamily="2" charset="2"/>
              <a:buChar char="l"/>
              <a:defRPr/>
            </a:pPr>
            <a:r>
              <a:rPr lang="zh-CN" altLang="en-US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拼接操作：</a:t>
            </a:r>
            <a:r>
              <a:rPr lang="en-US" altLang="zh-CN" sz="3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s1 = "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mile "</a:t>
            </a:r>
            <a:b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</a:b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s2 = "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A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nd</a:t>
            </a: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 </a:t>
            </a: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rgbClr val="0000FF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R</a:t>
            </a: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emain </a:t>
            </a: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rgbClr val="0000FF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</a:t>
            </a: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mile"</a:t>
            </a:r>
            <a:b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</a:b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s = s1 + s2</a:t>
            </a:r>
            <a:b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</a:br>
            <a:r>
              <a:rPr kumimoji="0" lang="en-US" altLang="zh-CN" sz="32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print(s)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  <a:defRPr/>
            </a:pP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只适用于字符串，</a:t>
            </a:r>
            <a:r>
              <a:rPr lang="en-US" altLang="zh-CN" sz="32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"ab" + 2</a:t>
            </a:r>
            <a:r>
              <a:rPr lang="zh-CN" altLang="en-US" sz="3200" b="1">
                <a:latin typeface="楷体" pitchFamily="49" charset="-122"/>
                <a:ea typeface="楷体" pitchFamily="49" charset="-122"/>
              </a:rPr>
              <a:t>错误</a:t>
            </a:r>
            <a:endParaRPr lang="en-US" altLang="zh-CN" sz="3200" b="1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9927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字符串比较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291852" y="1301804"/>
            <a:ext cx="9014376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字符串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比较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操作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所有关系运算符都能使用（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==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!=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结果为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False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5252" y="4002988"/>
            <a:ext cx="6843540" cy="2074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"America" &lt; "China"</a:t>
            </a:r>
          </a:p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"Love" &gt; "Life" &gt; "Freedom"    </a:t>
            </a:r>
          </a:p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"Love" != "Possession"</a:t>
            </a:r>
          </a:p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"ab" &lt; "abc"</a:t>
            </a:r>
          </a:p>
        </p:txBody>
      </p:sp>
    </p:spTree>
    <p:extLst>
      <p:ext uri="{BB962C8B-B14F-4D97-AF65-F5344CB8AC3E}">
        <p14:creationId xmlns:p14="http://schemas.microsoft.com/office/powerpoint/2010/main" val="57651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代码分析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1240" y="1134890"/>
            <a:ext cx="8534400" cy="513730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word = "ijklmnop"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s = ""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length = len(word)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for i in range(length // 2): 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if i &lt; 2 :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c1 = word[3]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c2 = word[6-3*i] 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else :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c1 = word[6*(i-2)]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    c2 = word[7]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s = s + c1 + c2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print(s)</a:t>
            </a:r>
          </a:p>
          <a:p>
            <a:pPr>
              <a:lnSpc>
                <a:spcPts val="28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44557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遍历字符串的两种方法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3049" y="1504652"/>
            <a:ext cx="8813537" cy="200054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 = "Impossible is nothing Just do it!"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3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range(</a:t>
            </a:r>
            <a:r>
              <a:rPr lang="en-US" altLang="zh-CN" sz="3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(s))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: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s[</a:t>
            </a:r>
            <a:r>
              <a:rPr lang="en-US" altLang="zh-CN" sz="3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zh-CN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#,end=''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3050" y="4038600"/>
            <a:ext cx="8813536" cy="150810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s = "Impossible is nothing Just do it!"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32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ch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in </a:t>
            </a:r>
            <a:r>
              <a:rPr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: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    print(</a:t>
            </a:r>
            <a:r>
              <a:rPr lang="en-US" altLang="zh-CN" sz="3200" b="1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316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54320" y="1056826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s = 'this is a Test '</a:t>
            </a:r>
            <a:endParaRPr lang="zh-CN" altLang="en-US" sz="320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20821"/>
              </p:ext>
            </p:extLst>
          </p:nvPr>
        </p:nvGraphicFramePr>
        <p:xfrm>
          <a:off x="1558920" y="1864546"/>
          <a:ext cx="82296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split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</a:t>
                      </a: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.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split(' ')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['this', 'is', 'a', 'Test']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upper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s.upper()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'THIS IS A TEST 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lower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s.lower()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'this is a test 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replace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s.replace</a:t>
                      </a: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('</a:t>
                      </a:r>
                      <a:r>
                        <a:rPr lang="en-US" altLang="zh-CN" sz="28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is','e</a:t>
                      </a: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'the e a Test 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find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s.find('is')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首次出现的下标或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-1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strip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s.strip()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'this is a Test' </a:t>
                      </a:r>
                    </a:p>
                    <a:p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去掉首尾特定字符如空格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006720" y="5857426"/>
            <a:ext cx="6019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kern="0">
                <a:latin typeface="Courier New" pitchFamily="49" charset="0"/>
                <a:ea typeface="ＭＳ Ｐゴシック" pitchFamily="34" charset="-128"/>
              </a:rPr>
              <a:t>'his' </a:t>
            </a:r>
            <a:r>
              <a:rPr lang="en-US" altLang="zh-CN" sz="2800" b="1" kern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</a:rPr>
              <a:t>in</a:t>
            </a:r>
            <a:r>
              <a:rPr lang="en-US" altLang="zh-CN" sz="2800" b="1" kern="0">
                <a:latin typeface="Courier New" pitchFamily="49" charset="0"/>
                <a:ea typeface="ＭＳ Ｐゴシック" pitchFamily="34" charset="-128"/>
              </a:rPr>
              <a:t> s	True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08514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字符串函数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39780" y="121920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s = 'this is a Test '</a:t>
            </a:r>
            <a:endParaRPr lang="zh-CN" altLang="en-US" sz="320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11052"/>
              </p:ext>
            </p:extLst>
          </p:nvPr>
        </p:nvGraphicFramePr>
        <p:xfrm>
          <a:off x="1644380" y="2026920"/>
          <a:ext cx="82296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startswith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s.startswith('th')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endswith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s.endswith('end')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False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title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s.title()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'This Is A Test 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isalpha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 isalpha()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False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只包含字母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a-z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isdigit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'520'.isdigit()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只包含数字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0-9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isspace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   '.isspace()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17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字符子串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162229" y="1506908"/>
            <a:ext cx="9289278" cy="4440965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用下标区间截取字符子串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cs typeface="Times New Roman" pitchFamily="18" charset="0"/>
              </a:rPr>
              <a:t>假设字符串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的长度为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>
                <a:cs typeface="Times New Roman" pitchFamily="18" charset="0"/>
              </a:rPr>
              <a:t>，即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len(s)=N</a:t>
            </a:r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表示由字符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s[m+1]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s[m+2]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s[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所构成的子串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若省略，默认值为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；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若省略，默认值为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en-US" altLang="zh-CN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76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字符子串举例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516982"/>
              </p:ext>
            </p:extLst>
          </p:nvPr>
        </p:nvGraphicFramePr>
        <p:xfrm>
          <a:off x="1581702" y="2278519"/>
          <a:ext cx="7467597" cy="822960"/>
        </p:xfrm>
        <a:graphic>
          <a:graphicData uri="http://schemas.openxmlformats.org/drawingml/2006/table">
            <a:tbl>
              <a:tblPr/>
              <a:tblGrid>
                <a:gridCol w="830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85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6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6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10300" y="3177679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0   1   2   3   4   5   6   7  8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1714" y="1312744"/>
            <a:ext cx="601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s = 'Hello all'</a:t>
            </a:r>
            <a:endParaRPr lang="zh-CN" altLang="en-US" sz="3600"/>
          </a:p>
        </p:txBody>
      </p:sp>
      <p:sp>
        <p:nvSpPr>
          <p:cNvPr id="10" name="矩形 9"/>
          <p:cNvSpPr/>
          <p:nvPr/>
        </p:nvSpPr>
        <p:spPr>
          <a:xfrm>
            <a:off x="1581701" y="4107319"/>
            <a:ext cx="91689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b="1" kern="0">
                <a:latin typeface="楷体" pitchFamily="49" charset="-122"/>
                <a:ea typeface="楷体" pitchFamily="49" charset="-122"/>
              </a:rPr>
              <a:t>请问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s[3:6]</a:t>
            </a:r>
            <a:r>
              <a:rPr lang="zh-CN" altLang="en-US" sz="3600" b="1" kern="0">
                <a:latin typeface="Courier New" pitchFamily="49" charset="0"/>
                <a:ea typeface="楷体" pitchFamily="49" charset="-122"/>
                <a:cs typeface="Courier New" pitchFamily="49" charset="0"/>
              </a:rPr>
              <a:t>、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s[:4]</a:t>
            </a:r>
            <a:r>
              <a:rPr lang="zh-CN" altLang="en-US" sz="3600" b="1" kern="0">
                <a:latin typeface="Courier New" pitchFamily="49" charset="0"/>
                <a:ea typeface="楷体" pitchFamily="49" charset="-122"/>
                <a:cs typeface="Courier New" pitchFamily="49" charset="0"/>
              </a:rPr>
              <a:t>、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s[6:]</a:t>
            </a:r>
            <a:r>
              <a:rPr lang="zh-CN" altLang="en-US" sz="3600" b="1" kern="0">
                <a:latin typeface="楷体" pitchFamily="49" charset="-122"/>
                <a:ea typeface="楷体" pitchFamily="49" charset="-122"/>
              </a:rPr>
              <a:t>的结果分别是什么？</a:t>
            </a:r>
            <a:endParaRPr lang="zh-CN" altLang="en-US" sz="360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931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字符子串举例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086747" y="1267620"/>
            <a:ext cx="9612587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定义一个函数，将字符串中第一个括号内的内容抽取出来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s = 'Prof(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Walker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)White'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82416" y="3384128"/>
            <a:ext cx="71343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def firstparens(str):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start</a:t>
            </a:r>
            <a:r>
              <a:rPr lang="pl-PL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=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str.find('(')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tail = str[start+1:]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end = tail.find(')')</a:t>
            </a:r>
          </a:p>
          <a:p>
            <a:pPr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return tail[:end]</a:t>
            </a:r>
          </a:p>
        </p:txBody>
      </p:sp>
    </p:spTree>
    <p:extLst>
      <p:ext uri="{BB962C8B-B14F-4D97-AF65-F5344CB8AC3E}">
        <p14:creationId xmlns:p14="http://schemas.microsoft.com/office/powerpoint/2010/main" val="37786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单个字符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8892" y="1868436"/>
            <a:ext cx="3887603" cy="29484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letter_A  = 'A'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plus = '+'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zero = '0'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space = ' '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char_cn = '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华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22268" y="1828800"/>
            <a:ext cx="4134465" cy="29484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new_line = '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tab = '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\t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backslash = '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\\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quote_s = '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\'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quote_d = '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\"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325513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字符编码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640810" y="3994442"/>
            <a:ext cx="7543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4500" indent="-44450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 2" pitchFamily="18" charset="2"/>
              <a:buChar char=""/>
              <a:defRPr sz="3600" b="1">
                <a:solidFill>
                  <a:schemeClr val="tx1"/>
                </a:solidFill>
                <a:effectLst/>
                <a:latin typeface="宋体" pitchFamily="2" charset="-122"/>
                <a:ea typeface="宋体" pitchFamily="2" charset="-122"/>
                <a:cs typeface="+mn-cs"/>
              </a:defRPr>
            </a:lvl1pPr>
            <a:lvl2pPr marL="901700" indent="-444500" algn="l" rtl="0" eaLnBrk="0" fontAlgn="base" hangingPunct="0">
              <a:spcBef>
                <a:spcPts val="1920"/>
              </a:spcBef>
              <a:spcAft>
                <a:spcPct val="0"/>
              </a:spcAft>
              <a:buSzPct val="90000"/>
              <a:buFont typeface="Wingdings" pitchFamily="2" charset="2"/>
              <a:buChar char=""/>
              <a:defRPr sz="3200" b="1"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</a:defRPr>
            </a:lvl2pPr>
            <a:lvl3pPr marL="1346200" indent="-431800" algn="l" rtl="0" eaLnBrk="0" fontAlgn="base" hangingPunct="0">
              <a:spcBef>
                <a:spcPts val="1300"/>
              </a:spcBef>
              <a:spcAft>
                <a:spcPct val="0"/>
              </a:spcAft>
              <a:buFont typeface="Wingdings" pitchFamily="2" charset="2"/>
              <a:buChar char="ü"/>
              <a:defRPr sz="2800" b="1">
                <a:solidFill>
                  <a:schemeClr val="tx1"/>
                </a:solidFill>
                <a:effectLst/>
                <a:latin typeface="楷体" pitchFamily="49" charset="-122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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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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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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"/>
              <a:defRPr sz="1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450850" indent="-450850" eaLnBrk="1" hangingPunct="1">
              <a:spcBef>
                <a:spcPct val="50000"/>
              </a:spcBef>
              <a:buClr>
                <a:schemeClr val="tx1"/>
              </a:buClr>
              <a:buFont typeface="Wingdings 2" pitchFamily="18" charset="2"/>
              <a:buChar char="ö"/>
            </a:pPr>
            <a:r>
              <a:rPr lang="zh-CN" altLang="en-US">
                <a:ea typeface="宋体" charset="-122"/>
              </a:rPr>
              <a:t>存放方式？存放内容？</a:t>
            </a:r>
          </a:p>
          <a:p>
            <a:pPr marL="982663" lvl="1" indent="-352425" eaLnBrk="1" hangingPunct="1">
              <a:spcBef>
                <a:spcPct val="50000"/>
              </a:spcBef>
              <a:buSzPct val="80000"/>
              <a:buFont typeface="Wingdings" pitchFamily="2" charset="2"/>
              <a:buChar char="J"/>
            </a:pP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二进制</a:t>
            </a:r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ea typeface="楷体_GB2312" pitchFamily="49" charset="-122"/>
              </a:rPr>
              <a:t>ASCII</a:t>
            </a:r>
            <a:r>
              <a:rPr lang="zh-CN" altLang="en-US">
                <a:solidFill>
                  <a:srgbClr val="0000FF"/>
                </a:solidFill>
                <a:ea typeface="楷体_GB2312" pitchFamily="49" charset="-122"/>
              </a:rPr>
              <a:t>值</a:t>
            </a:r>
            <a:r>
              <a:rPr lang="zh-CN" altLang="en-US">
                <a:ea typeface="楷体_GB2312" pitchFamily="49" charset="-122"/>
              </a:rPr>
              <a:t>（如</a:t>
            </a:r>
            <a:r>
              <a:rPr lang="en-US" altLang="en-US">
                <a:ea typeface="楷体_GB2312" pitchFamily="49" charset="-122"/>
              </a:rPr>
              <a:t>'</a:t>
            </a:r>
            <a:r>
              <a:rPr lang="en-US" altLang="zh-CN">
                <a:ea typeface="楷体_GB2312" pitchFamily="49" charset="-122"/>
              </a:rPr>
              <a:t>A</a:t>
            </a:r>
            <a:r>
              <a:rPr lang="en-US" altLang="en-US">
                <a:ea typeface="楷体_GB2312" pitchFamily="49" charset="-122"/>
              </a:rPr>
              <a:t>'</a:t>
            </a:r>
            <a:r>
              <a:rPr lang="zh-CN" altLang="en-US">
                <a:ea typeface="楷体_GB2312" pitchFamily="49" charset="-122"/>
              </a:rPr>
              <a:t>，</a:t>
            </a:r>
            <a:r>
              <a:rPr lang="en-US" altLang="zh-CN">
                <a:ea typeface="楷体_GB2312" pitchFamily="49" charset="-122"/>
              </a:rPr>
              <a:t>65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pic>
        <p:nvPicPr>
          <p:cNvPr id="10" name="图片 2" descr="zd_200892116481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010" y="1516354"/>
            <a:ext cx="3726857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3" descr="2005111415453381999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402" y="1440154"/>
            <a:ext cx="3769536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042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ASCII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941565"/>
              </p:ext>
            </p:extLst>
          </p:nvPr>
        </p:nvGraphicFramePr>
        <p:xfrm>
          <a:off x="999168" y="478738"/>
          <a:ext cx="8839200" cy="558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5598287" imgH="3533779" progId="Word.Document.8">
                  <p:embed/>
                </p:oleObj>
              </mc:Choice>
              <mc:Fallback>
                <p:oleObj name="文档" r:id="rId3" imgW="5598287" imgH="35337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168" y="478738"/>
                        <a:ext cx="8839200" cy="558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9"/>
          <p:cNvSpPr txBox="1">
            <a:spLocks noChangeArrowheads="1"/>
          </p:cNvSpPr>
          <p:nvPr/>
        </p:nvSpPr>
        <p:spPr bwMode="auto">
          <a:xfrm>
            <a:off x="7196118" y="5910832"/>
            <a:ext cx="3278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最多描述多少个字符？</a:t>
            </a:r>
          </a:p>
        </p:txBody>
      </p:sp>
    </p:spTree>
    <p:extLst>
      <p:ext uri="{BB962C8B-B14F-4D97-AF65-F5344CB8AC3E}">
        <p14:creationId xmlns:p14="http://schemas.microsoft.com/office/powerpoint/2010/main" val="150397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Unicode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编码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78" y="912258"/>
            <a:ext cx="7467600" cy="518273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041500" y="6073015"/>
            <a:ext cx="601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ker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ord</a:t>
            </a:r>
            <a:r>
              <a:rPr lang="en-US" altLang="zh-CN" sz="2400" b="1" kern="0">
                <a:latin typeface="Courier New" pitchFamily="49" charset="0"/>
                <a:ea typeface="ＭＳ Ｐゴシック" pitchFamily="34" charset="-128"/>
              </a:rPr>
              <a:t>('A') == 65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7779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Unicode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编码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802" y="898400"/>
            <a:ext cx="6835924" cy="543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03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字符串不可改变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941465" y="1353080"/>
            <a:ext cx="9886056" cy="446660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字符串不可改变（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immutable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在创建一个字符串以后，其内容就</a:t>
            </a:r>
            <a:r>
              <a:rPr lang="zh-CN" altLang="en-US">
                <a:solidFill>
                  <a:srgbClr val="990000"/>
                </a:solidFill>
              </a:rPr>
              <a:t>不可改变</a:t>
            </a:r>
            <a:r>
              <a:rPr lang="zh-CN" altLang="en-US"/>
              <a:t>，即不能去修改该字符串中的任意一个字符，可读不可写</a:t>
            </a:r>
            <a:endParaRPr lang="en-US" altLang="zh-CN">
              <a:solidFill>
                <a:srgbClr val="0000FF"/>
              </a:solidFill>
            </a:endParaRPr>
          </a:p>
          <a:p>
            <a:pPr lvl="1"/>
            <a:r>
              <a:rPr lang="zh-CN" altLang="en-US"/>
              <a:t>如果想修改字符串，只能创建一个新的字符串来替代它，然后把变量（指针）指向新的字符串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0597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09050" y="1285426"/>
            <a:ext cx="6019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4800" b="1" kern="0">
                <a:latin typeface="Courier New" pitchFamily="49" charset="0"/>
                <a:ea typeface="ＭＳ Ｐゴシック" pitchFamily="34" charset="-128"/>
              </a:rPr>
              <a:t>s = 'beef'</a:t>
            </a:r>
            <a:endParaRPr lang="zh-CN" altLang="en-US" sz="4800"/>
          </a:p>
        </p:txBody>
      </p:sp>
      <p:sp>
        <p:nvSpPr>
          <p:cNvPr id="8" name="矩形 7"/>
          <p:cNvSpPr/>
          <p:nvPr/>
        </p:nvSpPr>
        <p:spPr>
          <a:xfrm>
            <a:off x="1432850" y="2961826"/>
            <a:ext cx="6019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4800" b="1" ker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s[3] = 'r'</a:t>
            </a:r>
            <a:endParaRPr lang="zh-CN" altLang="en-US" sz="480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57" y="2276026"/>
            <a:ext cx="2209800" cy="206248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509050" y="4356631"/>
            <a:ext cx="7117950" cy="1982932"/>
            <a:chOff x="1295400" y="4519005"/>
            <a:chExt cx="7117950" cy="1982932"/>
          </a:xfrm>
        </p:grpSpPr>
        <p:sp>
          <p:nvSpPr>
            <p:cNvPr id="11" name="矩形 10"/>
            <p:cNvSpPr/>
            <p:nvPr/>
          </p:nvSpPr>
          <p:spPr>
            <a:xfrm>
              <a:off x="1295400" y="5036403"/>
              <a:ext cx="601980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4800" b="1" kern="0">
                  <a:solidFill>
                    <a:srgbClr val="FF0000"/>
                  </a:solidFill>
                  <a:latin typeface="Courier New" pitchFamily="49" charset="0"/>
                  <a:ea typeface="ＭＳ Ｐゴシック" pitchFamily="34" charset="-128"/>
                </a:rPr>
                <a:t>s = 'beer'</a:t>
              </a:r>
              <a:endParaRPr lang="zh-CN" altLang="en-US" sz="4800">
                <a:solidFill>
                  <a:srgbClr val="FF0000"/>
                </a:solidFill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8350" y="4519005"/>
              <a:ext cx="1905000" cy="19829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015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举例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55408" y="1115220"/>
            <a:ext cx="7772400" cy="17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s1 = 'python programming'</a:t>
            </a:r>
          </a:p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s2 = 'A'</a:t>
            </a:r>
          </a:p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s3 = 'I got an' + s2 + 'in' +s1</a:t>
            </a:r>
            <a:endParaRPr lang="zh-CN" altLang="en-US" sz="3200" b="1" kern="0">
              <a:latin typeface="Courier New" pitchFamily="49" charset="0"/>
              <a:ea typeface="ＭＳ Ｐゴシック" pitchFamily="34" charset="-128"/>
            </a:endParaRPr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2407808" y="4521945"/>
            <a:ext cx="67056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327764" y="3477420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989877" y="3477420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745652" y="3477420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77452" y="302022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s1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74808" y="302022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s2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95340" y="3020220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s3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2103009" y="5153820"/>
            <a:ext cx="2528886" cy="943026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cs typeface="Times New Roman" pitchFamily="18" charset="0"/>
              </a:rPr>
              <a:t>'python programming'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5189652" y="5306220"/>
            <a:ext cx="1080000" cy="6096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cs typeface="Times New Roman" pitchFamily="18" charset="0"/>
              </a:rPr>
              <a:t>'A'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6827408" y="4849020"/>
            <a:ext cx="2582069" cy="14478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>
                <a:latin typeface="Times New Roman" pitchFamily="18" charset="0"/>
                <a:cs typeface="Times New Roman" pitchFamily="18" charset="0"/>
              </a:rPr>
              <a:t>'I got an A in python programming'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直接箭头连接符 23"/>
          <p:cNvCxnSpPr>
            <a:stCxn id="16" idx="2"/>
            <a:endCxn id="22" idx="0"/>
          </p:cNvCxnSpPr>
          <p:nvPr/>
        </p:nvCxnSpPr>
        <p:spPr bwMode="auto">
          <a:xfrm>
            <a:off x="5299043" y="3782220"/>
            <a:ext cx="430609" cy="1524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直接箭头连接符 24"/>
          <p:cNvCxnSpPr>
            <a:stCxn id="15" idx="2"/>
            <a:endCxn id="21" idx="0"/>
          </p:cNvCxnSpPr>
          <p:nvPr/>
        </p:nvCxnSpPr>
        <p:spPr bwMode="auto">
          <a:xfrm flipH="1">
            <a:off x="3367452" y="3782220"/>
            <a:ext cx="269478" cy="13716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直接箭头连接符 25"/>
          <p:cNvCxnSpPr>
            <a:stCxn id="17" idx="2"/>
            <a:endCxn id="23" idx="0"/>
          </p:cNvCxnSpPr>
          <p:nvPr/>
        </p:nvCxnSpPr>
        <p:spPr bwMode="auto">
          <a:xfrm>
            <a:off x="7054818" y="3782220"/>
            <a:ext cx="1063625" cy="10668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219838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概述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371957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771582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什么是列表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871641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41431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82271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嵌套列表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91214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5626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大量数据需要组织起来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Picture 2" descr="https://gimg2.baidu.com/image_search/src=http%3A%2F%2F5b0988e595225.cdn.sohucs.com%2Fq_70%2Cc_zoom%2Cw_640%2Fimages%2F20190212%2Fede80462c921420fb108389620d79a00.jpeg&amp;refer=http%3A%2F%2F5b0988e595225.cdn.sohucs.com&amp;app=2002&amp;size=f9999,10000&amp;q=a80&amp;n=0&amp;g=0n&amp;fmt=auto?sec=1653299760&amp;t=565acf493671ebb75917a0167c40395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627" y="1157950"/>
            <a:ext cx="6338819" cy="505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34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数组？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3680" y="3740204"/>
            <a:ext cx="2449286" cy="2438400"/>
          </a:xfrm>
          <a:prstGeom prst="rect">
            <a:avLst/>
          </a:prstGeom>
        </p:spPr>
      </p:pic>
      <p:sp>
        <p:nvSpPr>
          <p:cNvPr id="8" name="内容占位符 2"/>
          <p:cNvSpPr txBox="1">
            <a:spLocks/>
          </p:cNvSpPr>
          <p:nvPr/>
        </p:nvSpPr>
        <p:spPr>
          <a:xfrm>
            <a:off x="1368766" y="1225604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数组的特点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数组长度固定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数组元素类型相同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只有数据，无操作</a:t>
            </a:r>
            <a:endParaRPr lang="en-US" altLang="zh-CN"/>
          </a:p>
        </p:txBody>
      </p:sp>
      <p:pic>
        <p:nvPicPr>
          <p:cNvPr id="9" name="图片 8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74462" y="1561732"/>
            <a:ext cx="2664104" cy="400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集合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(Collections)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078202" y="1123766"/>
            <a:ext cx="963822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集合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(Collection)</a:t>
            </a:r>
            <a:r>
              <a:rPr lang="zh-CN" altLang="en-US" sz="3200"/>
              <a:t>也称容器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(Container)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，一个集合对象可以</a:t>
            </a:r>
            <a:r>
              <a:rPr lang="zh-CN" altLang="en-US" sz="3200"/>
              <a:t>存储、检索和操作多个不同类型的其他对象，将它们作为一个整体来管理。</a:t>
            </a:r>
            <a:endParaRPr lang="en-US" altLang="zh-CN" sz="3200" dirty="0"/>
          </a:p>
        </p:txBody>
      </p:sp>
      <p:graphicFrame>
        <p:nvGraphicFramePr>
          <p:cNvPr id="1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044706"/>
              </p:ext>
            </p:extLst>
          </p:nvPr>
        </p:nvGraphicFramePr>
        <p:xfrm>
          <a:off x="4607053" y="3251944"/>
          <a:ext cx="1733550" cy="219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733333" imgH="2190476" progId="PBrush">
                  <p:embed/>
                </p:oleObj>
              </mc:Choice>
              <mc:Fallback>
                <p:oleObj name="Bitmap Image" r:id="rId3" imgW="1733333" imgH="2190476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7053" y="3251944"/>
                        <a:ext cx="1733550" cy="219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13500000" algn="ctr" rotWithShape="0">
                                <a:srgbClr val="999999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5288090" y="4418756"/>
            <a:ext cx="315913" cy="298450"/>
          </a:xfrm>
          <a:prstGeom prst="rect">
            <a:avLst/>
          </a:prstGeom>
          <a:solidFill>
            <a:srgbClr val="C9EDFF"/>
          </a:solidFill>
          <a:ln w="9525" algn="ctr">
            <a:noFill/>
            <a:miter lim="800000"/>
            <a:headEnd/>
            <a:tailEnd/>
          </a:ln>
          <a:effectLst/>
          <a:scene3d>
            <a:camera prst="legacyPerspectiveFront">
              <a:rot lat="20099999" lon="20099999" rev="0"/>
            </a:camera>
            <a:lightRig rig="legacyFlat2" dir="t"/>
          </a:scene3d>
          <a:sp3d extrusionH="430200" prstMaterial="legacyMatte">
            <a:bevelT w="13500" h="13500" prst="angle"/>
            <a:bevelB w="13500" h="13500" prst="angle"/>
            <a:extrusionClr>
              <a:srgbClr val="C9EDFF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2" name="Rectangle 28"/>
          <p:cNvSpPr>
            <a:spLocks noChangeArrowheads="1"/>
          </p:cNvSpPr>
          <p:nvPr/>
        </p:nvSpPr>
        <p:spPr bwMode="auto">
          <a:xfrm>
            <a:off x="5565903" y="4588619"/>
            <a:ext cx="315912" cy="298450"/>
          </a:xfrm>
          <a:prstGeom prst="rect">
            <a:avLst/>
          </a:prstGeom>
          <a:solidFill>
            <a:srgbClr val="FF9D9D"/>
          </a:solidFill>
          <a:ln w="9525" algn="ctr">
            <a:noFill/>
            <a:miter lim="800000"/>
            <a:headEnd/>
            <a:tailEnd/>
          </a:ln>
          <a:effectLst/>
          <a:scene3d>
            <a:camera prst="legacyPerspectiveFront">
              <a:rot lat="1500000" lon="1500000" rev="0"/>
            </a:camera>
            <a:lightRig rig="legacyFlat2" dir="b"/>
          </a:scene3d>
          <a:sp3d extrusionH="430200" prstMaterial="legacyMatte">
            <a:bevelT w="13500" h="13500" prst="angle"/>
            <a:bevelB w="13500" h="13500" prst="angle"/>
            <a:extrusionClr>
              <a:srgbClr val="FF9D9D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3" name="AutoShape 30"/>
          <p:cNvSpPr>
            <a:spLocks noChangeArrowheads="1"/>
          </p:cNvSpPr>
          <p:nvPr/>
        </p:nvSpPr>
        <p:spPr bwMode="auto">
          <a:xfrm>
            <a:off x="5288090" y="4482256"/>
            <a:ext cx="409575" cy="393700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4" name="AutoShape 31"/>
          <p:cNvSpPr>
            <a:spLocks noChangeArrowheads="1"/>
          </p:cNvSpPr>
          <p:nvPr/>
        </p:nvSpPr>
        <p:spPr bwMode="auto">
          <a:xfrm>
            <a:off x="4926140" y="4514006"/>
            <a:ext cx="520700" cy="315913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noFill/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009900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5" name="AutoShape 32"/>
          <p:cNvSpPr>
            <a:spLocks noChangeArrowheads="1"/>
          </p:cNvSpPr>
          <p:nvPr/>
        </p:nvSpPr>
        <p:spPr bwMode="auto">
          <a:xfrm>
            <a:off x="5162678" y="4487019"/>
            <a:ext cx="520700" cy="315912"/>
          </a:xfrm>
          <a:prstGeom prst="triangle">
            <a:avLst>
              <a:gd name="adj" fmla="val 50000"/>
            </a:avLst>
          </a:prstGeom>
          <a:solidFill>
            <a:srgbClr val="FF9933"/>
          </a:solidFill>
          <a:ln w="9525" algn="ctr">
            <a:noFill/>
            <a:miter lim="800000"/>
            <a:headEnd/>
            <a:tailEnd/>
          </a:ln>
          <a:effectLst/>
          <a:scene3d>
            <a:camera prst="legacyPerspectiveFront">
              <a:rot lat="1500000" lon="1500000" rev="0"/>
            </a:camera>
            <a:lightRig rig="legacyFlat2" dir="b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6" name="Rectangle 34"/>
          <p:cNvSpPr>
            <a:spLocks noChangeArrowheads="1"/>
          </p:cNvSpPr>
          <p:nvPr/>
        </p:nvSpPr>
        <p:spPr bwMode="auto">
          <a:xfrm>
            <a:off x="5399215" y="4547344"/>
            <a:ext cx="315913" cy="298450"/>
          </a:xfrm>
          <a:prstGeom prst="rect">
            <a:avLst/>
          </a:prstGeom>
          <a:solidFill>
            <a:srgbClr val="FF6699"/>
          </a:solidFill>
          <a:ln w="9525" algn="ctr">
            <a:noFill/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6699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7" name="Oval 35"/>
          <p:cNvSpPr>
            <a:spLocks noChangeArrowheads="1"/>
          </p:cNvSpPr>
          <p:nvPr/>
        </p:nvSpPr>
        <p:spPr bwMode="auto">
          <a:xfrm>
            <a:off x="5743703" y="4655294"/>
            <a:ext cx="331787" cy="300037"/>
          </a:xfrm>
          <a:prstGeom prst="ellipse">
            <a:avLst/>
          </a:prstGeom>
          <a:solidFill>
            <a:srgbClr val="FFD5AB"/>
          </a:solidFill>
          <a:ln w="9525" algn="ctr">
            <a:noFill/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D5AB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8" name="Oval 36"/>
          <p:cNvSpPr>
            <a:spLocks noChangeArrowheads="1"/>
          </p:cNvSpPr>
          <p:nvPr/>
        </p:nvSpPr>
        <p:spPr bwMode="auto">
          <a:xfrm>
            <a:off x="5484940" y="4575919"/>
            <a:ext cx="331788" cy="300037"/>
          </a:xfrm>
          <a:prstGeom prst="ellipse">
            <a:avLst/>
          </a:prstGeom>
          <a:solidFill>
            <a:srgbClr val="E0A3FF"/>
          </a:solidFill>
          <a:ln w="9525" algn="ctr">
            <a:noFill/>
            <a:round/>
            <a:headEnd/>
            <a:tailEnd/>
          </a:ln>
          <a:effectLst/>
          <a:scene3d>
            <a:camera prst="legacyPerspectiveFront">
              <a:rot lat="1500000" lon="20099999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rgbClr val="E0A3FF"/>
            </a:extrusionClr>
          </a:sp3d>
        </p:spPr>
        <p:txBody>
          <a:bodyPr wrap="none" anchor="ctr">
            <a:flatTx/>
          </a:bodyPr>
          <a:lstStyle/>
          <a:p>
            <a:endParaRPr lang="zh-CN" altLang="en-US"/>
          </a:p>
        </p:txBody>
      </p:sp>
      <p:sp>
        <p:nvSpPr>
          <p:cNvPr id="19" name="Oval 37"/>
          <p:cNvSpPr>
            <a:spLocks noChangeArrowheads="1"/>
          </p:cNvSpPr>
          <p:nvPr/>
        </p:nvSpPr>
        <p:spPr bwMode="auto">
          <a:xfrm>
            <a:off x="5657978" y="4629894"/>
            <a:ext cx="331787" cy="300037"/>
          </a:xfrm>
          <a:prstGeom prst="ellipse">
            <a:avLst/>
          </a:prstGeom>
          <a:solidFill>
            <a:srgbClr val="AECCF4"/>
          </a:solidFill>
          <a:ln w="9525" algn="ctr">
            <a:noFill/>
            <a:round/>
            <a:headEnd/>
            <a:tailEnd/>
          </a:ln>
          <a:effectLst/>
          <a:scene3d>
            <a:camera prst="legacyPerspectiveTop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AECCF4"/>
            </a:extrusionClr>
          </a:sp3d>
        </p:spPr>
        <p:txBody>
          <a:bodyPr wrap="none" anchor="ctr">
            <a:flatTx/>
          </a:bodyPr>
          <a:lstStyle/>
          <a:p>
            <a:endParaRPr lang="zh-CN" altLang="zh-CN"/>
          </a:p>
        </p:txBody>
      </p:sp>
      <p:grpSp>
        <p:nvGrpSpPr>
          <p:cNvPr id="20" name="Group 26"/>
          <p:cNvGrpSpPr>
            <a:grpSpLocks/>
          </p:cNvGrpSpPr>
          <p:nvPr/>
        </p:nvGrpSpPr>
        <p:grpSpPr bwMode="auto">
          <a:xfrm>
            <a:off x="4608640" y="3237656"/>
            <a:ext cx="1797050" cy="2197100"/>
            <a:chOff x="2284" y="2384"/>
            <a:chExt cx="1132" cy="1384"/>
          </a:xfrm>
        </p:grpSpPr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>
              <a:off x="2284" y="2384"/>
              <a:ext cx="1132" cy="1380"/>
            </a:xfrm>
            <a:prstGeom prst="rect">
              <a:avLst/>
            </a:prstGeom>
            <a:solidFill>
              <a:srgbClr val="DDDDDD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" name="Object 24"/>
            <p:cNvGraphicFramePr>
              <a:graphicFrameLocks noChangeAspect="1"/>
            </p:cNvGraphicFramePr>
            <p:nvPr/>
          </p:nvGraphicFramePr>
          <p:xfrm>
            <a:off x="2294" y="3007"/>
            <a:ext cx="1081" cy="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5" imgW="3277057" imgH="2142857" progId="PBrush">
                    <p:embed/>
                  </p:oleObj>
                </mc:Choice>
                <mc:Fallback>
                  <p:oleObj name="Bitmap Image" r:id="rId5" imgW="3277057" imgH="2142857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4" y="3007"/>
                          <a:ext cx="1081" cy="7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13500000" algn="ctr" rotWithShape="0">
                                  <a:srgbClr val="999999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3369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3125 C -0.0026 0.01412 -0.00191 0.0007 -0.00486 -0.01828 C -0.03073 -0.18194 -0.01076 -0.01828 -0.02587 -0.15602 C -0.02778 -0.17407 -0.02587 -0.1949 -0.03385 -0.20972 C -0.03854 -0.21852 -0.05173 -0.23125 -0.05173 -0.23125 C -0.06284 -0.21597 -0.06059 -0.19861 -0.06128 -0.17731 C -0.0625 -0.14444 -0.06337 -0.11134 -0.06458 -0.07847 C -0.06649 -0.02129 -0.06198 -0.04352 -0.06944 -0.01389 C -0.07187 0.03403 -0.06215 0.03959 -0.08385 0.05926 C -0.09583 0.03565 -0.09201 0.0081 -0.09357 -0.02037 C -0.09548 -0.05347 -0.09479 -0.0868 -0.09844 -0.11944 C -0.10069 -0.13981 -0.09965 -0.1625 -0.10816 -0.17963 C -0.11371 -0.19074 -0.11892 -0.19606 -0.12587 -0.20532 C -0.13941 -0.16805 -0.13194 -0.09467 -0.13229 -0.07199 C -0.13264 -0.04629 -0.13316 -0.02037 -0.13385 0.00533 C -0.13524 0.06088 -0.12812 0.04445 -0.13871 0.06551 C -0.15555 0.03357 -0.16198 -0.00393 -0.17899 -0.03773 C -0.18541 -0.05046 -0.19462 -0.05995 -0.20173 -0.07199 C -0.20989 -0.08588 -0.21684 -0.10069 -0.2243 -0.11504 C -0.22969 -0.14027 -0.23073 -0.16273 -0.23385 -0.18819 C -0.24635 -0.15578 -0.23802 -0.18287 -0.24357 -0.12801 C -0.24861 -0.07893 -0.25955 -0.03078 -0.26458 0.01829 C -0.26788 0.0507 -0.2651 0.03889 -0.26944 0.05486 C -0.27153 0.02824 -0.27812 -0.05463 -0.28073 -0.06551 C -0.28576 -0.08634 -0.29965 -0.10162 -0.30642 -0.12152 C -0.33715 -0.21296 -0.30694 -0.16944 -0.33073 -0.20115 C -0.33489 -0.17847 -0.33125 -0.15463 -0.34045 -0.13449 C -0.34305 -0.11828 -0.34791 -0.08472 -0.35173 -0.0699 C -0.3526 -0.06666 -0.35503 -0.06435 -0.35642 -0.06134 C -0.35885 -0.05578 -0.36302 -0.04398 -0.36302 -0.04398 C -0.36354 -0.0412 -0.36406 -0.03819 -0.36458 -0.03541 C -0.3651 -0.03333 -0.36614 -0.02893 -0.36614 -0.02893 " pathEditMode="relative" ptsTypes="fffffffffffffffffffffffffffffffA">
                                      <p:cBhvr>
                                        <p:cTn id="13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3.7037E-7 C 0.0033 -0.0125 0.00382 -0.01551 0.00972 -0.02801 C 0.01146 -0.03148 0.01459 -0.03866 0.01459 -0.03866 C 0.01736 -0.05393 0.02153 -0.07129 0.03073 -0.08171 C 0.03941 -0.09143 0.05156 -0.09444 0.05972 -0.10532 C 0.06215 -0.10856 0.06389 -0.11273 0.06615 -0.1162 C 0.06875 -0.11991 0.07153 -0.12338 0.07431 -0.12685 C 0.08229 -0.12616 0.0908 -0.12847 0.09844 -0.12477 C 0.09913 -0.12453 0.10278 -0.11018 0.1033 -0.10741 C 0.10851 -0.08171 0.11268 -0.05578 0.11788 -0.03009 C 0.1184 -0.01852 0.11893 -0.00717 0.11945 0.0044 C 0.11997 0.01806 0.11979 0.03172 0.12101 0.04514 C 0.12118 0.04746 0.12188 0.04074 0.12257 0.03866 C 0.12396 0.03426 0.1257 0.03009 0.12743 0.02593 C 0.13351 0.01181 0.12847 0.02847 0.13386 0.00857 C 0.13854 -0.00879 0.14549 -0.01574 0.15174 -0.03009 C 0.15781 -0.04444 0.15625 -0.04977 0.16788 -0.06018 C 0.17865 -0.05949 0.18941 -0.06065 0.2 -0.0581 C 0.20191 -0.05764 0.20191 -0.05347 0.2033 -0.05162 C 0.20625 -0.04768 0.2099 -0.04467 0.21302 -0.04074 C 0.21962 -0.03264 0.23195 -0.01875 0.23715 -0.00648 C 0.2434 0.00834 0.24722 0.02107 0.25486 0.03449 C 0.25538 0.03727 0.25608 0.04028 0.2566 0.04306 C 0.25712 0.04584 0.25625 0.05023 0.25816 0.05162 C 0.2599 0.05278 0.26146 0.04861 0.26302 0.04722 C 0.26962 0.03264 0.27535 0.03056 0.28559 0.02153 C 0.2908 0.0169 0.30556 -0.00393 0.31302 -0.00648 C 0.32031 -0.00903 0.32813 -0.00926 0.33559 -0.01065 C 0.35886 -0.02338 0.3882 -0.025 0.40972 -0.00648 C 0.41215 0.00347 0.41406 0.01435 0.41788 0.02361 C 0.41979 0.02824 0.42431 0.03658 0.42431 0.03658 C 0.42622 0.04445 0.42587 0.04074 0.42587 0.04722 " pathEditMode="relative" ptsTypes="fffffffffffffffffffffffffffffffA">
                                      <p:cBhvr>
                                        <p:cTn id="15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8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-3.33333E-6 C 0.00799 -0.0118 0.01701 -0.02338 0.02101 -0.03796 C 0.025 -0.0537 0.02708 -0.07268 0.02899 -0.09143 C 0.03108 -0.11041 0.02899 -0.12639 0.02708 -0.14375 C 0.025 -0.15972 0.02205 -0.17708 0.01493 -0.19143 C 0.00903 -0.20602 -0.00104 -0.21759 -0.01198 -0.22639 C -0.02205 -0.23495 -0.03403 -0.24074 -0.04601 -0.24398 C -0.05799 -0.24652 -0.06996 -0.24652 -0.08108 -0.24398 C -0.09305 -0.24074 -0.10399 -0.23356 -0.11302 -0.22199 C -0.12205 -0.2118 -0.13003 -0.19884 -0.13403 -0.18287 C -0.13906 -0.16828 -0.14097 -0.14814 -0.14097 -0.13217 C -0.14201 -0.1162 -0.14097 -0.09722 -0.13594 -0.08148 C -0.13108 -0.06689 -0.12205 -0.05532 -0.11007 -0.04953 C -0.09792 -0.04514 -0.08594 -0.05092 -0.07795 -0.06111 C -0.07101 -0.07106 -0.06597 -0.08727 -0.06493 -0.10578 C -0.06493 -0.12477 -0.06597 -0.14213 -0.07101 -0.15671 C -0.07604 -0.17129 -0.075 -0.17407 -0.09496 -0.19305 C -0.11302 -0.21342 -0.13108 -0.20764 -0.14201 -0.20879 C -0.15295 -0.20879 -0.16198 -0.20301 -0.17292 -0.19722 C -0.18507 -0.19027 -0.19496 -0.17708 -0.20208 -0.16551 C -0.20903 -0.15393 -0.21198 -0.13935 -0.21597 -0.1162 C -0.21892 -0.09305 -0.21892 -0.08148 -0.21892 -0.06389 C -0.21892 -0.04652 -0.21892 -0.02916 -0.21892 -0.0118 " pathEditMode="relative" rAng="0" ptsTypes="fffffffffffffffffffffff">
                                      <p:cBhvr>
                                        <p:cTn id="17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00" y="-1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4.16667E-6 8.14815E-6 C -0.0033 -0.00671 -0.00556 -0.01411 -0.00799 -0.02152 C -0.00955 -0.02638 -0.00921 -0.03217 -0.01129 -0.03657 C -0.0191 -0.05323 -0.0375 -0.08356 -0.05157 -0.08819 C -0.05834 -0.09259 -0.06684 -0.09999 -0.07414 -0.10323 C -0.08924 -0.10254 -0.10486 -0.10671 -0.11927 -0.10115 C -0.12518 -0.09884 -0.12674 -0.08819 -0.13056 -0.08171 C -0.13768 -0.06944 -0.15157 -0.06828 -0.16129 -0.06458 C -0.17136 -0.05115 -0.17691 -0.03263 -0.18212 -0.01504 C -0.18455 -0.00671 -0.18351 0.0051 -0.18872 0.01064 C -0.19879 0.02061 -0.20539 0.02431 -0.21441 0.03658 C -0.22552 0.07246 -0.21337 0.03751 -0.21927 -0.028 C -0.22136 -0.05138 -0.22674 -0.07384 -0.23056 -0.09675 C -0.2323 -0.10717 -0.24601 -0.103 -0.25313 -0.10763 C -0.2783 -0.12384 -0.26511 -0.12337 -0.29184 -0.12685 C -0.30886 -0.12569 -0.32639 -0.1287 -0.34184 -0.11828 C -0.34497 -0.11296 -0.34671 -0.10624 -0.35 -0.10115 C -0.35486 -0.09351 -0.3625 -0.08935 -0.36771 -0.08171 C -0.37188 -0.07569 -0.38004 -0.05555 -0.38386 -0.05161 C -0.39046 -0.04467 -0.41285 -0.04351 -0.42257 -0.04097 C -0.42518 -0.03958 -0.42813 -0.03865 -0.43056 -0.03657 C -0.43247 -0.03495 -0.43351 -0.03171 -0.43542 -0.03009 C -0.4408 -0.02546 -0.44028 -0.03101 -0.44028 -0.02592 " pathEditMode="relative" ptsTypes="ffffffffffffffffffffffA">
                                      <p:cBhvr>
                                        <p:cTn id="19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0955 0.02686 C 0.01111 0.02616 0.01302 0.02616 0.01441 0.02477 C 0.0191 0.01968 0.02153 0.00996 0.02726 0.00741 C 0.04688 -0.00139 0.05695 -0.0074 0.07396 -0.02268 C 0.08264 -0.03981 0.10105 -0.04328 0.11268 -0.05694 C 0.11754 -0.0625 0.12153 -0.0743 0.12726 -0.07847 C 0.13976 -0.08773 0.13351 -0.07801 0.14184 -0.08727 C 0.14914 -0.09537 0.14497 -0.09352 0.15313 -0.10439 C 0.16198 -0.1162 0.17361 -0.12477 0.18368 -0.13449 C 0.19046 -0.14097 0.18802 -0.14537 0.19827 -0.14953 C 0.20556 -0.15254 0.21337 -0.15254 0.22084 -0.15393 C 0.22344 -0.15532 0.22622 -0.15648 0.22882 -0.1581 C 0.23056 -0.15926 0.23177 -0.16273 0.23368 -0.1625 C 0.24792 -0.16088 0.25695 -0.14861 0.26598 -0.13657 C 0.27257 -0.12777 0.27188 -0.1331 0.27726 -0.12361 C 0.28264 -0.11412 0.28403 -0.09977 0.29011 -0.09143 C 0.29514 -0.08472 0.30139 -0.07847 0.30782 -0.0743 C 0.31007 -0.0699 0.31268 -0.06597 0.31441 -0.06134 C 0.31598 -0.05717 0.31754 -0.04838 0.31754 -0.04814 C 0.33264 -0.0537 0.33351 -0.06157 0.34497 -0.07222 C 0.35191 -0.0787 0.36146 -0.08194 0.3691 -0.08727 C 0.37934 -0.1037 0.39723 -0.12199 0.41111 -0.13449 C 0.42275 -0.12801 0.42448 -0.1206 0.43212 -0.10856 C 0.43785 -0.09977 0.43473 -0.08055 0.44184 -0.0743 C 0.44532 -0.07129 0.47084 0.04561 0.47084 0.05255 " pathEditMode="relative" rAng="0" ptsTypes="fffffffffffffffffffffffff">
                                      <p:cBhvr>
                                        <p:cTn id="21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00" y="-82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4.72222E-6 -4.07407E-6 C 0.00208 -0.00787 0.00243 -0.0162 0.00486 -0.02384 C 0.0059 -0.02731 0.00902 -0.03634 0.00972 -0.04097 C 0.01093 -0.04884 0.01041 -0.0574 0.01302 -0.06458 C 0.01684 -0.07476 0.02031 -0.08402 0.02586 -0.09259 C 0.02743 -0.0949 0.02951 -0.09652 0.03072 -0.09907 C 0.03454 -0.10694 0.03767 -0.11782 0.04045 -0.12685 C 0.0427 -0.14629 0.04635 -0.14907 0.05816 -0.15717 C 0.0651 -0.15648 0.07239 -0.15717 0.07916 -0.15486 C 0.08281 -0.15347 0.08559 -0.1493 0.08871 -0.14629 C 0.09097 -0.14421 0.09531 -0.13981 0.09531 -0.13958 C 0.09895 -0.1324 0.10486 -0.1162 0.10486 -0.11597 C 0.10763 -0.0993 0.10555 -0.08101 0.10972 -0.06458 C 0.11545 -0.04213 0.12222 -0.02893 0.13559 -0.01296 C 0.13906 -0.00879 0.14097 -0.00185 0.14531 -4.07407E-6 C 0.15954 0.00625 0.15156 0.00371 0.16944 0.00649 C 0.17326 0.00579 0.1776 0.00695 0.18072 0.00417 C 0.18316 0.00209 0.18229 -0.00324 0.18402 -0.00648 C 0.18506 -0.00856 0.18715 -0.00949 0.18871 -0.01088 C 0.19809 -0.02939 0.20208 -0.05046 0.21128 -0.06898 C 0.2151 -0.07685 0.21892 -0.08472 0.22256 -0.09259 C 0.2243 -0.09606 0.22743 -0.10324 0.22743 -0.10301 C 0.22899 -0.11481 0.2309 -0.12615 0.23229 -0.13773 C 0.23368 -0.14907 0.23316 -0.16111 0.23559 -0.17222 C 0.23645 -0.17615 0.2401 -0.17777 0.24201 -0.18078 C 0.24704 -0.18842 0.2526 -0.20138 0.25486 -0.21088 C 0.2684 -0.26782 0.25191 -0.23055 0.26944 -0.25393 C 0.28003 -0.26805 0.2835 -0.28819 0.29843 -0.29467 C 0.30538 -0.29398 0.31267 -0.29537 0.31944 -0.29259 C 0.32204 -0.29143 0.32274 -0.28703 0.3243 -0.28402 C 0.32795 -0.27708 0.33055 -0.26944 0.33402 -0.2625 C 0.33767 -0.24699 0.33246 -0.26574 0.34045 -0.24953 C 0.34375 -0.24282 0.34548 -0.2331 0.34843 -0.22592 C 0.35156 -0.21805 0.3677 0.02987 0.3677 0.03912 " pathEditMode="relative" rAng="0" ptsTypes="ffffffffffffffffffffffffffffffffff">
                                      <p:cBhvr>
                                        <p:cTn id="23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00" y="-128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8" presetClass="path" presetSubtype="0" accel="50000" decel="50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1806 1.11022E-16 C -0.00556 -0.01296 0.00868 -0.02569 0.0151 -0.0419 C 0.02135 -0.05926 0.02465 -0.08009 0.02777 -0.10116 C 0.03107 -0.12199 0.02777 -0.13935 0.02465 -0.15856 C 0.02135 -0.17639 0.01666 -0.1956 0.00555 -0.21134 C -0.00382 -0.22755 -0.01979 -0.24028 -0.03698 -0.25 C -0.05295 -0.25949 -0.07188 -0.26597 -0.0908 -0.26921 C -0.10973 -0.27222 -0.12865 -0.27222 -0.14636 -0.26921 C -0.16528 -0.26597 -0.18247 -0.25787 -0.1967 -0.24514 C -0.21111 -0.23403 -0.22361 -0.21944 -0.23004 -0.20208 C -0.23785 -0.18588 -0.24098 -0.16366 -0.24098 -0.14583 C -0.24254 -0.12824 -0.24098 -0.10741 -0.23299 -0.08981 C -0.22535 -0.07384 -0.21111 -0.06111 -0.19202 -0.05463 C -0.17292 -0.05 -0.154 -0.05625 -0.14132 -0.06736 C -0.13039 -0.07847 -0.1224 -0.0963 -0.12084 -0.1169 C -0.12084 -0.13773 -0.1224 -0.15694 -0.13039 -0.17315 C -0.13837 -0.18912 -0.13664 -0.19236 -0.16823 -0.21319 C -0.1967 -0.23565 -0.22535 -0.22917 -0.24254 -0.23056 C -0.2599 -0.23056 -0.27414 -0.22431 -0.2915 -0.21782 C -0.31059 -0.20995 -0.32622 -0.1956 -0.3375 -0.18287 C -0.34844 -0.16991 -0.35313 -0.15394 -0.35955 -0.12824 C -0.36407 -0.10278 -0.36407 -0.08981 -0.36407 -0.07037 C -0.36407 -0.05139 -0.36407 -0.03218 -0.36407 -0.01296 " pathEditMode="relative" rAng="0" ptsTypes="fffffffffffffffffffffff">
                                      <p:cBhvr>
                                        <p:cTn id="25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0" y="-136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1" presetClass="path" presetSubtype="0" accel="50000" decel="5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01267 -3.7037E-7 C 0.00139 -0.01273 -0.01128 -0.02523 -0.01701 -0.0412 C -0.02257 -0.05833 -0.02552 -0.07893 -0.0283 -0.09954 C -0.03108 -0.12014 -0.0283 -0.13727 -0.02552 -0.15625 C -0.02257 -0.17361 -0.0184 -0.19259 -0.00833 -0.2081 C -2.77778E-7 -0.22407 0.01424 -0.23657 0.02969 -0.2463 C 0.04392 -0.25556 0.06076 -0.26181 0.07778 -0.26505 C 0.09462 -0.26806 0.11163 -0.26806 0.12726 -0.26505 C 0.14427 -0.26181 0.15972 -0.25393 0.1724 -0.24143 C 0.18524 -0.23032 0.19653 -0.2162 0.20208 -0.19884 C 0.2092 -0.1831 0.21198 -0.16111 0.21198 -0.14352 C 0.21337 -0.12639 0.21198 -0.10579 0.20486 -0.08866 C 0.19792 -0.07268 0.18524 -0.06018 0.16823 -0.0537 C 0.15122 -0.04907 0.1342 -0.05532 0.12292 -0.06643 C 0.11302 -0.07731 0.1059 -0.09491 0.10451 -0.11505 C 0.10451 -0.13565 0.1059 -0.15463 0.11302 -0.17037 C 0.12014 -0.18634 0.11875 -0.18935 0.14688 -0.20995 C 0.1724 -0.23194 0.19792 -0.22569 0.21337 -0.22708 C 0.22882 -0.22708 0.24167 -0.22083 0.25712 -0.21458 C 0.27431 -0.20694 0.28819 -0.19259 0.29826 -0.18009 C 0.30816 -0.16736 0.31233 -0.15162 0.31788 -0.12639 C 0.32222 -0.10116 0.32222 -0.08866 0.32222 -0.06944 C 0.32222 -0.05046 0.32396 0.02384 0.32396 0.04282 " pathEditMode="relative" rAng="0" ptsTypes="fffffffffffffffffffffff">
                                      <p:cBhvr>
                                        <p:cTn id="27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00" y="-113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path" presetSubtype="0" accel="50000" decel="5000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 0.0  C 0.012 -0.024  0.033 -0.05867  0.058 -0.05867  C 0.095 -0.05867  0.125 -0.02267  0.125 0.02267  C 0.125 0.03733  0.122 0.05067  0.116 0.06267  C 0.117 0.06267  0.0 0.24267  0.0 0.244  C 0.0 0.24267  -0.117 0.06267  -0.116 0.06267  C -0.122 0.05067  -0.125 0.03733  -0.125 0.02267  C -0.125 -0.02267  -0.095 -0.05867  -0.057 -0.05867  C -0.033 -0.05867  -0.012 -0.024  0.0 0.0  Z" pathEditMode="relative" ptsTypes="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不同类型的集合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079" y="916538"/>
            <a:ext cx="2574432" cy="3429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90" y="1044906"/>
            <a:ext cx="3657600" cy="2780044"/>
          </a:xfrm>
          <a:prstGeom prst="rect">
            <a:avLst/>
          </a:prstGeom>
        </p:spPr>
      </p:pic>
      <p:pic>
        <p:nvPicPr>
          <p:cNvPr id="25" name="图片 15" descr="无标题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208" y="3701816"/>
            <a:ext cx="2717489" cy="2745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94" y="3765128"/>
            <a:ext cx="3965664" cy="26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2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集合框架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4480790" y="1809555"/>
            <a:ext cx="2160000" cy="720000"/>
          </a:xfrm>
          <a:prstGeom prst="rect">
            <a:avLst/>
          </a:prstGeom>
          <a:solidFill>
            <a:srgbClr val="CECE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>
                <a:ea typeface="宋体" pitchFamily="2" charset="-122"/>
              </a:rPr>
              <a:t>Collection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1992590" y="3866955"/>
            <a:ext cx="1440000" cy="720000"/>
          </a:xfrm>
          <a:prstGeom prst="rect">
            <a:avLst/>
          </a:prstGeom>
          <a:solidFill>
            <a:srgbClr val="CECE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>
                <a:ea typeface="宋体" pitchFamily="2" charset="-122"/>
              </a:rPr>
              <a:t>List</a:t>
            </a: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5751790" y="3866955"/>
            <a:ext cx="1440000" cy="720000"/>
          </a:xfrm>
          <a:prstGeom prst="rect">
            <a:avLst/>
          </a:prstGeom>
          <a:solidFill>
            <a:srgbClr val="CECE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>
                <a:ea typeface="宋体" pitchFamily="2" charset="-122"/>
              </a:rPr>
              <a:t>Set</a:t>
            </a: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7631390" y="3866955"/>
            <a:ext cx="2160000" cy="720000"/>
          </a:xfrm>
          <a:prstGeom prst="rect">
            <a:avLst/>
          </a:prstGeom>
          <a:solidFill>
            <a:srgbClr val="CECE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>
                <a:ea typeface="宋体" pitchFamily="2" charset="-122"/>
              </a:rPr>
              <a:t>Dictionary</a:t>
            </a:r>
          </a:p>
        </p:txBody>
      </p:sp>
      <p:cxnSp>
        <p:nvCxnSpPr>
          <p:cNvPr id="12" name="AutoShape 38"/>
          <p:cNvCxnSpPr>
            <a:cxnSpLocks noChangeShapeType="1"/>
            <a:stCxn id="8" idx="2"/>
          </p:cNvCxnSpPr>
          <p:nvPr/>
        </p:nvCxnSpPr>
        <p:spPr bwMode="auto">
          <a:xfrm>
            <a:off x="5560790" y="2529555"/>
            <a:ext cx="0" cy="609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39"/>
          <p:cNvCxnSpPr>
            <a:cxnSpLocks noChangeShapeType="1"/>
          </p:cNvCxnSpPr>
          <p:nvPr/>
        </p:nvCxnSpPr>
        <p:spPr bwMode="auto">
          <a:xfrm>
            <a:off x="2712590" y="3139155"/>
            <a:ext cx="5998800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42"/>
          <p:cNvCxnSpPr>
            <a:cxnSpLocks noChangeShapeType="1"/>
            <a:stCxn id="11" idx="0"/>
          </p:cNvCxnSpPr>
          <p:nvPr/>
        </p:nvCxnSpPr>
        <p:spPr bwMode="auto">
          <a:xfrm flipV="1">
            <a:off x="8711390" y="3139155"/>
            <a:ext cx="0" cy="727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25"/>
          <p:cNvSpPr>
            <a:spLocks noChangeArrowheads="1"/>
          </p:cNvSpPr>
          <p:nvPr/>
        </p:nvSpPr>
        <p:spPr bwMode="auto">
          <a:xfrm>
            <a:off x="3872190" y="3866955"/>
            <a:ext cx="1440000" cy="720000"/>
          </a:xfrm>
          <a:prstGeom prst="rect">
            <a:avLst/>
          </a:prstGeom>
          <a:solidFill>
            <a:srgbClr val="CECEE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None/>
            </a:pPr>
            <a:r>
              <a:rPr lang="en-US" altLang="zh-CN" sz="3200">
                <a:ea typeface="宋体" pitchFamily="2" charset="-122"/>
              </a:rPr>
              <a:t>Tuple</a:t>
            </a:r>
          </a:p>
        </p:txBody>
      </p:sp>
      <p:cxnSp>
        <p:nvCxnSpPr>
          <p:cNvPr id="16" name="AutoShape 42"/>
          <p:cNvCxnSpPr>
            <a:cxnSpLocks noChangeShapeType="1"/>
            <a:stCxn id="9" idx="0"/>
          </p:cNvCxnSpPr>
          <p:nvPr/>
        </p:nvCxnSpPr>
        <p:spPr bwMode="auto">
          <a:xfrm flipV="1">
            <a:off x="2712590" y="3139155"/>
            <a:ext cx="0" cy="727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42"/>
          <p:cNvCxnSpPr>
            <a:cxnSpLocks noChangeShapeType="1"/>
          </p:cNvCxnSpPr>
          <p:nvPr/>
        </p:nvCxnSpPr>
        <p:spPr bwMode="auto">
          <a:xfrm flipV="1">
            <a:off x="4592190" y="3139155"/>
            <a:ext cx="0" cy="727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42"/>
          <p:cNvCxnSpPr>
            <a:cxnSpLocks noChangeShapeType="1"/>
          </p:cNvCxnSpPr>
          <p:nvPr/>
        </p:nvCxnSpPr>
        <p:spPr bwMode="auto">
          <a:xfrm flipV="1">
            <a:off x="6488390" y="3139155"/>
            <a:ext cx="0" cy="7278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28456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Collection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四个特点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>
            <a:off x="798326" y="1020500"/>
            <a:ext cx="77724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有序性（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lang="zh-CN" altLang="en-US" sz="3200"/>
              <a:t>）</a:t>
            </a:r>
            <a:endParaRPr lang="en-US" altLang="zh-CN" sz="3200"/>
          </a:p>
          <a:p>
            <a:pPr lvl="1">
              <a:spcBef>
                <a:spcPts val="1200"/>
              </a:spcBef>
            </a:pPr>
            <a:r>
              <a:rPr lang="zh-CN" altLang="en-US" sz="2800">
                <a:latin typeface="Courier New" panose="02070309020205020404" pitchFamily="49" charset="0"/>
                <a:cs typeface="Courier New" panose="02070309020205020404" pitchFamily="49" charset="0"/>
              </a:rPr>
              <a:t>元素之间是否按照顺序排列</a:t>
            </a:r>
            <a:endParaRPr lang="en-US" altLang="zh-CN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3200"/>
              <a:t>排序性（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zh-CN" altLang="en-US" sz="3200"/>
              <a:t>）</a:t>
            </a:r>
            <a:endParaRPr lang="en-US" altLang="zh-CN" sz="3200"/>
          </a:p>
          <a:p>
            <a:pPr lvl="1">
              <a:spcBef>
                <a:spcPts val="1200"/>
              </a:spcBef>
            </a:pPr>
            <a:r>
              <a:rPr lang="zh-CN" altLang="en-US" sz="2800"/>
              <a:t>元素间是否按值的大小排序</a:t>
            </a:r>
            <a:endParaRPr lang="en-US" altLang="zh-CN" sz="2800"/>
          </a:p>
          <a:p>
            <a:r>
              <a:rPr lang="zh-CN" altLang="en-US" sz="3200"/>
              <a:t>索引（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indexed</a:t>
            </a:r>
            <a:r>
              <a:rPr lang="zh-CN" altLang="en-US" sz="3200"/>
              <a:t>）</a:t>
            </a:r>
            <a:endParaRPr lang="en-US" altLang="zh-CN" sz="3200"/>
          </a:p>
          <a:p>
            <a:pPr lvl="1">
              <a:spcBef>
                <a:spcPts val="1200"/>
              </a:spcBef>
            </a:pPr>
            <a:r>
              <a:rPr lang="zh-CN" altLang="en-US" sz="2800"/>
              <a:t>是否可根据索引位置来访问元素</a:t>
            </a:r>
            <a:endParaRPr lang="en-US" altLang="zh-CN" sz="2800"/>
          </a:p>
          <a:p>
            <a:r>
              <a:rPr lang="zh-CN" altLang="en-US" sz="3200"/>
              <a:t>独特性（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zh-CN" altLang="en-US" sz="3200"/>
              <a:t>）</a:t>
            </a:r>
            <a:endParaRPr lang="en-US" altLang="zh-CN" sz="3200"/>
          </a:p>
          <a:p>
            <a:pPr lvl="1">
              <a:spcBef>
                <a:spcPts val="1200"/>
              </a:spcBef>
            </a:pPr>
            <a:r>
              <a:rPr lang="zh-CN" altLang="en-US" sz="2800"/>
              <a:t>元素值是否允许重复</a:t>
            </a:r>
            <a:endParaRPr lang="en-US" altLang="zh-CN" sz="28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262" y="1021214"/>
            <a:ext cx="2422500" cy="12954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973" y="2468300"/>
            <a:ext cx="2916040" cy="134183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955" y="3916100"/>
            <a:ext cx="2603499" cy="17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7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概述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371957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771582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什么是列表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871641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41431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82271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嵌套列表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91214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77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什么是列表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>
            <a:off x="1155116" y="1140858"/>
            <a:ext cx="943312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用来记录一组有序数据项的集合</a:t>
            </a:r>
            <a:endParaRPr lang="en-US" altLang="zh-CN"/>
          </a:p>
          <a:p>
            <a:pPr lvl="1"/>
            <a:r>
              <a:rPr lang="zh-CN" altLang="en-US"/>
              <a:t>每个数据项称为“元素”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有序：数据项之间按照顺序排列，允许重复元素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索引：可根据索引位置来访问元素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长度随元素的添加或删除而动态变化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有内置的函数，使列表的访问更方便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65160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列表的创建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232030" y="1302518"/>
            <a:ext cx="9142564" cy="419242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用</a:t>
            </a:r>
            <a:r>
              <a:rPr lang="en-US" altLang="zh-CN"/>
              <a:t>[]</a:t>
            </a:r>
            <a:r>
              <a:rPr lang="zh-CN" altLang="en-US"/>
              <a:t>开头和结尾，元素间用逗号隔开</a:t>
            </a:r>
            <a:endParaRPr lang="en-US" altLang="zh-CN"/>
          </a:p>
        </p:txBody>
      </p:sp>
      <p:sp>
        <p:nvSpPr>
          <p:cNvPr id="10" name="TextBox 9"/>
          <p:cNvSpPr txBox="1"/>
          <p:nvPr/>
        </p:nvSpPr>
        <p:spPr>
          <a:xfrm>
            <a:off x="1460630" y="2191994"/>
            <a:ext cx="87515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ints</a:t>
            </a:r>
            <a:r>
              <a:rPr lang="pl-PL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= [1024, 996, 35]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reals = [26.0, 7.8, 1.72, 62.5]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strs = ['C++', 'Java', 'Python']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mix = [8, 'hello', 3.1, True]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empty_list = []</a:t>
            </a:r>
          </a:p>
        </p:txBody>
      </p:sp>
    </p:spTree>
    <p:extLst>
      <p:ext uri="{BB962C8B-B14F-4D97-AF65-F5344CB8AC3E}">
        <p14:creationId xmlns:p14="http://schemas.microsoft.com/office/powerpoint/2010/main" val="35766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访问列表元素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1120923" y="1219200"/>
            <a:ext cx="8534400" cy="4361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列表中的元素下标从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uLnTx/>
                <a:uFillTx/>
                <a:latin typeface="宋体" pitchFamily="2" charset="-122"/>
                <a:ea typeface="宋体" pitchFamily="2" charset="-122"/>
              </a:rPr>
              <a:t>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开始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L =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[1024, 996, 35]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  <a:defRPr/>
            </a:pP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可以访问其中第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个元素：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L[i]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10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515078"/>
              </p:ext>
            </p:extLst>
          </p:nvPr>
        </p:nvGraphicFramePr>
        <p:xfrm>
          <a:off x="2949723" y="2712720"/>
          <a:ext cx="4495799" cy="640080"/>
        </p:xfrm>
        <a:graphic>
          <a:graphicData uri="http://schemas.openxmlformats.org/drawingml/2006/table">
            <a:tbl>
              <a:tblPr/>
              <a:tblGrid>
                <a:gridCol w="149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1024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996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491735" y="342900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0      1      2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85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列表元素可以修改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3"/>
          <p:cNvSpPr txBox="1">
            <a:spLocks/>
          </p:cNvSpPr>
          <p:nvPr/>
        </p:nvSpPr>
        <p:spPr bwMode="auto">
          <a:xfrm>
            <a:off x="1119600" y="1210654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列表中的元素下标从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uLnTx/>
                <a:uFillTx/>
                <a:latin typeface="宋体" pitchFamily="2" charset="-122"/>
                <a:ea typeface="宋体" pitchFamily="2" charset="-122"/>
              </a:rPr>
              <a:t>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开始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L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 =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[1024, 996, 35]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  <a:p>
            <a:pPr lvl="1">
              <a:spcBef>
                <a:spcPts val="1800"/>
              </a:spcBef>
              <a:buNone/>
              <a:defRPr/>
            </a:pP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3200" b="1" ker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L[1]</a:t>
            </a:r>
            <a:r>
              <a:rPr lang="zh-CN" altLang="en-US" sz="3200" b="1" ker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3200" b="1" ker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= 965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163822"/>
              </p:ext>
            </p:extLst>
          </p:nvPr>
        </p:nvGraphicFramePr>
        <p:xfrm>
          <a:off x="2948400" y="2712720"/>
          <a:ext cx="4495799" cy="640080"/>
        </p:xfrm>
        <a:graphic>
          <a:graphicData uri="http://schemas.openxmlformats.org/drawingml/2006/table">
            <a:tbl>
              <a:tblPr/>
              <a:tblGrid>
                <a:gridCol w="149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1024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965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492000" y="342900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0      1      2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5535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列表的长度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11496" y="1081036"/>
            <a:ext cx="7696200" cy="9144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en-US" altLang="zh-CN" sz="3200"/>
              <a:t>len()</a:t>
            </a:r>
            <a:r>
              <a:rPr lang="zh-CN" altLang="en-US" sz="3200"/>
              <a:t>函数返回列表的长度（元素个数）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487696" y="1766836"/>
            <a:ext cx="705834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ints</a:t>
            </a:r>
            <a:r>
              <a:rPr lang="pl-PL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 [1024, 996, 35]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reals = [26.0, 7.8, 1.72, 62.5]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strs = ['C++', 'Java', 'Python']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mix = [8, 'hello', 3.1, True]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empty_list =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7696" y="4052836"/>
            <a:ext cx="452239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len(ints)</a:t>
            </a:r>
            <a:r>
              <a:rPr lang="pl-PL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		= 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len(reals)		= 4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len(strs) 		= 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len(mix) 		= 4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len(empty_list) 	= 0</a:t>
            </a:r>
          </a:p>
        </p:txBody>
      </p:sp>
    </p:spTree>
    <p:extLst>
      <p:ext uri="{BB962C8B-B14F-4D97-AF65-F5344CB8AC3E}">
        <p14:creationId xmlns:p14="http://schemas.microsoft.com/office/powerpoint/2010/main" val="20949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列表下标的边界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71183C5-BD37-4B38-A85A-D7B429080C30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C4469B4B-9560-4407-AAE2-6613C2E481D9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F56DF68B-F0B7-4D66-A5E5-4B055132DE23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F7CE63A0-E41B-4269-A231-A98C3B7E3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620" y="1188720"/>
            <a:ext cx="987968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42913" indent="-442913" eaLnBrk="1" hangingPunct="1">
              <a:spcBef>
                <a:spcPct val="5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边界：指列表下标的最小值和最大值</a:t>
            </a:r>
          </a:p>
          <a:p>
            <a:pPr marL="442913" indent="-442913" eaLnBrk="1" hangingPunct="1">
              <a:spcBef>
                <a:spcPct val="5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若列表长度为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N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，则列表下标的边界为</a:t>
            </a:r>
            <a:endParaRPr kumimoji="1" lang="en-US" altLang="zh-CN" sz="2800" b="1">
              <a:solidFill>
                <a:schemeClr val="tx1"/>
              </a:solidFill>
              <a:ea typeface="黑体" pitchFamily="49" charset="-122"/>
            </a:endParaRPr>
          </a:p>
          <a:p>
            <a:pPr marL="442913" indent="-442913" eaLnBrk="1" hangingPunct="1">
              <a:spcBef>
                <a:spcPct val="50000"/>
              </a:spcBef>
              <a:buFont typeface="Times New Roman" pitchFamily="18" charset="0"/>
              <a:buChar char="☺"/>
            </a:pP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Python</a:t>
            </a:r>
            <a:r>
              <a:rPr kumimoji="1" lang="zh-CN" altLang="en-US" sz="2800" b="1">
                <a:solidFill>
                  <a:srgbClr val="FF0000"/>
                </a:solidFill>
                <a:ea typeface="黑体" pitchFamily="49" charset="-122"/>
              </a:rPr>
              <a:t>会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进行列表下标的越界检查，</a:t>
            </a:r>
            <a:r>
              <a:rPr kumimoji="1" lang="zh-CN" altLang="en-US" sz="2800" b="1">
                <a:ea typeface="黑体" pitchFamily="49" charset="-122"/>
              </a:rPr>
              <a:t>别伸手，伸手必被抓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。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030B988-B610-436D-97BD-61404A014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007" y="1843658"/>
            <a:ext cx="1510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 b="1">
                <a:solidFill>
                  <a:srgbClr val="FF00FF"/>
                </a:solidFill>
                <a:latin typeface="Tahoma" pitchFamily="34" charset="0"/>
                <a:ea typeface="宋体" pitchFamily="2" charset="-122"/>
              </a:rPr>
              <a:t>0</a:t>
            </a:r>
            <a:r>
              <a:rPr kumimoji="1" lang="zh-CN" altLang="en-US" sz="2800" b="1">
                <a:solidFill>
                  <a:srgbClr val="FF00FF"/>
                </a:solidFill>
                <a:latin typeface="Tahoma" pitchFamily="34" charset="0"/>
                <a:ea typeface="宋体" pitchFamily="2" charset="-122"/>
              </a:rPr>
              <a:t>～</a:t>
            </a:r>
            <a:r>
              <a:rPr kumimoji="1" lang="en-US" altLang="zh-CN" sz="2800" b="1">
                <a:solidFill>
                  <a:srgbClr val="FF00FF"/>
                </a:solidFill>
                <a:latin typeface="Tahoma" pitchFamily="34" charset="0"/>
                <a:ea typeface="宋体" pitchFamily="2" charset="-122"/>
              </a:rPr>
              <a:t>N–1</a:t>
            </a:r>
            <a:endParaRPr kumimoji="1" lang="zh-CN" altLang="en-US" sz="2800" b="1">
              <a:solidFill>
                <a:srgbClr val="FF00FF"/>
              </a:solidFill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3FE29B4-5FA5-4EE9-BDDD-6BF8F8C39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121" y="3209751"/>
            <a:ext cx="51244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88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列表比较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72207" y="1139430"/>
            <a:ext cx="9877505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列表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比较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操作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所有关系运算符都能使用（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&gt;=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==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!=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结果为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False</a:t>
            </a: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方法：逐个元素比较，直到分出胜负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5608" y="4416030"/>
            <a:ext cx="5769528" cy="1557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L1 = ['b', 1, 3.14, True]</a:t>
            </a:r>
          </a:p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L2 = ['a', 2, 3.15, True]</a:t>
            </a:r>
          </a:p>
          <a:p>
            <a:pPr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L1 &gt; L2</a:t>
            </a:r>
          </a:p>
        </p:txBody>
      </p:sp>
      <p:sp>
        <p:nvSpPr>
          <p:cNvPr id="7" name="矩形 6"/>
          <p:cNvSpPr/>
          <p:nvPr/>
        </p:nvSpPr>
        <p:spPr>
          <a:xfrm>
            <a:off x="7182755" y="5406836"/>
            <a:ext cx="2971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200" b="1" kern="0">
                <a:latin typeface="Courier New" pitchFamily="49" charset="0"/>
                <a:ea typeface="ＭＳ Ｐゴシック" pitchFamily="34" charset="-128"/>
              </a:rPr>
              <a:t>列表拼接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: </a:t>
            </a:r>
            <a:r>
              <a:rPr lang="en-US" altLang="zh-CN" sz="3200" b="1" kern="0">
                <a:solidFill>
                  <a:srgbClr val="FF00FF"/>
                </a:solidFill>
                <a:latin typeface="Courier New" pitchFamily="49" charset="0"/>
                <a:ea typeface="ＭＳ Ｐゴシック" pitchFamily="34" charset="-128"/>
              </a:rPr>
              <a:t>+</a:t>
            </a:r>
            <a:endParaRPr lang="zh-CN" altLang="en-US" sz="32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添加元素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64552" y="1199966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用</a:t>
            </a:r>
            <a:r>
              <a:rPr lang="en-US" altLang="zh-CN" sz="3200"/>
              <a:t>append</a:t>
            </a:r>
            <a:r>
              <a:rPr lang="zh-CN" altLang="en-US" sz="3200"/>
              <a:t>函数可往列表末尾添加元素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016952" y="2114366"/>
            <a:ext cx="576952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family1</a:t>
            </a:r>
            <a:r>
              <a:rPr lang="pl-PL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= ['dad']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family2 = ['mom']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 = family1 + family2</a:t>
            </a:r>
            <a:endParaRPr lang="en-US" altLang="zh-CN" sz="28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family.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append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('Peppa')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family.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append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('George') </a:t>
            </a:r>
            <a:endParaRPr lang="en-US" altLang="zh-CN" sz="28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3152" y="1841324"/>
            <a:ext cx="869780" cy="9588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352" y="2647766"/>
            <a:ext cx="768157" cy="9536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352" y="3409766"/>
            <a:ext cx="1118575" cy="9043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942" y="4104358"/>
            <a:ext cx="1375410" cy="105800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500" y="3313244"/>
            <a:ext cx="4191000" cy="311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4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列表的函数和操作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64646" y="109101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list = [10, 20, 30, 40]</a:t>
            </a:r>
            <a:endParaRPr lang="zh-CN" altLang="en-US" sz="32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59851"/>
              </p:ext>
            </p:extLst>
          </p:nvPr>
        </p:nvGraphicFramePr>
        <p:xfrm>
          <a:off x="1054706" y="1847454"/>
          <a:ext cx="940534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2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元素的个数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 in list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元素是否出现在列表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del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del(list[1])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30, 40]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按位置删除一个元素，会修改列表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最大值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最小值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sum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sum(list)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求和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sorted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L=sorted(list)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0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返回新列表，不修改</a:t>
                      </a:r>
                      <a:r>
                        <a:rPr lang="en-US" altLang="zh-CN" sz="20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</a:t>
                      </a:r>
                      <a:endParaRPr lang="zh-CN" altLang="en-US" sz="20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416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</a:t>
            </a:r>
            <a:r>
              <a:rPr lang="zh-CN" altLang="en-US" sz="48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成员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7584" y="121920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list = [10, 20, 30, 40]</a:t>
            </a:r>
            <a:endParaRPr lang="zh-CN" altLang="en-US" sz="32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354859"/>
              </p:ext>
            </p:extLst>
          </p:nvPr>
        </p:nvGraphicFramePr>
        <p:xfrm>
          <a:off x="1422182" y="2026920"/>
          <a:ext cx="8781496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0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结果（修改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append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list.append(50)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20, 30, 40, 50]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pop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= list.pop()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20, 30] </a:t>
                      </a:r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x = 40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= list.pop(2)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20, 40] </a:t>
                      </a:r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x = 30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remove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list.remove(20)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30, 40]  </a:t>
                      </a:r>
                      <a:r>
                        <a:rPr lang="en-US" altLang="zh-CN" sz="20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0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删元素首次出现</a:t>
                      </a:r>
                      <a:endParaRPr lang="zh-CN" altLang="en-US" sz="20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extend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list.extend([50])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20, 30, 40, 50] 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index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 = list.index(30)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 = 2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首次出现的元素下标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369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</a:t>
            </a:r>
            <a:r>
              <a:rPr lang="zh-CN" altLang="en-US" sz="48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成员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17584" y="121920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list = [10, 20, 30, 40]</a:t>
            </a:r>
            <a:endParaRPr lang="zh-CN" altLang="en-US" sz="3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47640"/>
              </p:ext>
            </p:extLst>
          </p:nvPr>
        </p:nvGraphicFramePr>
        <p:xfrm>
          <a:off x="1635832" y="2026920"/>
          <a:ext cx="880712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3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结果（修改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copy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list2 = list.copy()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list2 = [10, 20, 30, 40] 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insert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list.insert(1, 15)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15, 20, 30, 40]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在特定位置插入新元素，其余右移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reverse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list.reverse()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[40, 30, 20, 10]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反置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sort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list.sort()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[10, 20, 30, 40]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排序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count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list.count(10)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统计元素的出现次数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489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列表的存储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86748" y="1081036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列表与变量不同</a:t>
            </a:r>
            <a:endParaRPr lang="en-US" altLang="zh-CN" sz="3200"/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列表本身是一个对象，位于堆中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spcBef>
                <a:spcPts val="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变量中存放一个地址指向该对象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多个变量可以指向同一个列表对象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227" y="3529616"/>
            <a:ext cx="5125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da-DK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list = [10, 20, 30, 40]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458348" y="4155551"/>
            <a:ext cx="5486400" cy="2107085"/>
            <a:chOff x="2133600" y="4446115"/>
            <a:chExt cx="5486400" cy="2107085"/>
          </a:xfrm>
        </p:grpSpPr>
        <p:sp>
          <p:nvSpPr>
            <p:cNvPr id="8" name="矩形 7"/>
            <p:cNvSpPr/>
            <p:nvPr/>
          </p:nvSpPr>
          <p:spPr bwMode="auto">
            <a:xfrm>
              <a:off x="2133600" y="4837295"/>
              <a:ext cx="1066800" cy="6096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4876800" y="4446115"/>
              <a:ext cx="2743200" cy="1371600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18183" y="5512915"/>
              <a:ext cx="906017" cy="1040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 list</a:t>
              </a:r>
            </a:p>
            <a:p>
              <a:pPr>
                <a:buNone/>
              </a:pPr>
              <a:r>
                <a:rPr lang="zh-CN" altLang="en-US" sz="2800" b="1">
                  <a:latin typeface="Times New Roman" pitchFamily="18" charset="0"/>
                  <a:cs typeface="Times New Roman" pitchFamily="18" charset="0"/>
                </a:rPr>
                <a:t>引用</a:t>
              </a:r>
            </a:p>
          </p:txBody>
        </p:sp>
        <p:cxnSp>
          <p:nvCxnSpPr>
            <p:cNvPr id="11" name="直接箭头连接符 10"/>
            <p:cNvCxnSpPr>
              <a:endCxn id="9" idx="2"/>
            </p:cNvCxnSpPr>
            <p:nvPr/>
          </p:nvCxnSpPr>
          <p:spPr bwMode="auto">
            <a:xfrm>
              <a:off x="2895600" y="5131915"/>
              <a:ext cx="198120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grpSp>
          <p:nvGrpSpPr>
            <p:cNvPr id="12" name="组合 11"/>
            <p:cNvGrpSpPr/>
            <p:nvPr/>
          </p:nvGrpSpPr>
          <p:grpSpPr>
            <a:xfrm>
              <a:off x="4935394" y="4876800"/>
              <a:ext cx="2608406" cy="533400"/>
              <a:chOff x="5114930" y="5943600"/>
              <a:chExt cx="2608406" cy="533400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5280000" y="5943600"/>
                <a:ext cx="2340000" cy="533400"/>
                <a:chOff x="5105400" y="5943600"/>
                <a:chExt cx="2340000" cy="533400"/>
              </a:xfrm>
            </p:grpSpPr>
            <p:cxnSp>
              <p:nvCxnSpPr>
                <p:cNvPr id="15" name="直接连接符 14"/>
                <p:cNvCxnSpPr/>
                <p:nvPr/>
              </p:nvCxnSpPr>
              <p:spPr bwMode="auto">
                <a:xfrm>
                  <a:off x="5105400" y="5943600"/>
                  <a:ext cx="234000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直接连接符 15"/>
                <p:cNvCxnSpPr/>
                <p:nvPr/>
              </p:nvCxnSpPr>
              <p:spPr bwMode="auto">
                <a:xfrm>
                  <a:off x="5105400" y="6477000"/>
                  <a:ext cx="2340000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7" name="直接连接符 16"/>
                <p:cNvCxnSpPr/>
                <p:nvPr/>
              </p:nvCxnSpPr>
              <p:spPr bwMode="auto">
                <a:xfrm>
                  <a:off x="5105400" y="5943600"/>
                  <a:ext cx="0" cy="53340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" name="直接连接符 17"/>
                <p:cNvCxnSpPr/>
                <p:nvPr/>
              </p:nvCxnSpPr>
              <p:spPr bwMode="auto">
                <a:xfrm>
                  <a:off x="7445400" y="5943600"/>
                  <a:ext cx="0" cy="53340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" name="直接连接符 18"/>
                <p:cNvCxnSpPr/>
                <p:nvPr/>
              </p:nvCxnSpPr>
              <p:spPr bwMode="auto">
                <a:xfrm>
                  <a:off x="5715000" y="5943600"/>
                  <a:ext cx="0" cy="53340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" name="直接连接符 19"/>
                <p:cNvCxnSpPr/>
                <p:nvPr/>
              </p:nvCxnSpPr>
              <p:spPr bwMode="auto">
                <a:xfrm>
                  <a:off x="6278400" y="5943600"/>
                  <a:ext cx="0" cy="53340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" name="直接连接符 20"/>
                <p:cNvCxnSpPr/>
                <p:nvPr/>
              </p:nvCxnSpPr>
              <p:spPr bwMode="auto">
                <a:xfrm>
                  <a:off x="6865200" y="5943600"/>
                  <a:ext cx="0" cy="533400"/>
                </a:xfrm>
                <a:prstGeom prst="line">
                  <a:avLst/>
                </a:pr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4" name="TextBox 13"/>
              <p:cNvSpPr txBox="1"/>
              <p:nvPr/>
            </p:nvSpPr>
            <p:spPr>
              <a:xfrm>
                <a:off x="5114930" y="5953780"/>
                <a:ext cx="26084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None/>
                </a:pPr>
                <a:r>
                  <a:rPr lang="en-US" altLang="zh-CN" sz="2800">
                    <a:latin typeface="Times New Roman" pitchFamily="18" charset="0"/>
                    <a:cs typeface="Times New Roman" pitchFamily="18" charset="0"/>
                  </a:rPr>
                  <a:t>  10   20  30   40 </a:t>
                </a:r>
                <a:endParaRPr lang="zh-CN" altLang="en-US" sz="28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947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引用与对象的分离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300398" y="1297301"/>
            <a:ext cx="7696200" cy="463681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如果多个变量指向同一个列表？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528998" y="2123626"/>
            <a:ext cx="660309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boy1 = [26, 7, 1.72, 62.5]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 = boy1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boy2[1] = 9  </a:t>
            </a:r>
            <a:r>
              <a:rPr lang="en-US" altLang="zh-CN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去了一趟韩国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boy2.append('handsome')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print(boy1) </a:t>
            </a:r>
            <a:r>
              <a:rPr lang="en-US" altLang="zh-CN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#???</a:t>
            </a:r>
          </a:p>
        </p:txBody>
      </p:sp>
    </p:spTree>
    <p:extLst>
      <p:ext uri="{BB962C8B-B14F-4D97-AF65-F5344CB8AC3E}">
        <p14:creationId xmlns:p14="http://schemas.microsoft.com/office/powerpoint/2010/main" val="168039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引用与对象的分离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300398" y="1285426"/>
            <a:ext cx="7696200" cy="463681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每个变量指向不同的列表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528998" y="2123626"/>
            <a:ext cx="660309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boy1 = [26, 7, 1.72, 62.5]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 = boy1.</a:t>
            </a:r>
            <a:r>
              <a:rPr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copy()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boy2[1] = 9  </a:t>
            </a:r>
            <a:r>
              <a:rPr lang="en-US" altLang="zh-CN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去了一趟韩国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boy2.append('handsome')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print(boy1) </a:t>
            </a:r>
            <a:r>
              <a:rPr lang="en-US" altLang="zh-CN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#???</a:t>
            </a:r>
          </a:p>
        </p:txBody>
      </p:sp>
    </p:spTree>
    <p:extLst>
      <p:ext uri="{BB962C8B-B14F-4D97-AF65-F5344CB8AC3E}">
        <p14:creationId xmlns:p14="http://schemas.microsoft.com/office/powerpoint/2010/main" val="6649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列表作为函数参数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95293" y="1318896"/>
            <a:ext cx="9552767" cy="4509336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如果用列表作为函数参数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在参数传递时，传递的是引用而不是值，即传递的是列表的地址，而不会把整个列表的内容拷贝过去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在被调用的函数中，如果对列表中的元素进行了修改，则返回主调函数后，这些修改依然有效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200"/>
              </a:spcBef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790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实参与形参举例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580975" y="1233441"/>
            <a:ext cx="8785077" cy="483209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DayDreaming(salary, cars, houses):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salary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cars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houses += 1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6000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nCars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nHouses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DayDreaming(salary, nCars, nHouses)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print(salary, nCars, nHouses)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805182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用列表作为参数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721412" y="1276166"/>
            <a:ext cx="9584812" cy="440120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def 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DayDreaming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(list):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list[0] = list[0]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list[1]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list[2] += 1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info = [6000, 0, 0] </a:t>
            </a:r>
            <a:r>
              <a:rPr kumimoji="1"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kumimoji="1"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salary,cars,houses</a:t>
            </a:r>
            <a:endParaRPr kumimoji="1"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 dirty="0" err="1">
                <a:latin typeface="Courier New" pitchFamily="49" charset="0"/>
                <a:cs typeface="Courier New" pitchFamily="49" charset="0"/>
              </a:rPr>
              <a:t>DayDreaming</a:t>
            </a: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(info)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    print(info[0], info[1], info[2])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8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 dirty="0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923" y="4093430"/>
            <a:ext cx="2941320" cy="21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7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传引用而不是值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472342"/>
              </p:ext>
            </p:extLst>
          </p:nvPr>
        </p:nvGraphicFramePr>
        <p:xfrm>
          <a:off x="3464707" y="4811361"/>
          <a:ext cx="3563938" cy="860425"/>
        </p:xfrm>
        <a:graphic>
          <a:graphicData uri="http://schemas.openxmlformats.org/drawingml/2006/table">
            <a:tbl>
              <a:tblPr/>
              <a:tblGrid>
                <a:gridCol w="1187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7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04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6000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52"/>
          <p:cNvSpPr>
            <a:spLocks noChangeArrowheads="1"/>
          </p:cNvSpPr>
          <p:nvPr/>
        </p:nvSpPr>
        <p:spPr bwMode="auto">
          <a:xfrm>
            <a:off x="1295422" y="1080322"/>
            <a:ext cx="96600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kumimoji="1" lang="zh-CN" altLang="en-US" sz="3200" b="1">
                <a:solidFill>
                  <a:srgbClr val="C80495"/>
                </a:solidFill>
                <a:ea typeface="宋体" pitchFamily="2" charset="-122"/>
              </a:rPr>
              <a:t>若用列表作为参数，在函数调用时，传引用而不传值</a:t>
            </a:r>
          </a:p>
        </p:txBody>
      </p:sp>
      <p:sp>
        <p:nvSpPr>
          <p:cNvPr id="7" name="Text Box 54"/>
          <p:cNvSpPr txBox="1">
            <a:spLocks noChangeArrowheads="1"/>
          </p:cNvSpPr>
          <p:nvPr/>
        </p:nvSpPr>
        <p:spPr bwMode="auto">
          <a:xfrm>
            <a:off x="2770288" y="3373564"/>
            <a:ext cx="15135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latin typeface="Times New Roman" pitchFamily="18" charset="0"/>
                <a:ea typeface="宋体" pitchFamily="2" charset="-122"/>
              </a:rPr>
              <a:t>main</a:t>
            </a:r>
            <a:r>
              <a:rPr lang="zh-CN" altLang="en-US" b="1">
                <a:latin typeface="Times New Roman" pitchFamily="18" charset="0"/>
                <a:ea typeface="宋体" pitchFamily="2" charset="-122"/>
              </a:rPr>
              <a:t>的栈帧</a:t>
            </a:r>
          </a:p>
        </p:txBody>
      </p:sp>
      <p:sp>
        <p:nvSpPr>
          <p:cNvPr id="8" name="Text Box 36"/>
          <p:cNvSpPr txBox="1">
            <a:spLocks noChangeArrowheads="1"/>
          </p:cNvSpPr>
          <p:nvPr/>
        </p:nvSpPr>
        <p:spPr bwMode="auto">
          <a:xfrm>
            <a:off x="2967819" y="4187472"/>
            <a:ext cx="41136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     list[0]  list[1]  list[2]</a:t>
            </a: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3189331" y="5703499"/>
            <a:ext cx="40767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  info[0] info[1] info[2]</a:t>
            </a:r>
          </a:p>
        </p:txBody>
      </p:sp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7799488" y="2840195"/>
            <a:ext cx="70884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list</a:t>
            </a:r>
          </a:p>
        </p:txBody>
      </p:sp>
      <p:sp>
        <p:nvSpPr>
          <p:cNvPr id="11" name="Rectangle 53"/>
          <p:cNvSpPr>
            <a:spLocks noChangeArrowheads="1"/>
          </p:cNvSpPr>
          <p:nvPr/>
        </p:nvSpPr>
        <p:spPr bwMode="auto">
          <a:xfrm>
            <a:off x="6885088" y="2021074"/>
            <a:ext cx="2362200" cy="1752600"/>
          </a:xfrm>
          <a:prstGeom prst="rect">
            <a:avLst/>
          </a:prstGeom>
          <a:solidFill>
            <a:schemeClr val="hlink">
              <a:alpha val="10196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12" name="Text Box 54"/>
          <p:cNvSpPr txBox="1">
            <a:spLocks noChangeArrowheads="1"/>
          </p:cNvSpPr>
          <p:nvPr/>
        </p:nvSpPr>
        <p:spPr bwMode="auto">
          <a:xfrm>
            <a:off x="6885088" y="3373573"/>
            <a:ext cx="2339743" cy="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sz="1800" b="1">
                <a:latin typeface="Times New Roman" pitchFamily="18" charset="0"/>
                <a:ea typeface="宋体" pitchFamily="2" charset="-122"/>
              </a:rPr>
              <a:t>DayDreaming</a:t>
            </a:r>
            <a:r>
              <a:rPr lang="zh-CN" altLang="en-US" b="1">
                <a:latin typeface="Times New Roman" pitchFamily="18" charset="0"/>
                <a:ea typeface="宋体" pitchFamily="2" charset="-122"/>
              </a:rPr>
              <a:t>的栈帧</a:t>
            </a:r>
          </a:p>
        </p:txBody>
      </p:sp>
      <p:sp>
        <p:nvSpPr>
          <p:cNvPr id="13" name="矩形 1"/>
          <p:cNvSpPr>
            <a:spLocks noChangeArrowheads="1"/>
          </p:cNvSpPr>
          <p:nvPr/>
        </p:nvSpPr>
        <p:spPr bwMode="auto">
          <a:xfrm>
            <a:off x="7494688" y="2331632"/>
            <a:ext cx="1143000" cy="53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49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2389288" y="2331632"/>
            <a:ext cx="1143000" cy="53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49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15" name="Text Box 40"/>
          <p:cNvSpPr txBox="1">
            <a:spLocks noChangeArrowheads="1"/>
          </p:cNvSpPr>
          <p:nvPr/>
        </p:nvSpPr>
        <p:spPr bwMode="auto">
          <a:xfrm>
            <a:off x="2588543" y="2807899"/>
            <a:ext cx="8675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info</a:t>
            </a:r>
          </a:p>
        </p:txBody>
      </p:sp>
      <p:sp>
        <p:nvSpPr>
          <p:cNvPr id="16" name="Rectangle 53"/>
          <p:cNvSpPr>
            <a:spLocks noChangeArrowheads="1"/>
          </p:cNvSpPr>
          <p:nvPr/>
        </p:nvSpPr>
        <p:spPr bwMode="auto">
          <a:xfrm>
            <a:off x="1855888" y="2021074"/>
            <a:ext cx="2362200" cy="1752600"/>
          </a:xfrm>
          <a:prstGeom prst="rect">
            <a:avLst/>
          </a:prstGeom>
          <a:solidFill>
            <a:schemeClr val="hlink">
              <a:alpha val="10196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17" name="弧形 16"/>
          <p:cNvSpPr/>
          <p:nvPr/>
        </p:nvSpPr>
        <p:spPr bwMode="auto">
          <a:xfrm rot="-5400000">
            <a:off x="1354868" y="3120254"/>
            <a:ext cx="3961140" cy="1155700"/>
          </a:xfrm>
          <a:prstGeom prst="arc">
            <a:avLst>
              <a:gd name="adj1" fmla="val 10750000"/>
              <a:gd name="adj2" fmla="val 20204559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stealth" w="lg" len="lg"/>
            <a:tailEnd type="none" w="sm" len="sm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 bwMode="auto">
          <a:xfrm rot="180000" flipH="1">
            <a:off x="3475166" y="2605411"/>
            <a:ext cx="4140000" cy="2286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50343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子列表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907" y="1388156"/>
            <a:ext cx="7420356" cy="37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20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子列表的创建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01280" y="1293263"/>
            <a:ext cx="9860422" cy="4526423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用下标区间截取部分元素构成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cs typeface="Times New Roman" pitchFamily="18" charset="0"/>
              </a:rPr>
              <a:t>假设列表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的长度为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>
                <a:cs typeface="Times New Roman" pitchFamily="18" charset="0"/>
              </a:rPr>
              <a:t>，即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len(L) = N</a:t>
            </a:r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L[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表示由元素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L[m+1]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L[m+2]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L[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构成的子列表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若省略，默认值为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；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若省略，默认值为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，若两者都省略，则表示整个列表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148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子列表举例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47584"/>
              </p:ext>
            </p:extLst>
          </p:nvPr>
        </p:nvGraphicFramePr>
        <p:xfrm>
          <a:off x="1991883" y="2360674"/>
          <a:ext cx="7315199" cy="762000"/>
        </p:xfrm>
        <a:graphic>
          <a:graphicData uri="http://schemas.openxmlformats.org/drawingml/2006/table">
            <a:tbl>
              <a:tblPr/>
              <a:tblGrid>
                <a:gridCol w="122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6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'a'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'b'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'c'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'd'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'e'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4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'f'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25283" y="3259834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0    1     2     3    4     5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15683" y="1394899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L = ['a','b','c','d','e','f']</a:t>
            </a:r>
            <a:endParaRPr lang="zh-CN" altLang="en-US" sz="3600"/>
          </a:p>
        </p:txBody>
      </p:sp>
      <p:sp>
        <p:nvSpPr>
          <p:cNvPr id="8" name="矩形 7"/>
          <p:cNvSpPr/>
          <p:nvPr/>
        </p:nvSpPr>
        <p:spPr>
          <a:xfrm>
            <a:off x="1991883" y="4189474"/>
            <a:ext cx="77723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b="1" kern="0">
                <a:latin typeface="楷体" pitchFamily="49" charset="-122"/>
                <a:ea typeface="楷体" pitchFamily="49" charset="-122"/>
              </a:rPr>
              <a:t>请问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L[3:6]</a:t>
            </a:r>
            <a:r>
              <a:rPr lang="zh-CN" altLang="en-US" sz="3600" b="1" kern="0">
                <a:latin typeface="Courier New" pitchFamily="49" charset="0"/>
                <a:ea typeface="楷体" pitchFamily="49" charset="-122"/>
                <a:cs typeface="Courier New" pitchFamily="49" charset="0"/>
              </a:rPr>
              <a:t>、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L[:4]</a:t>
            </a:r>
            <a:r>
              <a:rPr lang="zh-CN" altLang="en-US" sz="3600" b="1" kern="0">
                <a:latin typeface="Courier New" pitchFamily="49" charset="0"/>
                <a:ea typeface="楷体" pitchFamily="49" charset="-122"/>
                <a:cs typeface="Courier New" pitchFamily="49" charset="0"/>
              </a:rPr>
              <a:t>、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楷体" pitchFamily="49" charset="-122"/>
                <a:cs typeface="Courier New" pitchFamily="49" charset="0"/>
              </a:rPr>
              <a:t>L[3:]</a:t>
            </a:r>
            <a:r>
              <a:rPr lang="zh-CN" altLang="en-US" sz="3600" b="1" kern="0">
                <a:latin typeface="楷体" pitchFamily="49" charset="-122"/>
                <a:ea typeface="楷体" pitchFamily="49" charset="-122"/>
              </a:rPr>
              <a:t>的结果分别是什么？</a:t>
            </a:r>
            <a:endParaRPr lang="zh-CN" altLang="en-US" sz="360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54338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例题：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LRU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页面置换算法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215247" y="1352654"/>
            <a:ext cx="946700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问题背景：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	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现代操作系统普遍采用虚拟页式存储管理技术，一个程序只装入部分页面即可运行。在运行过程中，如果发现要访问的页面不在内存，则发出缺页中断请求，由系统将相应页面调入内存。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	页面置换：当缺页中断发生，需要调入新的页面</a:t>
            </a:r>
            <a:r>
              <a:rPr kumimoji="1" lang="zh-CN" altLang="en-US" sz="2800" b="1">
                <a:ea typeface="宋体" pitchFamily="2" charset="-122"/>
              </a:rPr>
              <a:t>，但系统分配给进程的物理页面个数是有限的，因此当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内存已满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时，选择内存中哪个物理页面的内容被置换。</a:t>
            </a:r>
          </a:p>
        </p:txBody>
      </p:sp>
    </p:spTree>
    <p:extLst>
      <p:ext uri="{BB962C8B-B14F-4D97-AF65-F5344CB8AC3E}">
        <p14:creationId xmlns:p14="http://schemas.microsoft.com/office/powerpoint/2010/main" val="175577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模拟问题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140" y="977770"/>
            <a:ext cx="2667000" cy="4654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994" y="1739770"/>
            <a:ext cx="3193710" cy="295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000" y="2273170"/>
            <a:ext cx="3048000" cy="17602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11800" y="28167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1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1998" y="30453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2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6398" y="29589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3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400" y="28827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4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50000" y="25881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5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8798" y="251195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6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9000" y="24255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7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8600" y="227317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宋体" pitchFamily="2" charset="-122"/>
                <a:ea typeface="宋体" pitchFamily="2" charset="-122"/>
              </a:rPr>
              <a:t>8</a:t>
            </a:r>
            <a:endParaRPr lang="zh-CN" altLang="en-US" sz="28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76022" y="5016370"/>
            <a:ext cx="4903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1, 2, 3, 4, 1, 2, 5, 1, 2, 3, 4, 5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985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问题描述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71824" y="1006267"/>
            <a:ext cx="1055735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2000" b="1">
                <a:ea typeface="宋体" pitchFamily="2" charset="-122"/>
              </a:rPr>
              <a:t>一位考古科学家新发掘了一批恐龙蛋化石，假设有</a:t>
            </a:r>
            <a:r>
              <a:rPr kumimoji="1" lang="en-US" altLang="zh-CN" sz="2000" b="1">
                <a:ea typeface="宋体" pitchFamily="2" charset="-122"/>
              </a:rPr>
              <a:t>N</a:t>
            </a:r>
            <a:r>
              <a:rPr kumimoji="1" lang="zh-CN" altLang="en-US" sz="2000" b="1">
                <a:ea typeface="宋体" pitchFamily="2" charset="-122"/>
              </a:rPr>
              <a:t>个，编号分别为</a:t>
            </a:r>
            <a:r>
              <a:rPr kumimoji="1" lang="en-US" altLang="zh-CN" sz="2000" b="1">
                <a:ea typeface="宋体" pitchFamily="2" charset="-122"/>
              </a:rPr>
              <a:t>1</a:t>
            </a:r>
            <a:r>
              <a:rPr kumimoji="1" lang="zh-CN" altLang="en-US" sz="2000" b="1">
                <a:ea typeface="宋体" pitchFamily="2" charset="-122"/>
              </a:rPr>
              <a:t>～</a:t>
            </a:r>
            <a:r>
              <a:rPr kumimoji="1" lang="en-US" altLang="zh-CN" sz="2000" b="1">
                <a:ea typeface="宋体" pitchFamily="2" charset="-122"/>
              </a:rPr>
              <a:t>N</a:t>
            </a:r>
            <a:r>
              <a:rPr kumimoji="1" lang="zh-CN" altLang="en-US" sz="2000" b="1">
                <a:ea typeface="宋体" pitchFamily="2" charset="-122"/>
              </a:rPr>
              <a:t>，然后打算对它们进行研究。在科学家的实验室里，有两间房间，一间是他的办公室，一间是储物间。开始时所有的恐龙蛋化石都摆放在储物间，然后需要用到哪一个的时候，就把它拿到办公室来。在科学家的办公室有一张办公桌，桌上有</a:t>
            </a:r>
            <a:r>
              <a:rPr kumimoji="1" lang="en-US" altLang="zh-CN" sz="2000" b="1">
                <a:ea typeface="宋体" pitchFamily="2" charset="-122"/>
              </a:rPr>
              <a:t>M</a:t>
            </a:r>
            <a:r>
              <a:rPr kumimoji="1" lang="zh-CN" altLang="en-US" sz="2000" b="1">
                <a:ea typeface="宋体" pitchFamily="2" charset="-122"/>
              </a:rPr>
              <a:t>个盘子，如</a:t>
            </a:r>
            <a:r>
              <a:rPr kumimoji="1" lang="en-US" altLang="zh-CN" sz="2000" b="1">
                <a:ea typeface="宋体" pitchFamily="2" charset="-122"/>
              </a:rPr>
              <a:t>4</a:t>
            </a:r>
            <a:r>
              <a:rPr kumimoji="1" lang="zh-CN" altLang="en-US" sz="2000" b="1">
                <a:ea typeface="宋体" pitchFamily="2" charset="-122"/>
              </a:rPr>
              <a:t>个盘子，每个盘子只能摆放一个恐龙蛋化石。科学家在进行研究时，时而要研究这个，时而要研究那个，因而有一个编号序列，如</a:t>
            </a:r>
            <a:r>
              <a:rPr kumimoji="1" lang="en-US" altLang="zh-CN" sz="2000" b="1">
                <a:ea typeface="宋体" pitchFamily="2" charset="-122"/>
              </a:rPr>
              <a:t>1 2 5</a:t>
            </a:r>
            <a:r>
              <a:rPr kumimoji="1" lang="zh-CN" altLang="en-US" sz="2000" b="1">
                <a:ea typeface="宋体" pitchFamily="2" charset="-122"/>
              </a:rPr>
              <a:t>，就是先研究</a:t>
            </a:r>
            <a:r>
              <a:rPr kumimoji="1" lang="en-US" altLang="zh-CN" sz="2000" b="1">
                <a:ea typeface="宋体" pitchFamily="2" charset="-122"/>
              </a:rPr>
              <a:t>1</a:t>
            </a:r>
            <a:r>
              <a:rPr kumimoji="1" lang="zh-CN" altLang="en-US" sz="2000" b="1">
                <a:ea typeface="宋体" pitchFamily="2" charset="-122"/>
              </a:rPr>
              <a:t>号化石，再研究</a:t>
            </a:r>
            <a:r>
              <a:rPr kumimoji="1" lang="en-US" altLang="zh-CN" sz="2000" b="1">
                <a:ea typeface="宋体" pitchFamily="2" charset="-122"/>
              </a:rPr>
              <a:t>2</a:t>
            </a:r>
            <a:r>
              <a:rPr kumimoji="1" lang="zh-CN" altLang="en-US" sz="2000" b="1">
                <a:ea typeface="宋体" pitchFamily="2" charset="-122"/>
              </a:rPr>
              <a:t>号，再研究</a:t>
            </a:r>
            <a:r>
              <a:rPr kumimoji="1" lang="en-US" altLang="zh-CN" sz="2000" b="1">
                <a:ea typeface="宋体" pitchFamily="2" charset="-122"/>
              </a:rPr>
              <a:t>5</a:t>
            </a:r>
            <a:r>
              <a:rPr kumimoji="1" lang="zh-CN" altLang="en-US" sz="2000" b="1">
                <a:ea typeface="宋体" pitchFamily="2" charset="-122"/>
              </a:rPr>
              <a:t>号。如果科学家需要研究某一个化石的时候，该化石正好就在办公桌的某个盘子里，那么就直接研究即可；如果该化石不在办公桌上，我们称这种情形为“缺蛋”，这时就需要站起身，去一趟隔壁的储物间，把想要的化石拿过来。但这么做有一个前提，就是办公桌上必须有空盘子，如果有空盘子，就可以把取来的化石放在某个空盘子里；而如果没有空盘子，就必须先把某一个盘子中的化石放回到储物间，从而腾出空间，然后才能把新的化石放进去。但问题是，桌子上有</a:t>
            </a:r>
            <a:r>
              <a:rPr kumimoji="1" lang="en-US" altLang="zh-CN" sz="2000" b="1">
                <a:ea typeface="宋体" pitchFamily="2" charset="-122"/>
              </a:rPr>
              <a:t>M</a:t>
            </a:r>
            <a:r>
              <a:rPr kumimoji="1" lang="zh-CN" altLang="en-US" sz="2000" b="1">
                <a:ea typeface="宋体" pitchFamily="2" charset="-122"/>
              </a:rPr>
              <a:t>个盘子，那么选择哪一个盘子中的化石，把它放回去（我们称为淘汰），这是需要仔细考量的。如果放回去的化石，过一会儿又要用到，那么就又得跑一趟储物间，这就浪费时间了。因此，一个朴素的想法就是哪一个化石将来不会再用上，就把该化石拿走。但问题是，科学家自己也不知道将来会用到哪一个化石，换言之，他在做研究的时候是天马行空，想到哪儿是哪儿，因此他只知道自己当前需要用到哪一个化石，而将来的情形则不知道。在这种情形下，如何来做出比较好的淘汰决策呢？</a:t>
            </a:r>
            <a:endParaRPr kumimoji="1" lang="zh-CN" altLang="en-US" sz="20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9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问题描述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3456" y="1006265"/>
            <a:ext cx="1054026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None/>
            </a:pPr>
            <a:r>
              <a:rPr kumimoji="1" lang="zh-CN" altLang="en-US" sz="2000" b="1" dirty="0">
                <a:ea typeface="宋体" pitchFamily="2" charset="-122"/>
              </a:rPr>
              <a:t>为了减少“缺蛋”的次数，他向一位计算机科学家寻求帮助，计算机科学家向他推荐了</a:t>
            </a:r>
            <a:r>
              <a:rPr kumimoji="1" lang="en-US" altLang="zh-CN" sz="2000" b="1" dirty="0">
                <a:solidFill>
                  <a:srgbClr val="0000FF"/>
                </a:solidFill>
                <a:ea typeface="宋体" pitchFamily="2" charset="-122"/>
              </a:rPr>
              <a:t>LRU</a:t>
            </a:r>
            <a:r>
              <a:rPr kumimoji="1" lang="zh-CN" altLang="en-US" sz="2000" b="1" dirty="0">
                <a:solidFill>
                  <a:srgbClr val="0000FF"/>
                </a:solidFill>
                <a:ea typeface="宋体" pitchFamily="2" charset="-122"/>
              </a:rPr>
              <a:t>（</a:t>
            </a:r>
            <a:r>
              <a:rPr kumimoji="1" lang="en-US" altLang="zh-CN" sz="2000" b="1" dirty="0">
                <a:solidFill>
                  <a:srgbClr val="0000FF"/>
                </a:solidFill>
                <a:ea typeface="宋体" pitchFamily="2" charset="-122"/>
              </a:rPr>
              <a:t>Least Recently Used</a:t>
            </a:r>
            <a:r>
              <a:rPr kumimoji="1" lang="zh-CN" altLang="en-US" sz="2000" b="1" dirty="0">
                <a:solidFill>
                  <a:srgbClr val="0000FF"/>
                </a:solidFill>
                <a:ea typeface="宋体" pitchFamily="2" charset="-122"/>
              </a:rPr>
              <a:t>）算法</a:t>
            </a:r>
            <a:r>
              <a:rPr kumimoji="1" lang="zh-CN" altLang="en-US" sz="2000" b="1" dirty="0">
                <a:ea typeface="宋体" pitchFamily="2" charset="-122"/>
              </a:rPr>
              <a:t>。该算法的基本思路是，虽然将来的情形我们是不知道的，但是过去的情形是知道的，因此我们可以根据过去的情形来预期将来的情形。具体来说，如果在过去一段时间内，某个化石刚刚被用到，那么在将来一段时间内，它也很可能会再次被用到；反之，如果在过去一段时间内某个化石很久没有被用到，那么将来它也可能很久不会被用到。因此可以利用这个信息来进行淘汰。</a:t>
            </a:r>
            <a:endParaRPr kumimoji="1" lang="en-US" altLang="zh-CN" sz="2000" b="1" dirty="0">
              <a:ea typeface="宋体" pitchFamily="2" charset="-122"/>
            </a:endParaRPr>
          </a:p>
          <a:p>
            <a:pPr eaLnBrk="0" hangingPunct="0">
              <a:buNone/>
            </a:pPr>
            <a:endParaRPr kumimoji="1" lang="en-US" altLang="zh-CN" sz="2000" b="1" dirty="0">
              <a:solidFill>
                <a:schemeClr val="tx1"/>
              </a:solidFill>
              <a:ea typeface="宋体" pitchFamily="2" charset="-122"/>
            </a:endParaRPr>
          </a:p>
          <a:p>
            <a:pPr eaLnBrk="0" hangingPunct="0">
              <a:buNone/>
            </a:pPr>
            <a:r>
              <a:rPr kumimoji="1" lang="zh-CN" altLang="en-US" sz="2000" b="1" dirty="0">
                <a:ea typeface="宋体" pitchFamily="2" charset="-122"/>
              </a:rPr>
              <a:t>举个例子，假设科学家研究的编号序列为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5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5</a:t>
            </a:r>
            <a:r>
              <a:rPr kumimoji="1" lang="zh-CN" altLang="en-US" sz="2000" b="1" dirty="0">
                <a:ea typeface="宋体" pitchFamily="2" charset="-122"/>
              </a:rPr>
              <a:t>（这个编号序列是事后统计出的），盘子的个数为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，初始为空，那么采用</a:t>
            </a:r>
            <a:r>
              <a:rPr kumimoji="1" lang="en-US" altLang="zh-CN" sz="2000" b="1" dirty="0">
                <a:ea typeface="宋体" pitchFamily="2" charset="-122"/>
              </a:rPr>
              <a:t>LRU</a:t>
            </a:r>
            <a:r>
              <a:rPr kumimoji="1" lang="zh-CN" altLang="en-US" sz="2000" b="1" dirty="0">
                <a:ea typeface="宋体" pitchFamily="2" charset="-122"/>
              </a:rPr>
              <a:t>算法，总共会“缺蛋”</a:t>
            </a:r>
            <a:r>
              <a:rPr kumimoji="1" lang="en-US" altLang="zh-CN" sz="2000" b="1" dirty="0">
                <a:ea typeface="宋体" pitchFamily="2" charset="-122"/>
              </a:rPr>
              <a:t>8</a:t>
            </a:r>
            <a:r>
              <a:rPr kumimoji="1" lang="zh-CN" altLang="en-US" sz="2000" b="1" dirty="0">
                <a:ea typeface="宋体" pitchFamily="2" charset="-122"/>
              </a:rPr>
              <a:t>次。即在访问最前面的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和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时，都会“缺蛋”，需要去一趟储物间。但此时由于有空闲的盘子，所以取来化石后都能直接摆进去，不需要淘汰某个化石。然后在访问接下来的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和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时，由于这两个化石已经在盘中，所以不会“缺蛋”。接下来在访问</a:t>
            </a:r>
            <a:r>
              <a:rPr kumimoji="1" lang="en-US" altLang="zh-CN" sz="2000" b="1" dirty="0">
                <a:ea typeface="宋体" pitchFamily="2" charset="-122"/>
              </a:rPr>
              <a:t>5</a:t>
            </a:r>
            <a:r>
              <a:rPr kumimoji="1" lang="zh-CN" altLang="en-US" sz="2000" b="1" dirty="0">
                <a:ea typeface="宋体" pitchFamily="2" charset="-122"/>
              </a:rPr>
              <a:t>号化石时，此时它不在办公桌上，然后桌上也没有空盘子了（分别装了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和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号化石），所以先要选择某个化石淘汰，根据</a:t>
            </a:r>
            <a:r>
              <a:rPr kumimoji="1" lang="en-US" altLang="zh-CN" sz="2000" b="1" dirty="0">
                <a:ea typeface="宋体" pitchFamily="2" charset="-122"/>
              </a:rPr>
              <a:t>LRU</a:t>
            </a:r>
            <a:r>
              <a:rPr kumimoji="1" lang="zh-CN" altLang="en-US" sz="2000" b="1" dirty="0">
                <a:ea typeface="宋体" pitchFamily="2" charset="-122"/>
              </a:rPr>
              <a:t>算法，在当前时刻，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号是最近刚访问过的，所以要保留，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号和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号其次，而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号是最久以前访问过的，所以就淘汰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号化石，把它放回到隔壁的储物间，然后把</a:t>
            </a:r>
            <a:r>
              <a:rPr kumimoji="1" lang="en-US" altLang="zh-CN" sz="2000" b="1" dirty="0">
                <a:ea typeface="宋体" pitchFamily="2" charset="-122"/>
              </a:rPr>
              <a:t>5</a:t>
            </a:r>
            <a:r>
              <a:rPr kumimoji="1" lang="zh-CN" altLang="en-US" sz="2000" b="1" dirty="0">
                <a:ea typeface="宋体" pitchFamily="2" charset="-122"/>
              </a:rPr>
              <a:t>号化石放到桌上的空盘里。后面是类似的，接下来的</a:t>
            </a:r>
            <a:r>
              <a:rPr kumimoji="1" lang="en-US" altLang="zh-CN" sz="2000" b="1" dirty="0">
                <a:ea typeface="宋体" pitchFamily="2" charset="-122"/>
              </a:rPr>
              <a:t>1</a:t>
            </a:r>
            <a:r>
              <a:rPr kumimoji="1" lang="zh-CN" altLang="en-US" sz="2000" b="1" dirty="0">
                <a:ea typeface="宋体" pitchFamily="2" charset="-122"/>
              </a:rPr>
              <a:t>和</a:t>
            </a:r>
            <a:r>
              <a:rPr kumimoji="1" lang="en-US" altLang="zh-CN" sz="2000" b="1" dirty="0">
                <a:ea typeface="宋体" pitchFamily="2" charset="-122"/>
              </a:rPr>
              <a:t>2</a:t>
            </a:r>
            <a:r>
              <a:rPr kumimoji="1" lang="zh-CN" altLang="en-US" sz="2000" b="1" dirty="0">
                <a:ea typeface="宋体" pitchFamily="2" charset="-122"/>
              </a:rPr>
              <a:t>不会“缺蛋”，而最后的</a:t>
            </a:r>
            <a:r>
              <a:rPr kumimoji="1" lang="en-US" altLang="zh-CN" sz="2000" b="1" dirty="0">
                <a:ea typeface="宋体" pitchFamily="2" charset="-122"/>
              </a:rPr>
              <a:t>3</a:t>
            </a:r>
            <a:r>
              <a:rPr kumimoji="1" lang="zh-CN" altLang="en-US" sz="2000" b="1" dirty="0">
                <a:ea typeface="宋体" pitchFamily="2" charset="-122"/>
              </a:rPr>
              <a:t>、</a:t>
            </a:r>
            <a:r>
              <a:rPr kumimoji="1" lang="en-US" altLang="zh-CN" sz="2000" b="1" dirty="0">
                <a:ea typeface="宋体" pitchFamily="2" charset="-122"/>
              </a:rPr>
              <a:t>4</a:t>
            </a:r>
            <a:r>
              <a:rPr kumimoji="1" lang="zh-CN" altLang="en-US" sz="2000" b="1" dirty="0">
                <a:ea typeface="宋体" pitchFamily="2" charset="-122"/>
              </a:rPr>
              <a:t>和</a:t>
            </a:r>
            <a:r>
              <a:rPr kumimoji="1" lang="en-US" altLang="zh-CN" sz="2000" b="1" dirty="0">
                <a:ea typeface="宋体" pitchFamily="2" charset="-122"/>
              </a:rPr>
              <a:t>5</a:t>
            </a:r>
            <a:r>
              <a:rPr kumimoji="1" lang="zh-CN" altLang="en-US" sz="2000" b="1" dirty="0">
                <a:ea typeface="宋体" pitchFamily="2" charset="-122"/>
              </a:rPr>
              <a:t>都会“缺蛋”，所以总共“缺蛋”</a:t>
            </a:r>
            <a:r>
              <a:rPr kumimoji="1" lang="en-US" altLang="zh-CN" sz="2000" b="1" dirty="0">
                <a:ea typeface="宋体" pitchFamily="2" charset="-122"/>
              </a:rPr>
              <a:t>8</a:t>
            </a:r>
            <a:r>
              <a:rPr kumimoji="1" lang="zh-CN" altLang="en-US" sz="2000" b="1" dirty="0">
                <a:ea typeface="宋体" pitchFamily="2" charset="-122"/>
              </a:rPr>
              <a:t>次。</a:t>
            </a:r>
            <a:endParaRPr kumimoji="1" lang="zh-CN" altLang="en-US" sz="2000" b="1" dirty="0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521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问题描述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14849" y="1547501"/>
            <a:ext cx="958103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800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【</a:t>
            </a:r>
            <a:r>
              <a:rPr kumimoji="1" lang="zh-CN" altLang="en-US" sz="3200" b="1">
                <a:ea typeface="宋体" pitchFamily="2" charset="-122"/>
              </a:rPr>
              <a:t>程序输入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】</a:t>
            </a:r>
          </a:p>
          <a:p>
            <a:pPr defTabSz="850900">
              <a:spcBef>
                <a:spcPts val="18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ea typeface="宋体" pitchFamily="2" charset="-122"/>
              </a:rPr>
              <a:t>    输入有两行，第一行是一个正整数</a:t>
            </a:r>
            <a:r>
              <a:rPr kumimoji="1" lang="en-US" altLang="zh-CN" sz="3200" b="1">
                <a:ea typeface="宋体" pitchFamily="2" charset="-122"/>
              </a:rPr>
              <a:t>M</a:t>
            </a:r>
            <a:r>
              <a:rPr kumimoji="1" lang="zh-CN" altLang="en-US" sz="3200" b="1">
                <a:ea typeface="宋体" pitchFamily="2" charset="-122"/>
              </a:rPr>
              <a:t>，表示盘子的个数。第二行是一个编号序列。</a:t>
            </a:r>
          </a:p>
          <a:p>
            <a:pPr defTabSz="850900">
              <a:spcBef>
                <a:spcPts val="36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【</a:t>
            </a:r>
            <a:r>
              <a:rPr kumimoji="1" lang="zh-CN" altLang="en-US" sz="3200" b="1">
                <a:ea typeface="宋体" pitchFamily="2" charset="-122"/>
              </a:rPr>
              <a:t>程序输出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】</a:t>
            </a:r>
          </a:p>
          <a:p>
            <a:pPr defTabSz="850900">
              <a:spcBef>
                <a:spcPts val="18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ea typeface="宋体" pitchFamily="2" charset="-122"/>
              </a:rPr>
              <a:t>输出一个正整数，表示“缺蛋”的次数。</a:t>
            </a:r>
            <a:endParaRPr kumimoji="1" lang="zh-CN" altLang="en-US" sz="32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93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算法实现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84259" y="1752600"/>
            <a:ext cx="966635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850900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ea typeface="宋体" pitchFamily="2" charset="-122"/>
              </a:rPr>
              <a:t>由于分配了</a:t>
            </a:r>
            <a:r>
              <a:rPr kumimoji="1" lang="en-US" altLang="zh-CN" sz="3200" b="1">
                <a:ea typeface="宋体" pitchFamily="2" charset="-122"/>
              </a:rPr>
              <a:t>M</a:t>
            </a:r>
            <a:r>
              <a:rPr kumimoji="1" lang="zh-CN" altLang="en-US" sz="3200" b="1">
                <a:ea typeface="宋体" pitchFamily="2" charset="-122"/>
              </a:rPr>
              <a:t>个盘子，那么需要知道在当前时刻，在这些盘子中存放的是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哪</a:t>
            </a:r>
            <a:r>
              <a:rPr kumimoji="1" lang="en-US" altLang="zh-CN" sz="3200" b="1">
                <a:solidFill>
                  <a:srgbClr val="0000FF"/>
                </a:solidFill>
                <a:ea typeface="宋体" pitchFamily="2" charset="-122"/>
              </a:rPr>
              <a:t>M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kumimoji="1" lang="zh-CN" altLang="en-US" sz="3200" b="1">
                <a:ea typeface="宋体" pitchFamily="2" charset="-122"/>
              </a:rPr>
              <a:t>化石，以及它们被访问的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先后顺序</a:t>
            </a:r>
            <a:r>
              <a:rPr kumimoji="1" lang="zh-CN" altLang="en-US" sz="3200" b="1">
                <a:ea typeface="宋体" pitchFamily="2" charset="-122"/>
              </a:rPr>
              <a:t>。</a:t>
            </a:r>
            <a:endParaRPr kumimoji="1" lang="zh-CN" altLang="en-US" sz="3200" b="1">
              <a:solidFill>
                <a:schemeClr val="tx1"/>
              </a:solidFill>
              <a:ea typeface="宋体" pitchFamily="2" charset="-122"/>
            </a:endParaRPr>
          </a:p>
          <a:p>
            <a:pPr marL="457200" indent="-457200" defTabSz="850900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思路：使用一个长度为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M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的列表，用来记录先后顺序</a:t>
            </a:r>
            <a:r>
              <a:rPr kumimoji="1" lang="zh-CN" altLang="en-US" sz="3200" b="1">
                <a:ea typeface="宋体" pitchFamily="2" charset="-122"/>
              </a:rPr>
              <a:t>，每次访问一个化石后，都要调整其顺序。</a:t>
            </a:r>
            <a:endParaRPr kumimoji="1" lang="zh-CN" altLang="en-US" sz="32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17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1 2 3 4 1 2 5 1 2 3 4 5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786725" y="1133740"/>
            <a:ext cx="828675" cy="2555876"/>
            <a:chOff x="318" y="676"/>
            <a:chExt cx="522" cy="1610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318" y="676"/>
              <a:ext cx="522" cy="1304"/>
              <a:chOff x="219" y="658"/>
              <a:chExt cx="522" cy="1304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219" y="163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219" y="131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219" y="98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219" y="65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19" y="65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219" y="98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219" y="131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219" y="163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219" y="196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>
                <a:off x="219" y="65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/>
            </p:nvSpPr>
            <p:spPr bwMode="auto">
              <a:xfrm>
                <a:off x="741" y="65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463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3245638" y="1133740"/>
            <a:ext cx="828675" cy="2555876"/>
            <a:chOff x="1237" y="676"/>
            <a:chExt cx="522" cy="1610"/>
          </a:xfrm>
        </p:grpSpPr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1237" y="676"/>
              <a:ext cx="522" cy="1304"/>
              <a:chOff x="1073" y="748"/>
              <a:chExt cx="522" cy="1304"/>
            </a:xfrm>
          </p:grpSpPr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107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107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24" name="Rectangle 22"/>
              <p:cNvSpPr>
                <a:spLocks noChangeArrowheads="1"/>
              </p:cNvSpPr>
              <p:nvPr/>
            </p:nvSpPr>
            <p:spPr bwMode="auto">
              <a:xfrm>
                <a:off x="107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25" name="Rectangle 23"/>
              <p:cNvSpPr>
                <a:spLocks noChangeArrowheads="1"/>
              </p:cNvSpPr>
              <p:nvPr/>
            </p:nvSpPr>
            <p:spPr bwMode="auto">
              <a:xfrm>
                <a:off x="107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>
                <a:off x="107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>
                <a:off x="107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26"/>
              <p:cNvSpPr>
                <a:spLocks noChangeShapeType="1"/>
              </p:cNvSpPr>
              <p:nvPr/>
            </p:nvSpPr>
            <p:spPr bwMode="auto">
              <a:xfrm>
                <a:off x="107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27"/>
              <p:cNvSpPr>
                <a:spLocks noChangeShapeType="1"/>
              </p:cNvSpPr>
              <p:nvPr/>
            </p:nvSpPr>
            <p:spPr bwMode="auto">
              <a:xfrm>
                <a:off x="107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8"/>
              <p:cNvSpPr>
                <a:spLocks noChangeShapeType="1"/>
              </p:cNvSpPr>
              <p:nvPr/>
            </p:nvSpPr>
            <p:spPr bwMode="auto">
              <a:xfrm>
                <a:off x="107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Line 29"/>
              <p:cNvSpPr>
                <a:spLocks noChangeShapeType="1"/>
              </p:cNvSpPr>
              <p:nvPr/>
            </p:nvSpPr>
            <p:spPr bwMode="auto">
              <a:xfrm>
                <a:off x="107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Line 30"/>
              <p:cNvSpPr>
                <a:spLocks noChangeShapeType="1"/>
              </p:cNvSpPr>
              <p:nvPr/>
            </p:nvSpPr>
            <p:spPr bwMode="auto">
              <a:xfrm>
                <a:off x="159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1379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34" name="Group 32"/>
          <p:cNvGrpSpPr>
            <a:grpSpLocks/>
          </p:cNvGrpSpPr>
          <p:nvPr/>
        </p:nvGrpSpPr>
        <p:grpSpPr bwMode="auto">
          <a:xfrm>
            <a:off x="4704550" y="1133740"/>
            <a:ext cx="828675" cy="2555876"/>
            <a:chOff x="2156" y="676"/>
            <a:chExt cx="522" cy="1610"/>
          </a:xfrm>
        </p:grpSpPr>
        <p:grpSp>
          <p:nvGrpSpPr>
            <p:cNvPr id="35" name="Group 33"/>
            <p:cNvGrpSpPr>
              <a:grpSpLocks/>
            </p:cNvGrpSpPr>
            <p:nvPr/>
          </p:nvGrpSpPr>
          <p:grpSpPr bwMode="auto">
            <a:xfrm>
              <a:off x="2156" y="676"/>
              <a:ext cx="522" cy="1304"/>
              <a:chOff x="1943" y="748"/>
              <a:chExt cx="522" cy="1304"/>
            </a:xfrm>
          </p:grpSpPr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194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18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endParaRPr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194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39" name="Rectangle 36"/>
              <p:cNvSpPr>
                <a:spLocks noChangeArrowheads="1"/>
              </p:cNvSpPr>
              <p:nvPr/>
            </p:nvSpPr>
            <p:spPr bwMode="auto">
              <a:xfrm>
                <a:off x="194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40" name="Rectangle 37"/>
              <p:cNvSpPr>
                <a:spLocks noChangeArrowheads="1"/>
              </p:cNvSpPr>
              <p:nvPr/>
            </p:nvSpPr>
            <p:spPr bwMode="auto">
              <a:xfrm>
                <a:off x="194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>
                <a:off x="194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194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194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" name="Line 41"/>
              <p:cNvSpPr>
                <a:spLocks noChangeShapeType="1"/>
              </p:cNvSpPr>
              <p:nvPr/>
            </p:nvSpPr>
            <p:spPr bwMode="auto">
              <a:xfrm>
                <a:off x="194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>
                <a:off x="194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194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" name="Line 44"/>
              <p:cNvSpPr>
                <a:spLocks noChangeShapeType="1"/>
              </p:cNvSpPr>
              <p:nvPr/>
            </p:nvSpPr>
            <p:spPr bwMode="auto">
              <a:xfrm>
                <a:off x="246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6" name="Rectangle 45"/>
            <p:cNvSpPr>
              <a:spLocks noChangeArrowheads="1"/>
            </p:cNvSpPr>
            <p:nvPr/>
          </p:nvSpPr>
          <p:spPr bwMode="auto">
            <a:xfrm>
              <a:off x="2301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48" name="Group 46"/>
          <p:cNvGrpSpPr>
            <a:grpSpLocks/>
          </p:cNvGrpSpPr>
          <p:nvPr/>
        </p:nvGrpSpPr>
        <p:grpSpPr bwMode="auto">
          <a:xfrm>
            <a:off x="6163463" y="1133740"/>
            <a:ext cx="828675" cy="2555876"/>
            <a:chOff x="3075" y="676"/>
            <a:chExt cx="522" cy="1610"/>
          </a:xfrm>
        </p:grpSpPr>
        <p:grpSp>
          <p:nvGrpSpPr>
            <p:cNvPr id="49" name="Group 47"/>
            <p:cNvGrpSpPr>
              <a:grpSpLocks/>
            </p:cNvGrpSpPr>
            <p:nvPr/>
          </p:nvGrpSpPr>
          <p:grpSpPr bwMode="auto">
            <a:xfrm>
              <a:off x="3075" y="676"/>
              <a:ext cx="522" cy="1304"/>
              <a:chOff x="2903" y="748"/>
              <a:chExt cx="522" cy="1304"/>
            </a:xfrm>
          </p:grpSpPr>
          <p:sp>
            <p:nvSpPr>
              <p:cNvPr id="51" name="Rectangle 48"/>
              <p:cNvSpPr>
                <a:spLocks noChangeArrowheads="1"/>
              </p:cNvSpPr>
              <p:nvPr/>
            </p:nvSpPr>
            <p:spPr bwMode="auto">
              <a:xfrm>
                <a:off x="290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52" name="Rectangle 49"/>
              <p:cNvSpPr>
                <a:spLocks noChangeArrowheads="1"/>
              </p:cNvSpPr>
              <p:nvPr/>
            </p:nvSpPr>
            <p:spPr bwMode="auto">
              <a:xfrm>
                <a:off x="290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53" name="Rectangle 50"/>
              <p:cNvSpPr>
                <a:spLocks noChangeArrowheads="1"/>
              </p:cNvSpPr>
              <p:nvPr/>
            </p:nvSpPr>
            <p:spPr bwMode="auto">
              <a:xfrm>
                <a:off x="290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54" name="Rectangle 51"/>
              <p:cNvSpPr>
                <a:spLocks noChangeArrowheads="1"/>
              </p:cNvSpPr>
              <p:nvPr/>
            </p:nvSpPr>
            <p:spPr bwMode="auto">
              <a:xfrm>
                <a:off x="290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>
                <a:off x="290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>
                <a:off x="290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>
                <a:off x="290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>
                <a:off x="290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56"/>
              <p:cNvSpPr>
                <a:spLocks noChangeShapeType="1"/>
              </p:cNvSpPr>
              <p:nvPr/>
            </p:nvSpPr>
            <p:spPr bwMode="auto">
              <a:xfrm>
                <a:off x="290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57"/>
              <p:cNvSpPr>
                <a:spLocks noChangeShapeType="1"/>
              </p:cNvSpPr>
              <p:nvPr/>
            </p:nvSpPr>
            <p:spPr bwMode="auto">
              <a:xfrm>
                <a:off x="290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1" name="Line 58"/>
              <p:cNvSpPr>
                <a:spLocks noChangeShapeType="1"/>
              </p:cNvSpPr>
              <p:nvPr/>
            </p:nvSpPr>
            <p:spPr bwMode="auto">
              <a:xfrm>
                <a:off x="342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0" name="Rectangle 59"/>
            <p:cNvSpPr>
              <a:spLocks noChangeArrowheads="1"/>
            </p:cNvSpPr>
            <p:nvPr/>
          </p:nvSpPr>
          <p:spPr bwMode="auto">
            <a:xfrm>
              <a:off x="3215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62" name="Group 60"/>
          <p:cNvGrpSpPr>
            <a:grpSpLocks/>
          </p:cNvGrpSpPr>
          <p:nvPr/>
        </p:nvGrpSpPr>
        <p:grpSpPr bwMode="auto">
          <a:xfrm>
            <a:off x="7622375" y="1133740"/>
            <a:ext cx="828675" cy="2555876"/>
            <a:chOff x="3994" y="676"/>
            <a:chExt cx="522" cy="1610"/>
          </a:xfrm>
        </p:grpSpPr>
        <p:grpSp>
          <p:nvGrpSpPr>
            <p:cNvPr id="63" name="Group 61"/>
            <p:cNvGrpSpPr>
              <a:grpSpLocks/>
            </p:cNvGrpSpPr>
            <p:nvPr/>
          </p:nvGrpSpPr>
          <p:grpSpPr bwMode="auto">
            <a:xfrm>
              <a:off x="3994" y="676"/>
              <a:ext cx="522" cy="1304"/>
              <a:chOff x="3871" y="748"/>
              <a:chExt cx="522" cy="1304"/>
            </a:xfrm>
          </p:grpSpPr>
          <p:sp>
            <p:nvSpPr>
              <p:cNvPr id="65" name="Rectangle 62"/>
              <p:cNvSpPr>
                <a:spLocks noChangeArrowheads="1"/>
              </p:cNvSpPr>
              <p:nvPr/>
            </p:nvSpPr>
            <p:spPr bwMode="auto">
              <a:xfrm>
                <a:off x="3871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66" name="Rectangle 63"/>
              <p:cNvSpPr>
                <a:spLocks noChangeArrowheads="1"/>
              </p:cNvSpPr>
              <p:nvPr/>
            </p:nvSpPr>
            <p:spPr bwMode="auto">
              <a:xfrm>
                <a:off x="3871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67" name="Rectangle 64"/>
              <p:cNvSpPr>
                <a:spLocks noChangeArrowheads="1"/>
              </p:cNvSpPr>
              <p:nvPr/>
            </p:nvSpPr>
            <p:spPr bwMode="auto">
              <a:xfrm>
                <a:off x="3871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68" name="Rectangle 65"/>
              <p:cNvSpPr>
                <a:spLocks noChangeArrowheads="1"/>
              </p:cNvSpPr>
              <p:nvPr/>
            </p:nvSpPr>
            <p:spPr bwMode="auto">
              <a:xfrm>
                <a:off x="3871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0000FF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69" name="Line 66"/>
              <p:cNvSpPr>
                <a:spLocks noChangeShapeType="1"/>
              </p:cNvSpPr>
              <p:nvPr/>
            </p:nvSpPr>
            <p:spPr bwMode="auto">
              <a:xfrm>
                <a:off x="3871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67"/>
              <p:cNvSpPr>
                <a:spLocks noChangeShapeType="1"/>
              </p:cNvSpPr>
              <p:nvPr/>
            </p:nvSpPr>
            <p:spPr bwMode="auto">
              <a:xfrm>
                <a:off x="3871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Line 68"/>
              <p:cNvSpPr>
                <a:spLocks noChangeShapeType="1"/>
              </p:cNvSpPr>
              <p:nvPr/>
            </p:nvSpPr>
            <p:spPr bwMode="auto">
              <a:xfrm>
                <a:off x="3871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69"/>
              <p:cNvSpPr>
                <a:spLocks noChangeShapeType="1"/>
              </p:cNvSpPr>
              <p:nvPr/>
            </p:nvSpPr>
            <p:spPr bwMode="auto">
              <a:xfrm>
                <a:off x="3871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" name="Line 70"/>
              <p:cNvSpPr>
                <a:spLocks noChangeShapeType="1"/>
              </p:cNvSpPr>
              <p:nvPr/>
            </p:nvSpPr>
            <p:spPr bwMode="auto">
              <a:xfrm>
                <a:off x="3871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71"/>
              <p:cNvSpPr>
                <a:spLocks noChangeShapeType="1"/>
              </p:cNvSpPr>
              <p:nvPr/>
            </p:nvSpPr>
            <p:spPr bwMode="auto">
              <a:xfrm>
                <a:off x="3871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Line 72"/>
              <p:cNvSpPr>
                <a:spLocks noChangeShapeType="1"/>
              </p:cNvSpPr>
              <p:nvPr/>
            </p:nvSpPr>
            <p:spPr bwMode="auto">
              <a:xfrm>
                <a:off x="439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4" name="Rectangle 73"/>
            <p:cNvSpPr>
              <a:spLocks noChangeArrowheads="1"/>
            </p:cNvSpPr>
            <p:nvPr/>
          </p:nvSpPr>
          <p:spPr bwMode="auto">
            <a:xfrm>
              <a:off x="4148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76" name="Group 74"/>
          <p:cNvGrpSpPr>
            <a:grpSpLocks/>
          </p:cNvGrpSpPr>
          <p:nvPr/>
        </p:nvGrpSpPr>
        <p:grpSpPr bwMode="auto">
          <a:xfrm>
            <a:off x="9081288" y="1133740"/>
            <a:ext cx="828675" cy="2555876"/>
            <a:chOff x="4913" y="676"/>
            <a:chExt cx="522" cy="1610"/>
          </a:xfrm>
        </p:grpSpPr>
        <p:grpSp>
          <p:nvGrpSpPr>
            <p:cNvPr id="77" name="Group 75"/>
            <p:cNvGrpSpPr>
              <a:grpSpLocks/>
            </p:cNvGrpSpPr>
            <p:nvPr/>
          </p:nvGrpSpPr>
          <p:grpSpPr bwMode="auto">
            <a:xfrm>
              <a:off x="4913" y="676"/>
              <a:ext cx="522" cy="1304"/>
              <a:chOff x="4814" y="748"/>
              <a:chExt cx="522" cy="1304"/>
            </a:xfrm>
          </p:grpSpPr>
          <p:sp>
            <p:nvSpPr>
              <p:cNvPr id="79" name="Rectangle 76"/>
              <p:cNvSpPr>
                <a:spLocks noChangeArrowheads="1"/>
              </p:cNvSpPr>
              <p:nvPr/>
            </p:nvSpPr>
            <p:spPr bwMode="auto">
              <a:xfrm>
                <a:off x="4814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80" name="Rectangle 77"/>
              <p:cNvSpPr>
                <a:spLocks noChangeArrowheads="1"/>
              </p:cNvSpPr>
              <p:nvPr/>
            </p:nvSpPr>
            <p:spPr bwMode="auto">
              <a:xfrm>
                <a:off x="4814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81" name="Rectangle 78"/>
              <p:cNvSpPr>
                <a:spLocks noChangeArrowheads="1"/>
              </p:cNvSpPr>
              <p:nvPr/>
            </p:nvSpPr>
            <p:spPr bwMode="auto">
              <a:xfrm>
                <a:off x="4814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82" name="Rectangle 79"/>
              <p:cNvSpPr>
                <a:spLocks noChangeArrowheads="1"/>
              </p:cNvSpPr>
              <p:nvPr/>
            </p:nvSpPr>
            <p:spPr bwMode="auto">
              <a:xfrm>
                <a:off x="4814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0000FF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83" name="Line 80"/>
              <p:cNvSpPr>
                <a:spLocks noChangeShapeType="1"/>
              </p:cNvSpPr>
              <p:nvPr/>
            </p:nvSpPr>
            <p:spPr bwMode="auto">
              <a:xfrm>
                <a:off x="4814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4" name="Line 81"/>
              <p:cNvSpPr>
                <a:spLocks noChangeShapeType="1"/>
              </p:cNvSpPr>
              <p:nvPr/>
            </p:nvSpPr>
            <p:spPr bwMode="auto">
              <a:xfrm>
                <a:off x="4814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5" name="Line 82"/>
              <p:cNvSpPr>
                <a:spLocks noChangeShapeType="1"/>
              </p:cNvSpPr>
              <p:nvPr/>
            </p:nvSpPr>
            <p:spPr bwMode="auto">
              <a:xfrm>
                <a:off x="4814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6" name="Line 83"/>
              <p:cNvSpPr>
                <a:spLocks noChangeShapeType="1"/>
              </p:cNvSpPr>
              <p:nvPr/>
            </p:nvSpPr>
            <p:spPr bwMode="auto">
              <a:xfrm>
                <a:off x="4814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" name="Line 84"/>
              <p:cNvSpPr>
                <a:spLocks noChangeShapeType="1"/>
              </p:cNvSpPr>
              <p:nvPr/>
            </p:nvSpPr>
            <p:spPr bwMode="auto">
              <a:xfrm>
                <a:off x="4814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Line 85"/>
              <p:cNvSpPr>
                <a:spLocks noChangeShapeType="1"/>
              </p:cNvSpPr>
              <p:nvPr/>
            </p:nvSpPr>
            <p:spPr bwMode="auto">
              <a:xfrm>
                <a:off x="4814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9" name="Line 86"/>
              <p:cNvSpPr>
                <a:spLocks noChangeShapeType="1"/>
              </p:cNvSpPr>
              <p:nvPr/>
            </p:nvSpPr>
            <p:spPr bwMode="auto">
              <a:xfrm>
                <a:off x="5336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8" name="Rectangle 87"/>
            <p:cNvSpPr>
              <a:spLocks noChangeArrowheads="1"/>
            </p:cNvSpPr>
            <p:nvPr/>
          </p:nvSpPr>
          <p:spPr bwMode="auto">
            <a:xfrm>
              <a:off x="5057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90" name="Group 88"/>
          <p:cNvGrpSpPr>
            <a:grpSpLocks/>
          </p:cNvGrpSpPr>
          <p:nvPr/>
        </p:nvGrpSpPr>
        <p:grpSpPr bwMode="auto">
          <a:xfrm>
            <a:off x="1796250" y="3929328"/>
            <a:ext cx="828675" cy="2555874"/>
            <a:chOff x="318" y="676"/>
            <a:chExt cx="522" cy="1610"/>
          </a:xfrm>
        </p:grpSpPr>
        <p:grpSp>
          <p:nvGrpSpPr>
            <p:cNvPr id="91" name="Group 89"/>
            <p:cNvGrpSpPr>
              <a:grpSpLocks/>
            </p:cNvGrpSpPr>
            <p:nvPr/>
          </p:nvGrpSpPr>
          <p:grpSpPr bwMode="auto">
            <a:xfrm>
              <a:off x="318" y="676"/>
              <a:ext cx="522" cy="1304"/>
              <a:chOff x="219" y="658"/>
              <a:chExt cx="522" cy="1304"/>
            </a:xfrm>
          </p:grpSpPr>
          <p:sp>
            <p:nvSpPr>
              <p:cNvPr id="93" name="Rectangle 90"/>
              <p:cNvSpPr>
                <a:spLocks noChangeArrowheads="1"/>
              </p:cNvSpPr>
              <p:nvPr/>
            </p:nvSpPr>
            <p:spPr bwMode="auto">
              <a:xfrm>
                <a:off x="219" y="163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94" name="Rectangle 91"/>
              <p:cNvSpPr>
                <a:spLocks noChangeArrowheads="1"/>
              </p:cNvSpPr>
              <p:nvPr/>
            </p:nvSpPr>
            <p:spPr bwMode="auto">
              <a:xfrm>
                <a:off x="219" y="131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95" name="Rectangle 92"/>
              <p:cNvSpPr>
                <a:spLocks noChangeArrowheads="1"/>
              </p:cNvSpPr>
              <p:nvPr/>
            </p:nvSpPr>
            <p:spPr bwMode="auto">
              <a:xfrm>
                <a:off x="219" y="98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96" name="Rectangle 93"/>
              <p:cNvSpPr>
                <a:spLocks noChangeArrowheads="1"/>
              </p:cNvSpPr>
              <p:nvPr/>
            </p:nvSpPr>
            <p:spPr bwMode="auto">
              <a:xfrm>
                <a:off x="219" y="65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97" name="Line 94"/>
              <p:cNvSpPr>
                <a:spLocks noChangeShapeType="1"/>
              </p:cNvSpPr>
              <p:nvPr/>
            </p:nvSpPr>
            <p:spPr bwMode="auto">
              <a:xfrm>
                <a:off x="219" y="65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8" name="Line 95"/>
              <p:cNvSpPr>
                <a:spLocks noChangeShapeType="1"/>
              </p:cNvSpPr>
              <p:nvPr/>
            </p:nvSpPr>
            <p:spPr bwMode="auto">
              <a:xfrm>
                <a:off x="219" y="98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9" name="Line 96"/>
              <p:cNvSpPr>
                <a:spLocks noChangeShapeType="1"/>
              </p:cNvSpPr>
              <p:nvPr/>
            </p:nvSpPr>
            <p:spPr bwMode="auto">
              <a:xfrm>
                <a:off x="219" y="131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0" name="Line 97"/>
              <p:cNvSpPr>
                <a:spLocks noChangeShapeType="1"/>
              </p:cNvSpPr>
              <p:nvPr/>
            </p:nvSpPr>
            <p:spPr bwMode="auto">
              <a:xfrm>
                <a:off x="219" y="163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1" name="Line 98"/>
              <p:cNvSpPr>
                <a:spLocks noChangeShapeType="1"/>
              </p:cNvSpPr>
              <p:nvPr/>
            </p:nvSpPr>
            <p:spPr bwMode="auto">
              <a:xfrm>
                <a:off x="219" y="196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2" name="Line 99"/>
              <p:cNvSpPr>
                <a:spLocks noChangeShapeType="1"/>
              </p:cNvSpPr>
              <p:nvPr/>
            </p:nvSpPr>
            <p:spPr bwMode="auto">
              <a:xfrm>
                <a:off x="219" y="65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" name="Line 100"/>
              <p:cNvSpPr>
                <a:spLocks noChangeShapeType="1"/>
              </p:cNvSpPr>
              <p:nvPr/>
            </p:nvSpPr>
            <p:spPr bwMode="auto">
              <a:xfrm>
                <a:off x="741" y="65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2" name="Rectangle 101"/>
            <p:cNvSpPr>
              <a:spLocks noChangeArrowheads="1"/>
            </p:cNvSpPr>
            <p:nvPr/>
          </p:nvSpPr>
          <p:spPr bwMode="auto">
            <a:xfrm>
              <a:off x="463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5</a:t>
              </a:r>
            </a:p>
          </p:txBody>
        </p:sp>
      </p:grpSp>
      <p:grpSp>
        <p:nvGrpSpPr>
          <p:cNvPr id="104" name="Group 102"/>
          <p:cNvGrpSpPr>
            <a:grpSpLocks/>
          </p:cNvGrpSpPr>
          <p:nvPr/>
        </p:nvGrpSpPr>
        <p:grpSpPr bwMode="auto">
          <a:xfrm>
            <a:off x="3255163" y="3929328"/>
            <a:ext cx="828675" cy="2555874"/>
            <a:chOff x="1237" y="676"/>
            <a:chExt cx="522" cy="1610"/>
          </a:xfrm>
        </p:grpSpPr>
        <p:grpSp>
          <p:nvGrpSpPr>
            <p:cNvPr id="105" name="Group 103"/>
            <p:cNvGrpSpPr>
              <a:grpSpLocks/>
            </p:cNvGrpSpPr>
            <p:nvPr/>
          </p:nvGrpSpPr>
          <p:grpSpPr bwMode="auto">
            <a:xfrm>
              <a:off x="1237" y="676"/>
              <a:ext cx="522" cy="1304"/>
              <a:chOff x="1073" y="748"/>
              <a:chExt cx="522" cy="1304"/>
            </a:xfrm>
          </p:grpSpPr>
          <p:sp>
            <p:nvSpPr>
              <p:cNvPr id="107" name="Rectangle 104"/>
              <p:cNvSpPr>
                <a:spLocks noChangeArrowheads="1"/>
              </p:cNvSpPr>
              <p:nvPr/>
            </p:nvSpPr>
            <p:spPr bwMode="auto">
              <a:xfrm>
                <a:off x="107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08" name="Rectangle 105"/>
              <p:cNvSpPr>
                <a:spLocks noChangeArrowheads="1"/>
              </p:cNvSpPr>
              <p:nvPr/>
            </p:nvSpPr>
            <p:spPr bwMode="auto">
              <a:xfrm>
                <a:off x="107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09" name="Rectangle 106"/>
              <p:cNvSpPr>
                <a:spLocks noChangeArrowheads="1"/>
              </p:cNvSpPr>
              <p:nvPr/>
            </p:nvSpPr>
            <p:spPr bwMode="auto">
              <a:xfrm>
                <a:off x="107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110" name="Rectangle 107"/>
              <p:cNvSpPr>
                <a:spLocks noChangeArrowheads="1"/>
              </p:cNvSpPr>
              <p:nvPr/>
            </p:nvSpPr>
            <p:spPr bwMode="auto">
              <a:xfrm>
                <a:off x="107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0000FF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11" name="Line 108"/>
              <p:cNvSpPr>
                <a:spLocks noChangeShapeType="1"/>
              </p:cNvSpPr>
              <p:nvPr/>
            </p:nvSpPr>
            <p:spPr bwMode="auto">
              <a:xfrm>
                <a:off x="107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" name="Line 109"/>
              <p:cNvSpPr>
                <a:spLocks noChangeShapeType="1"/>
              </p:cNvSpPr>
              <p:nvPr/>
            </p:nvSpPr>
            <p:spPr bwMode="auto">
              <a:xfrm>
                <a:off x="107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" name="Line 110"/>
              <p:cNvSpPr>
                <a:spLocks noChangeShapeType="1"/>
              </p:cNvSpPr>
              <p:nvPr/>
            </p:nvSpPr>
            <p:spPr bwMode="auto">
              <a:xfrm>
                <a:off x="107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4" name="Line 111"/>
              <p:cNvSpPr>
                <a:spLocks noChangeShapeType="1"/>
              </p:cNvSpPr>
              <p:nvPr/>
            </p:nvSpPr>
            <p:spPr bwMode="auto">
              <a:xfrm>
                <a:off x="107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5" name="Line 112"/>
              <p:cNvSpPr>
                <a:spLocks noChangeShapeType="1"/>
              </p:cNvSpPr>
              <p:nvPr/>
            </p:nvSpPr>
            <p:spPr bwMode="auto">
              <a:xfrm>
                <a:off x="107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6" name="Line 113"/>
              <p:cNvSpPr>
                <a:spLocks noChangeShapeType="1"/>
              </p:cNvSpPr>
              <p:nvPr/>
            </p:nvSpPr>
            <p:spPr bwMode="auto">
              <a:xfrm>
                <a:off x="107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7" name="Line 114"/>
              <p:cNvSpPr>
                <a:spLocks noChangeShapeType="1"/>
              </p:cNvSpPr>
              <p:nvPr/>
            </p:nvSpPr>
            <p:spPr bwMode="auto">
              <a:xfrm>
                <a:off x="159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6" name="Rectangle 115"/>
            <p:cNvSpPr>
              <a:spLocks noChangeArrowheads="1"/>
            </p:cNvSpPr>
            <p:nvPr/>
          </p:nvSpPr>
          <p:spPr bwMode="auto">
            <a:xfrm>
              <a:off x="1379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118" name="Group 116"/>
          <p:cNvGrpSpPr>
            <a:grpSpLocks/>
          </p:cNvGrpSpPr>
          <p:nvPr/>
        </p:nvGrpSpPr>
        <p:grpSpPr bwMode="auto">
          <a:xfrm>
            <a:off x="4714075" y="3929328"/>
            <a:ext cx="828675" cy="2555874"/>
            <a:chOff x="2156" y="676"/>
            <a:chExt cx="522" cy="1610"/>
          </a:xfrm>
        </p:grpSpPr>
        <p:grpSp>
          <p:nvGrpSpPr>
            <p:cNvPr id="119" name="Group 117"/>
            <p:cNvGrpSpPr>
              <a:grpSpLocks/>
            </p:cNvGrpSpPr>
            <p:nvPr/>
          </p:nvGrpSpPr>
          <p:grpSpPr bwMode="auto">
            <a:xfrm>
              <a:off x="2156" y="676"/>
              <a:ext cx="522" cy="1304"/>
              <a:chOff x="1943" y="748"/>
              <a:chExt cx="522" cy="1304"/>
            </a:xfrm>
          </p:grpSpPr>
          <p:sp>
            <p:nvSpPr>
              <p:cNvPr id="121" name="Rectangle 118"/>
              <p:cNvSpPr>
                <a:spLocks noChangeArrowheads="1"/>
              </p:cNvSpPr>
              <p:nvPr/>
            </p:nvSpPr>
            <p:spPr bwMode="auto">
              <a:xfrm>
                <a:off x="194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22" name="Rectangle 119"/>
              <p:cNvSpPr>
                <a:spLocks noChangeArrowheads="1"/>
              </p:cNvSpPr>
              <p:nvPr/>
            </p:nvSpPr>
            <p:spPr bwMode="auto">
              <a:xfrm>
                <a:off x="194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123" name="Rectangle 120"/>
              <p:cNvSpPr>
                <a:spLocks noChangeArrowheads="1"/>
              </p:cNvSpPr>
              <p:nvPr/>
            </p:nvSpPr>
            <p:spPr bwMode="auto">
              <a:xfrm>
                <a:off x="194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24" name="Rectangle 121"/>
              <p:cNvSpPr>
                <a:spLocks noChangeArrowheads="1"/>
              </p:cNvSpPr>
              <p:nvPr/>
            </p:nvSpPr>
            <p:spPr bwMode="auto">
              <a:xfrm>
                <a:off x="194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0000FF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25" name="Line 122"/>
              <p:cNvSpPr>
                <a:spLocks noChangeShapeType="1"/>
              </p:cNvSpPr>
              <p:nvPr/>
            </p:nvSpPr>
            <p:spPr bwMode="auto">
              <a:xfrm>
                <a:off x="194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6" name="Line 123"/>
              <p:cNvSpPr>
                <a:spLocks noChangeShapeType="1"/>
              </p:cNvSpPr>
              <p:nvPr/>
            </p:nvSpPr>
            <p:spPr bwMode="auto">
              <a:xfrm>
                <a:off x="194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7" name="Line 124"/>
              <p:cNvSpPr>
                <a:spLocks noChangeShapeType="1"/>
              </p:cNvSpPr>
              <p:nvPr/>
            </p:nvSpPr>
            <p:spPr bwMode="auto">
              <a:xfrm>
                <a:off x="194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" name="Line 125"/>
              <p:cNvSpPr>
                <a:spLocks noChangeShapeType="1"/>
              </p:cNvSpPr>
              <p:nvPr/>
            </p:nvSpPr>
            <p:spPr bwMode="auto">
              <a:xfrm>
                <a:off x="194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9" name="Line 126"/>
              <p:cNvSpPr>
                <a:spLocks noChangeShapeType="1"/>
              </p:cNvSpPr>
              <p:nvPr/>
            </p:nvSpPr>
            <p:spPr bwMode="auto">
              <a:xfrm>
                <a:off x="194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0" name="Line 127"/>
              <p:cNvSpPr>
                <a:spLocks noChangeShapeType="1"/>
              </p:cNvSpPr>
              <p:nvPr/>
            </p:nvSpPr>
            <p:spPr bwMode="auto">
              <a:xfrm>
                <a:off x="194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Line 128"/>
              <p:cNvSpPr>
                <a:spLocks noChangeShapeType="1"/>
              </p:cNvSpPr>
              <p:nvPr/>
            </p:nvSpPr>
            <p:spPr bwMode="auto">
              <a:xfrm>
                <a:off x="246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0" name="Rectangle 129"/>
            <p:cNvSpPr>
              <a:spLocks noChangeArrowheads="1"/>
            </p:cNvSpPr>
            <p:nvPr/>
          </p:nvSpPr>
          <p:spPr bwMode="auto">
            <a:xfrm>
              <a:off x="2301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2</a:t>
              </a:r>
            </a:p>
          </p:txBody>
        </p:sp>
      </p:grpSp>
      <p:grpSp>
        <p:nvGrpSpPr>
          <p:cNvPr id="132" name="Group 130"/>
          <p:cNvGrpSpPr>
            <a:grpSpLocks/>
          </p:cNvGrpSpPr>
          <p:nvPr/>
        </p:nvGrpSpPr>
        <p:grpSpPr bwMode="auto">
          <a:xfrm>
            <a:off x="6172988" y="3929328"/>
            <a:ext cx="828675" cy="2555874"/>
            <a:chOff x="3075" y="676"/>
            <a:chExt cx="522" cy="1610"/>
          </a:xfrm>
        </p:grpSpPr>
        <p:grpSp>
          <p:nvGrpSpPr>
            <p:cNvPr id="133" name="Group 131"/>
            <p:cNvGrpSpPr>
              <a:grpSpLocks/>
            </p:cNvGrpSpPr>
            <p:nvPr/>
          </p:nvGrpSpPr>
          <p:grpSpPr bwMode="auto">
            <a:xfrm>
              <a:off x="3075" y="676"/>
              <a:ext cx="522" cy="1304"/>
              <a:chOff x="2903" y="748"/>
              <a:chExt cx="522" cy="1304"/>
            </a:xfrm>
          </p:grpSpPr>
          <p:sp>
            <p:nvSpPr>
              <p:cNvPr id="135" name="Rectangle 132"/>
              <p:cNvSpPr>
                <a:spLocks noChangeArrowheads="1"/>
              </p:cNvSpPr>
              <p:nvPr/>
            </p:nvSpPr>
            <p:spPr bwMode="auto">
              <a:xfrm>
                <a:off x="2903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136" name="Rectangle 133"/>
              <p:cNvSpPr>
                <a:spLocks noChangeArrowheads="1"/>
              </p:cNvSpPr>
              <p:nvPr/>
            </p:nvSpPr>
            <p:spPr bwMode="auto">
              <a:xfrm>
                <a:off x="2903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37" name="Rectangle 134"/>
              <p:cNvSpPr>
                <a:spLocks noChangeArrowheads="1"/>
              </p:cNvSpPr>
              <p:nvPr/>
            </p:nvSpPr>
            <p:spPr bwMode="auto">
              <a:xfrm>
                <a:off x="2903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38" name="Rectangle 135"/>
              <p:cNvSpPr>
                <a:spLocks noChangeArrowheads="1"/>
              </p:cNvSpPr>
              <p:nvPr/>
            </p:nvSpPr>
            <p:spPr bwMode="auto">
              <a:xfrm>
                <a:off x="2903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39" name="Line 136"/>
              <p:cNvSpPr>
                <a:spLocks noChangeShapeType="1"/>
              </p:cNvSpPr>
              <p:nvPr/>
            </p:nvSpPr>
            <p:spPr bwMode="auto">
              <a:xfrm>
                <a:off x="2903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0" name="Line 137"/>
              <p:cNvSpPr>
                <a:spLocks noChangeShapeType="1"/>
              </p:cNvSpPr>
              <p:nvPr/>
            </p:nvSpPr>
            <p:spPr bwMode="auto">
              <a:xfrm>
                <a:off x="2903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1" name="Line 138"/>
              <p:cNvSpPr>
                <a:spLocks noChangeShapeType="1"/>
              </p:cNvSpPr>
              <p:nvPr/>
            </p:nvSpPr>
            <p:spPr bwMode="auto">
              <a:xfrm>
                <a:off x="2903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2" name="Line 139"/>
              <p:cNvSpPr>
                <a:spLocks noChangeShapeType="1"/>
              </p:cNvSpPr>
              <p:nvPr/>
            </p:nvSpPr>
            <p:spPr bwMode="auto">
              <a:xfrm>
                <a:off x="2903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3" name="Line 140"/>
              <p:cNvSpPr>
                <a:spLocks noChangeShapeType="1"/>
              </p:cNvSpPr>
              <p:nvPr/>
            </p:nvSpPr>
            <p:spPr bwMode="auto">
              <a:xfrm>
                <a:off x="2903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4" name="Line 141"/>
              <p:cNvSpPr>
                <a:spLocks noChangeShapeType="1"/>
              </p:cNvSpPr>
              <p:nvPr/>
            </p:nvSpPr>
            <p:spPr bwMode="auto">
              <a:xfrm>
                <a:off x="290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5" name="Line 142"/>
              <p:cNvSpPr>
                <a:spLocks noChangeShapeType="1"/>
              </p:cNvSpPr>
              <p:nvPr/>
            </p:nvSpPr>
            <p:spPr bwMode="auto">
              <a:xfrm>
                <a:off x="3425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4" name="Rectangle 143"/>
            <p:cNvSpPr>
              <a:spLocks noChangeArrowheads="1"/>
            </p:cNvSpPr>
            <p:nvPr/>
          </p:nvSpPr>
          <p:spPr bwMode="auto">
            <a:xfrm>
              <a:off x="3215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3</a:t>
              </a:r>
            </a:p>
          </p:txBody>
        </p:sp>
      </p:grpSp>
      <p:grpSp>
        <p:nvGrpSpPr>
          <p:cNvPr id="146" name="Group 144"/>
          <p:cNvGrpSpPr>
            <a:grpSpLocks/>
          </p:cNvGrpSpPr>
          <p:nvPr/>
        </p:nvGrpSpPr>
        <p:grpSpPr bwMode="auto">
          <a:xfrm>
            <a:off x="7631900" y="3929328"/>
            <a:ext cx="828675" cy="2555874"/>
            <a:chOff x="3994" y="676"/>
            <a:chExt cx="522" cy="1610"/>
          </a:xfrm>
        </p:grpSpPr>
        <p:grpSp>
          <p:nvGrpSpPr>
            <p:cNvPr id="147" name="Group 145"/>
            <p:cNvGrpSpPr>
              <a:grpSpLocks/>
            </p:cNvGrpSpPr>
            <p:nvPr/>
          </p:nvGrpSpPr>
          <p:grpSpPr bwMode="auto">
            <a:xfrm>
              <a:off x="3994" y="676"/>
              <a:ext cx="522" cy="1304"/>
              <a:chOff x="3871" y="748"/>
              <a:chExt cx="522" cy="1304"/>
            </a:xfrm>
          </p:grpSpPr>
          <p:sp>
            <p:nvSpPr>
              <p:cNvPr id="149" name="Rectangle 146"/>
              <p:cNvSpPr>
                <a:spLocks noChangeArrowheads="1"/>
              </p:cNvSpPr>
              <p:nvPr/>
            </p:nvSpPr>
            <p:spPr bwMode="auto">
              <a:xfrm>
                <a:off x="3871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50" name="Rectangle 147"/>
              <p:cNvSpPr>
                <a:spLocks noChangeArrowheads="1"/>
              </p:cNvSpPr>
              <p:nvPr/>
            </p:nvSpPr>
            <p:spPr bwMode="auto">
              <a:xfrm>
                <a:off x="3871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51" name="Rectangle 148"/>
              <p:cNvSpPr>
                <a:spLocks noChangeArrowheads="1"/>
              </p:cNvSpPr>
              <p:nvPr/>
            </p:nvSpPr>
            <p:spPr bwMode="auto">
              <a:xfrm>
                <a:off x="3871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52" name="Rectangle 149"/>
              <p:cNvSpPr>
                <a:spLocks noChangeArrowheads="1"/>
              </p:cNvSpPr>
              <p:nvPr/>
            </p:nvSpPr>
            <p:spPr bwMode="auto">
              <a:xfrm>
                <a:off x="3871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53" name="Line 150"/>
              <p:cNvSpPr>
                <a:spLocks noChangeShapeType="1"/>
              </p:cNvSpPr>
              <p:nvPr/>
            </p:nvSpPr>
            <p:spPr bwMode="auto">
              <a:xfrm>
                <a:off x="3871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" name="Line 151"/>
              <p:cNvSpPr>
                <a:spLocks noChangeShapeType="1"/>
              </p:cNvSpPr>
              <p:nvPr/>
            </p:nvSpPr>
            <p:spPr bwMode="auto">
              <a:xfrm>
                <a:off x="3871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5" name="Line 152"/>
              <p:cNvSpPr>
                <a:spLocks noChangeShapeType="1"/>
              </p:cNvSpPr>
              <p:nvPr/>
            </p:nvSpPr>
            <p:spPr bwMode="auto">
              <a:xfrm>
                <a:off x="3871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6" name="Line 153"/>
              <p:cNvSpPr>
                <a:spLocks noChangeShapeType="1"/>
              </p:cNvSpPr>
              <p:nvPr/>
            </p:nvSpPr>
            <p:spPr bwMode="auto">
              <a:xfrm>
                <a:off x="3871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7" name="Line 154"/>
              <p:cNvSpPr>
                <a:spLocks noChangeShapeType="1"/>
              </p:cNvSpPr>
              <p:nvPr/>
            </p:nvSpPr>
            <p:spPr bwMode="auto">
              <a:xfrm>
                <a:off x="3871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" name="Line 155"/>
              <p:cNvSpPr>
                <a:spLocks noChangeShapeType="1"/>
              </p:cNvSpPr>
              <p:nvPr/>
            </p:nvSpPr>
            <p:spPr bwMode="auto">
              <a:xfrm>
                <a:off x="3871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9" name="Line 156"/>
              <p:cNvSpPr>
                <a:spLocks noChangeShapeType="1"/>
              </p:cNvSpPr>
              <p:nvPr/>
            </p:nvSpPr>
            <p:spPr bwMode="auto">
              <a:xfrm>
                <a:off x="4393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8" name="Rectangle 157"/>
            <p:cNvSpPr>
              <a:spLocks noChangeArrowheads="1"/>
            </p:cNvSpPr>
            <p:nvPr/>
          </p:nvSpPr>
          <p:spPr bwMode="auto">
            <a:xfrm>
              <a:off x="4148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4</a:t>
              </a:r>
            </a:p>
          </p:txBody>
        </p:sp>
      </p:grpSp>
      <p:grpSp>
        <p:nvGrpSpPr>
          <p:cNvPr id="160" name="Group 158"/>
          <p:cNvGrpSpPr>
            <a:grpSpLocks/>
          </p:cNvGrpSpPr>
          <p:nvPr/>
        </p:nvGrpSpPr>
        <p:grpSpPr bwMode="auto">
          <a:xfrm>
            <a:off x="9090813" y="3929328"/>
            <a:ext cx="828675" cy="2555874"/>
            <a:chOff x="4913" y="676"/>
            <a:chExt cx="522" cy="1610"/>
          </a:xfrm>
        </p:grpSpPr>
        <p:grpSp>
          <p:nvGrpSpPr>
            <p:cNvPr id="161" name="Group 159"/>
            <p:cNvGrpSpPr>
              <a:grpSpLocks/>
            </p:cNvGrpSpPr>
            <p:nvPr/>
          </p:nvGrpSpPr>
          <p:grpSpPr bwMode="auto">
            <a:xfrm>
              <a:off x="4913" y="676"/>
              <a:ext cx="522" cy="1304"/>
              <a:chOff x="4814" y="748"/>
              <a:chExt cx="522" cy="1304"/>
            </a:xfrm>
          </p:grpSpPr>
          <p:sp>
            <p:nvSpPr>
              <p:cNvPr id="163" name="Rectangle 160"/>
              <p:cNvSpPr>
                <a:spLocks noChangeArrowheads="1"/>
              </p:cNvSpPr>
              <p:nvPr/>
            </p:nvSpPr>
            <p:spPr bwMode="auto">
              <a:xfrm>
                <a:off x="4814" y="1726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64" name="Rectangle 161"/>
              <p:cNvSpPr>
                <a:spLocks noChangeArrowheads="1"/>
              </p:cNvSpPr>
              <p:nvPr/>
            </p:nvSpPr>
            <p:spPr bwMode="auto">
              <a:xfrm>
                <a:off x="4814" y="1400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165" name="Rectangle 162"/>
              <p:cNvSpPr>
                <a:spLocks noChangeArrowheads="1"/>
              </p:cNvSpPr>
              <p:nvPr/>
            </p:nvSpPr>
            <p:spPr bwMode="auto">
              <a:xfrm>
                <a:off x="4814" y="1074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chemeClr val="tx1"/>
                    </a:solidFill>
                    <a:ea typeface="宋体" pitchFamily="2" charset="-122"/>
                  </a:rPr>
                  <a:t>4</a:t>
                </a:r>
              </a:p>
            </p:txBody>
          </p:sp>
          <p:sp>
            <p:nvSpPr>
              <p:cNvPr id="166" name="Rectangle 163"/>
              <p:cNvSpPr>
                <a:spLocks noChangeArrowheads="1"/>
              </p:cNvSpPr>
              <p:nvPr/>
            </p:nvSpPr>
            <p:spPr bwMode="auto">
              <a:xfrm>
                <a:off x="4814" y="748"/>
                <a:ext cx="522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ADE7EB"/>
                        </a:gs>
                        <a:gs pos="100000">
                          <a:srgbClr val="FFFFFF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pPr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167" name="Line 164"/>
              <p:cNvSpPr>
                <a:spLocks noChangeShapeType="1"/>
              </p:cNvSpPr>
              <p:nvPr/>
            </p:nvSpPr>
            <p:spPr bwMode="auto">
              <a:xfrm>
                <a:off x="4814" y="748"/>
                <a:ext cx="522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" name="Line 165"/>
              <p:cNvSpPr>
                <a:spLocks noChangeShapeType="1"/>
              </p:cNvSpPr>
              <p:nvPr/>
            </p:nvSpPr>
            <p:spPr bwMode="auto">
              <a:xfrm>
                <a:off x="4814" y="1074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9" name="Line 166"/>
              <p:cNvSpPr>
                <a:spLocks noChangeShapeType="1"/>
              </p:cNvSpPr>
              <p:nvPr/>
            </p:nvSpPr>
            <p:spPr bwMode="auto">
              <a:xfrm>
                <a:off x="4814" y="1400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0" name="Line 167"/>
              <p:cNvSpPr>
                <a:spLocks noChangeShapeType="1"/>
              </p:cNvSpPr>
              <p:nvPr/>
            </p:nvSpPr>
            <p:spPr bwMode="auto">
              <a:xfrm>
                <a:off x="4814" y="1726"/>
                <a:ext cx="5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1" name="Line 168"/>
              <p:cNvSpPr>
                <a:spLocks noChangeShapeType="1"/>
              </p:cNvSpPr>
              <p:nvPr/>
            </p:nvSpPr>
            <p:spPr bwMode="auto">
              <a:xfrm>
                <a:off x="4814" y="2052"/>
                <a:ext cx="5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2" name="Line 169"/>
              <p:cNvSpPr>
                <a:spLocks noChangeShapeType="1"/>
              </p:cNvSpPr>
              <p:nvPr/>
            </p:nvSpPr>
            <p:spPr bwMode="auto">
              <a:xfrm>
                <a:off x="4814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3" name="Line 170"/>
              <p:cNvSpPr>
                <a:spLocks noChangeShapeType="1"/>
              </p:cNvSpPr>
              <p:nvPr/>
            </p:nvSpPr>
            <p:spPr bwMode="auto">
              <a:xfrm>
                <a:off x="5336" y="748"/>
                <a:ext cx="0" cy="13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2" name="Rectangle 171"/>
            <p:cNvSpPr>
              <a:spLocks noChangeArrowheads="1"/>
            </p:cNvSpPr>
            <p:nvPr/>
          </p:nvSpPr>
          <p:spPr bwMode="auto">
            <a:xfrm>
              <a:off x="5057" y="1956"/>
              <a:ext cx="2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ADE7EB"/>
                      </a:gs>
                      <a:gs pos="100000">
                        <a:srgbClr val="FFFF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>
                <a:buNone/>
              </a:pPr>
              <a:r>
                <a:rPr kumimoji="1" lang="en-US" altLang="zh-CN" sz="2800" b="1">
                  <a:solidFill>
                    <a:schemeClr val="tx2"/>
                  </a:solidFill>
                  <a:ea typeface="宋体" pitchFamily="2" charset="-122"/>
                </a:rPr>
                <a:t>5</a:t>
              </a:r>
            </a:p>
          </p:txBody>
        </p:sp>
      </p:grpSp>
      <p:sp>
        <p:nvSpPr>
          <p:cNvPr id="174" name="矩形 173">
            <a:extLst>
              <a:ext uri="{FF2B5EF4-FFF2-40B4-BE49-F238E27FC236}">
                <a16:creationId xmlns:a16="http://schemas.microsoft.com/office/drawing/2014/main" id="{FB006A35-4697-4A85-BC7A-518E4F70275B}"/>
              </a:ext>
            </a:extLst>
          </p:cNvPr>
          <p:cNvSpPr/>
          <p:nvPr/>
        </p:nvSpPr>
        <p:spPr>
          <a:xfrm>
            <a:off x="1234575" y="1164929"/>
            <a:ext cx="431528" cy="21005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50"/>
              </a:spcBef>
              <a:buNone/>
            </a:pP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0</a:t>
            </a:r>
          </a:p>
          <a:p>
            <a:pPr>
              <a:spcBef>
                <a:spcPts val="50"/>
              </a:spcBef>
              <a:buNone/>
            </a:pP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1</a:t>
            </a:r>
          </a:p>
          <a:p>
            <a:pPr>
              <a:spcBef>
                <a:spcPts val="50"/>
              </a:spcBef>
              <a:buNone/>
            </a:pP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pPr>
              <a:spcBef>
                <a:spcPts val="50"/>
              </a:spcBef>
              <a:buNone/>
            </a:pP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3</a:t>
            </a:r>
            <a:endParaRPr lang="zh-CN" altLang="en-US" sz="3200" dirty="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17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：化石编号序列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90962" y="1345248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输入一个数字字符串，构造相应列表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819562" y="2183448"/>
            <a:ext cx="6882012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 = input()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#'1 2 3 4 1 2 5 1 2 3 4 5'</a:t>
            </a: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______________________________</a:t>
            </a: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______________________________</a:t>
            </a:r>
            <a:endParaRPr lang="en-US" altLang="zh-CN" sz="24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______________________________</a:t>
            </a:r>
          </a:p>
        </p:txBody>
      </p:sp>
      <p:sp>
        <p:nvSpPr>
          <p:cNvPr id="7" name="矩形 6"/>
          <p:cNvSpPr/>
          <p:nvPr/>
        </p:nvSpPr>
        <p:spPr>
          <a:xfrm>
            <a:off x="1834648" y="2879428"/>
            <a:ext cx="5121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pages = </a:t>
            </a:r>
            <a:r>
              <a:rPr kumimoji="1" lang="en-US" altLang="zh-CN" sz="32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s.split</a:t>
            </a:r>
            <a:r>
              <a:rPr kumimoji="1" lang="en-US" altLang="zh-CN" sz="32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(' ')</a:t>
            </a:r>
            <a:endParaRPr lang="zh-CN" altLang="en-US" sz="3200" dirty="0">
              <a:solidFill>
                <a:srgbClr val="FF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34648" y="3808473"/>
            <a:ext cx="68499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for i in range(len(pages)):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8197" y="4698048"/>
            <a:ext cx="61093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pages[i] = int(pages[i])</a:t>
            </a:r>
            <a:endParaRPr lang="zh-CN" altLang="en-US" sz="32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6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：化石已在某个盘子中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37134" y="1251242"/>
            <a:ext cx="8077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/>
              <a:t>为当前化石，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zh-CN" altLang="en-US" sz="3200"/>
              <a:t>为盘子中化石编号列表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665734" y="2089442"/>
            <a:ext cx="7058343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if p in list: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  <a:endParaRPr lang="en-US" altLang="zh-CN" sz="24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</a:p>
        </p:txBody>
      </p:sp>
      <p:sp>
        <p:nvSpPr>
          <p:cNvPr id="7" name="矩形 6"/>
          <p:cNvSpPr/>
          <p:nvPr/>
        </p:nvSpPr>
        <p:spPr>
          <a:xfrm>
            <a:off x="2519020" y="2785422"/>
            <a:ext cx="4381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 = list.index(p)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7001" y="3714467"/>
            <a:ext cx="53687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element = list.pop(i)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98011" y="4628867"/>
            <a:ext cx="58625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list.insert(0, element)</a:t>
            </a:r>
            <a:endParaRPr lang="zh-CN" altLang="en-US" sz="32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3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：化石不在盘子中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787520" y="1217058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3200"/>
              <a:t>为当前化石，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zh-CN" altLang="en-US" sz="3200"/>
              <a:t>为盘中化石编号列表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2016120" y="1979058"/>
            <a:ext cx="705834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else:</a:t>
            </a:r>
            <a:endParaRPr lang="en-US" altLang="zh-CN" sz="3200" b="1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  <a:endParaRPr lang="en-US" altLang="zh-CN" sz="24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</a:p>
          <a:p>
            <a:pPr>
              <a:spcBef>
                <a:spcPts val="3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____________________________</a:t>
            </a:r>
          </a:p>
        </p:txBody>
      </p:sp>
      <p:sp>
        <p:nvSpPr>
          <p:cNvPr id="7" name="矩形 6"/>
          <p:cNvSpPr/>
          <p:nvPr/>
        </p:nvSpPr>
        <p:spPr>
          <a:xfrm>
            <a:off x="2869406" y="2675038"/>
            <a:ext cx="3393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FaultNum += 1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7387" y="3655458"/>
            <a:ext cx="4381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list.insert(0, p)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48397" y="4518483"/>
            <a:ext cx="4875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if len(list) &gt; FN :</a:t>
            </a:r>
            <a:endParaRPr lang="zh-CN" altLang="en-US" sz="3200">
              <a:solidFill>
                <a:srgbClr val="FF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22105" y="5356683"/>
            <a:ext cx="3393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del(list[FN])</a:t>
            </a:r>
            <a:endParaRPr lang="zh-CN" altLang="en-US" sz="32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64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362362" y="1524000"/>
            <a:ext cx="9114802" cy="397031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FN = int(input("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  <a:cs typeface="Courier New" pitchFamily="49" charset="0"/>
              </a:rPr>
              <a:t>请输入盘子的个数：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"))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 = input("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  <a:cs typeface="Courier New" pitchFamily="49" charset="0"/>
              </a:rPr>
              <a:t>请输入化石编号序列</a:t>
            </a:r>
            <a:r>
              <a:rPr kumimoji="1" lang="zh-CN" altLang="en-US" sz="2800" b="1">
                <a:latin typeface="Courier New" pitchFamily="49" charset="0"/>
                <a:cs typeface="Courier New" pitchFamily="49" charset="0"/>
              </a:rPr>
              <a:t>：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pages = s.split(' ')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range(len(pages)):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pages[i] = int(pages[i])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FaultNum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list = []</a:t>
            </a:r>
          </a:p>
        </p:txBody>
      </p:sp>
    </p:spTree>
    <p:extLst>
      <p:ext uri="{BB962C8B-B14F-4D97-AF65-F5344CB8AC3E}">
        <p14:creationId xmlns:p14="http://schemas.microsoft.com/office/powerpoint/2010/main" val="27251965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524735" y="1019786"/>
            <a:ext cx="8234585" cy="526297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p in pages: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if p in list: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i = list.index(p)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element = list.pop(i)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list.insert(0, element)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else: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FaultNum += 1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list.insert(0, p)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if len(list) &gt; FN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del(list[FN])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print('</a:t>
            </a:r>
            <a:r>
              <a:rPr kumimoji="1" lang="zh-CN" altLang="en-US" sz="2800" b="1">
                <a:latin typeface="宋体" pitchFamily="2" charset="-122"/>
                <a:ea typeface="宋体" pitchFamily="2" charset="-122"/>
                <a:cs typeface="Courier New" pitchFamily="49" charset="0"/>
              </a:rPr>
              <a:t>缺蛋次数：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', FaultNum)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35775108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100860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概述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371957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771582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什么是列表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871641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41431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82271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嵌套列表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91214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39510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嵌套列表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03839" y="1328870"/>
            <a:ext cx="9749319" cy="3781517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嵌套列表：列表的列表</a:t>
            </a:r>
            <a:endParaRPr lang="en-US" altLang="zh-CN"/>
          </a:p>
          <a:p>
            <a:pPr lvl="1"/>
            <a:r>
              <a:rPr lang="zh-CN" altLang="en-US"/>
              <a:t>一个列表，它的部分或全部元素也是列表</a:t>
            </a:r>
            <a:endParaRPr lang="en-US" altLang="zh-CN"/>
          </a:p>
          <a:p>
            <a:pPr lvl="1"/>
            <a:r>
              <a:rPr lang="zh-CN" altLang="en-US"/>
              <a:t>类似于一个网格或表格，可以通过二维下标访问列表包含的列表中的元素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56522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嵌套列表举例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39894" y="1425711"/>
            <a:ext cx="7708307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 = [[5, 9, 6], [8, 8, 6]]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len(a)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  <a:sym typeface="Wingdings"/>
              </a:rPr>
              <a:t>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 2 </a:t>
            </a:r>
            <a:r>
              <a:rPr lang="en-US" altLang="zh-CN" sz="2800" b="1" kern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#</a:t>
            </a:r>
            <a:r>
              <a:rPr lang="zh-CN" altLang="en-US" sz="28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元素个数</a:t>
            </a:r>
            <a:endParaRPr lang="en-US" altLang="zh-CN" sz="2800" b="1" kern="0"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a[0]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  <a:sym typeface="Wingdings"/>
              </a:rPr>
              <a:t>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 [5, 9, 6] </a:t>
            </a:r>
            <a:r>
              <a:rPr lang="en-US" altLang="zh-CN" sz="2800" b="1" kern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#</a:t>
            </a:r>
            <a:r>
              <a:rPr lang="zh-CN" altLang="en-US" sz="28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普通列表</a:t>
            </a:r>
            <a:endParaRPr lang="en-US" altLang="zh-CN" sz="2800" b="1" kern="0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a[1]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  <a:sym typeface="Wingdings"/>
              </a:rPr>
              <a:t>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 [8, 8, 6] </a:t>
            </a:r>
            <a:r>
              <a:rPr lang="en-US" altLang="zh-CN" sz="2800" b="1" kern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#</a:t>
            </a:r>
            <a:r>
              <a:rPr lang="zh-CN" altLang="en-US" sz="28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普通列表</a:t>
            </a:r>
            <a:endParaRPr lang="en-US" altLang="zh-CN" sz="2800" b="1" kern="0">
              <a:latin typeface="Courier New" pitchFamily="49" charset="0"/>
              <a:ea typeface="ＭＳ Ｐゴシック" pitchFamily="34" charset="-128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a[0] = [8, 8, 6] </a:t>
            </a:r>
            <a:r>
              <a:rPr lang="en-US" altLang="zh-CN" sz="2800" b="1" kern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#</a:t>
            </a:r>
            <a:r>
              <a:rPr lang="zh-CN" altLang="en-US" sz="28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可修改为其他列表</a:t>
            </a:r>
            <a:endParaRPr lang="en-US" altLang="zh-CN" sz="2800" b="1" kern="0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a[0] = 1 </a:t>
            </a:r>
            <a:r>
              <a:rPr lang="en-US" altLang="zh-CN" sz="2800" b="1" kern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</a:rPr>
              <a:t>#</a:t>
            </a:r>
            <a:r>
              <a:rPr lang="zh-CN" altLang="en-US" sz="28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也可修改为普通数据</a:t>
            </a:r>
            <a:endParaRPr lang="en-US" altLang="zh-CN" sz="2800" b="1" kern="0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8727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访问二维列表中的元素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38668" y="1156423"/>
            <a:ext cx="7391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 = [[5, 9, 6], [8, 8, 6]]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a[i][j] i=0~1, j=0~2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a[0][1]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  <a:sym typeface="Wingdings"/>
              </a:rPr>
              <a:t>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 9</a:t>
            </a:r>
          </a:p>
        </p:txBody>
      </p:sp>
      <p:graphicFrame>
        <p:nvGraphicFramePr>
          <p:cNvPr id="5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54072"/>
              </p:ext>
            </p:extLst>
          </p:nvPr>
        </p:nvGraphicFramePr>
        <p:xfrm>
          <a:off x="4010682" y="3646198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751793"/>
              </p:ext>
            </p:extLst>
          </p:nvPr>
        </p:nvGraphicFramePr>
        <p:xfrm>
          <a:off x="3707470" y="3341398"/>
          <a:ext cx="3962400" cy="2821634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6700"/>
              </p:ext>
            </p:extLst>
          </p:nvPr>
        </p:nvGraphicFramePr>
        <p:xfrm>
          <a:off x="4012270" y="5003510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14880" y="4175398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14880" y="5546733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65220" y="3877032"/>
            <a:ext cx="389850" cy="17666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buNone/>
            </a:pPr>
            <a:endParaRPr lang="en-US" altLang="zh-CN" sz="3200" b="1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154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遍历二维列表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03664" y="2387124"/>
            <a:ext cx="8972478" cy="29718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    给定列表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a = [[10, 20], [40], [70, 80, 100]]</a:t>
            </a:r>
          </a:p>
          <a:p>
            <a:pPr lvl="1"/>
            <a:r>
              <a:rPr lang="zh-CN" altLang="en-US"/>
              <a:t>以“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a[i][j] = value</a:t>
            </a:r>
            <a:r>
              <a:rPr lang="zh-CN" altLang="en-US"/>
              <a:t>”的形式打印每一个元素值</a:t>
            </a:r>
            <a:endParaRPr lang="en-US" altLang="zh-CN"/>
          </a:p>
          <a:p>
            <a:pPr lvl="1"/>
            <a:r>
              <a:rPr lang="zh-CN" altLang="en-US"/>
              <a:t>直接打印每一个元素值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1614895" y="151219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 b="1">
                <a:latin typeface="黑体" pitchFamily="49" charset="-122"/>
                <a:ea typeface="黑体" pitchFamily="49" charset="-122"/>
              </a:rPr>
              <a:t>问题描述</a:t>
            </a:r>
          </a:p>
        </p:txBody>
      </p:sp>
    </p:spTree>
    <p:extLst>
      <p:ext uri="{BB962C8B-B14F-4D97-AF65-F5344CB8AC3E}">
        <p14:creationId xmlns:p14="http://schemas.microsoft.com/office/powerpoint/2010/main" val="9334838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840938" y="1335988"/>
            <a:ext cx="8077200" cy="4524315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   a = [[10, 20], [40], [70, 80, 100]]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   for </a:t>
            </a:r>
            <a:r>
              <a:rPr kumimoji="1" lang="en-US" altLang="zh-CN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in range(___________):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       for j in range(___________):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          print('a[' + str(</a:t>
            </a:r>
            <a:r>
              <a:rPr kumimoji="1" lang="en-US" altLang="zh-CN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) +']['+str(j)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                  +'] = ' + str(a[</a:t>
            </a:r>
            <a:r>
              <a:rPr kumimoji="1" lang="en-US" altLang="zh-CN" sz="24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][j]))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 dirty="0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5" name="矩形 4"/>
          <p:cNvSpPr/>
          <p:nvPr/>
        </p:nvSpPr>
        <p:spPr>
          <a:xfrm>
            <a:off x="5625258" y="2631388"/>
            <a:ext cx="14734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2800" b="1" dirty="0" err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kumimoji="1" lang="en-US" altLang="zh-CN" sz="2800" b="1" dirty="0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(a)</a:t>
            </a:r>
            <a:endParaRPr lang="zh-CN" altLang="en-US" sz="2800" dirty="0">
              <a:solidFill>
                <a:srgbClr val="FF00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08138" y="3251168"/>
            <a:ext cx="21178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len(a[i])</a:t>
            </a:r>
            <a:endParaRPr lang="zh-CN" altLang="en-US" sz="28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71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387999" y="1412902"/>
            <a:ext cx="9277151" cy="421653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 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a = [[10, 20], [40], [70, 80, 100]]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________________: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for _______________: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________________</a:t>
            </a:r>
          </a:p>
          <a:p>
            <a:pPr marL="342900" indent="-342900">
              <a:spcBef>
                <a:spcPts val="24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9" name="矩形 8"/>
          <p:cNvSpPr/>
          <p:nvPr/>
        </p:nvSpPr>
        <p:spPr>
          <a:xfrm>
            <a:off x="3599715" y="2718482"/>
            <a:ext cx="1903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row in a</a:t>
            </a:r>
            <a:endParaRPr lang="zh-CN" altLang="en-US" sz="2800">
              <a:solidFill>
                <a:srgbClr val="FF00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98308" y="3480482"/>
            <a:ext cx="2547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elem in row</a:t>
            </a:r>
            <a:endParaRPr lang="zh-CN" altLang="en-US" sz="2800">
              <a:solidFill>
                <a:srgbClr val="FF00FF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07400" y="4156102"/>
            <a:ext cx="2547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print(elem)</a:t>
            </a:r>
            <a:endParaRPr lang="zh-CN" altLang="en-US" sz="28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45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二维列表的存储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57422" y="1341987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altLang="zh-CN" sz="3600" b="1" kern="0">
                <a:latin typeface="Courier New" pitchFamily="49" charset="0"/>
                <a:ea typeface="ＭＳ Ｐゴシック" pitchFamily="34" charset="-128"/>
              </a:rPr>
              <a:t>a = [[5, 9, 6], [8, 8, 6]]</a:t>
            </a:r>
            <a:endParaRPr lang="zh-CN" altLang="en-US" sz="3600"/>
          </a:p>
        </p:txBody>
      </p:sp>
      <p:graphicFrame>
        <p:nvGraphicFramePr>
          <p:cNvPr id="5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0428"/>
              </p:ext>
            </p:extLst>
          </p:nvPr>
        </p:nvGraphicFramePr>
        <p:xfrm>
          <a:off x="5865834" y="2521718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490723"/>
              </p:ext>
            </p:extLst>
          </p:nvPr>
        </p:nvGraphicFramePr>
        <p:xfrm>
          <a:off x="5865834" y="4564830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0032" y="3055383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8444" y="5108053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299099"/>
              </p:ext>
            </p:extLst>
          </p:nvPr>
        </p:nvGraphicFramePr>
        <p:xfrm>
          <a:off x="3220444" y="3613078"/>
          <a:ext cx="1780202" cy="547688"/>
        </p:xfrm>
        <a:graphic>
          <a:graphicData uri="http://schemas.openxmlformats.org/drawingml/2006/table">
            <a:tbl>
              <a:tblPr/>
              <a:tblGrid>
                <a:gridCol w="890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31197" y="4142278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0          1       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674834" y="3613343"/>
            <a:ext cx="762000" cy="609600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03434" y="4146743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pt-BR" altLang="zh-CN" sz="3200" b="1" kern="0">
                <a:latin typeface="Courier New" pitchFamily="49" charset="0"/>
                <a:ea typeface="ＭＳ Ｐゴシック" pitchFamily="34" charset="-128"/>
              </a:rPr>
              <a:t>a</a:t>
            </a:r>
            <a:endParaRPr lang="zh-CN" altLang="en-US" sz="3200"/>
          </a:p>
        </p:txBody>
      </p:sp>
      <p:cxnSp>
        <p:nvCxnSpPr>
          <p:cNvPr id="14" name="直接箭头连接符 13"/>
          <p:cNvCxnSpPr/>
          <p:nvPr/>
        </p:nvCxnSpPr>
        <p:spPr bwMode="auto">
          <a:xfrm>
            <a:off x="2195398" y="3918143"/>
            <a:ext cx="1003436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651834" y="2792918"/>
            <a:ext cx="2214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4570434" y="3969518"/>
            <a:ext cx="1295400" cy="8382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>
            <a:off x="3656034" y="2810918"/>
            <a:ext cx="0" cy="1044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2790527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一维列表的复制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804587" y="1394549"/>
            <a:ext cx="7696200" cy="4613144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变量指向列表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2033187" y="2232749"/>
            <a:ext cx="7924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boy1 = [26, 7, 1.72, 62.5]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boy2 = boy1</a:t>
            </a: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.copy()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#boy2 = boy1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boy2[1] = 9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去了一趟韩国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boy2.append('handsome')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print(boy1)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#???</a:t>
            </a:r>
          </a:p>
        </p:txBody>
      </p:sp>
    </p:spTree>
    <p:extLst>
      <p:ext uri="{BB962C8B-B14F-4D97-AF65-F5344CB8AC3E}">
        <p14:creationId xmlns:p14="http://schemas.microsoft.com/office/powerpoint/2010/main" val="415953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二维列表的复制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650774" y="1362340"/>
            <a:ext cx="7696200" cy="44488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结果是什么？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879374" y="2200540"/>
            <a:ext cx="684995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 dirty="0">
                <a:latin typeface="Courier New" pitchFamily="49" charset="0"/>
                <a:cs typeface="Courier New" pitchFamily="49" charset="0"/>
              </a:rPr>
              <a:t>a1 = [[5, 9, 6], [8, 8, 6]]</a:t>
            </a:r>
            <a:endParaRPr lang="en-US" altLang="zh-CN" sz="32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a2 = a1.copy()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a2[0][0] = 8</a:t>
            </a:r>
            <a:endParaRPr lang="en-US" altLang="zh-CN" sz="3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a2[0][1] = 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latin typeface="Courier New" pitchFamily="49" charset="0"/>
                <a:cs typeface="Courier New" pitchFamily="49" charset="0"/>
              </a:rPr>
              <a:t>print(a1)</a:t>
            </a:r>
            <a:r>
              <a:rPr lang="en-US" altLang="zh-CN" sz="2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#???</a:t>
            </a:r>
          </a:p>
        </p:txBody>
      </p:sp>
    </p:spTree>
    <p:extLst>
      <p:ext uri="{BB962C8B-B14F-4D97-AF65-F5344CB8AC3E}">
        <p14:creationId xmlns:p14="http://schemas.microsoft.com/office/powerpoint/2010/main" val="137195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浅层复制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11250" y="1081750"/>
            <a:ext cx="7467600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altLang="zh-CN" sz="3200" b="1" kern="0">
                <a:latin typeface="Courier New" pitchFamily="49" charset="0"/>
                <a:ea typeface="ＭＳ Ｐゴシック" pitchFamily="34" charset="-128"/>
              </a:rPr>
              <a:t>a1 = [[5, 9, 6], [8, 8, 6]]</a:t>
            </a:r>
          </a:p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a2 = a1.copy()</a:t>
            </a:r>
            <a:endParaRPr lang="zh-CN" altLang="en-US" sz="3200"/>
          </a:p>
        </p:txBody>
      </p:sp>
      <p:graphicFrame>
        <p:nvGraphicFramePr>
          <p:cNvPr id="5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289614"/>
              </p:ext>
            </p:extLst>
          </p:nvPr>
        </p:nvGraphicFramePr>
        <p:xfrm>
          <a:off x="6019662" y="2453350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399597"/>
              </p:ext>
            </p:extLst>
          </p:nvPr>
        </p:nvGraphicFramePr>
        <p:xfrm>
          <a:off x="6019662" y="4496462"/>
          <a:ext cx="3278188" cy="547688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23860" y="2987015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2272" y="5039685"/>
            <a:ext cx="2492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0            1            2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063943"/>
              </p:ext>
            </p:extLst>
          </p:nvPr>
        </p:nvGraphicFramePr>
        <p:xfrm>
          <a:off x="3374272" y="3544710"/>
          <a:ext cx="1780202" cy="547688"/>
        </p:xfrm>
        <a:graphic>
          <a:graphicData uri="http://schemas.openxmlformats.org/drawingml/2006/table">
            <a:tbl>
              <a:tblPr/>
              <a:tblGrid>
                <a:gridCol w="890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85025" y="4073910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0          1       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828662" y="3544975"/>
            <a:ext cx="762000" cy="609600"/>
          </a:xfrm>
          <a:prstGeom prst="roundRect">
            <a:avLst/>
          </a:prstGeom>
          <a:solidFill>
            <a:srgbClr val="CECEE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06450" y="4078375"/>
            <a:ext cx="6783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pt-BR" altLang="zh-CN" sz="3200" b="1" kern="0">
                <a:latin typeface="Courier New" pitchFamily="49" charset="0"/>
                <a:ea typeface="ＭＳ Ｐゴシック" pitchFamily="34" charset="-128"/>
              </a:rPr>
              <a:t>a1</a:t>
            </a:r>
            <a:endParaRPr lang="zh-CN" altLang="en-US" sz="3200"/>
          </a:p>
        </p:txBody>
      </p:sp>
      <p:cxnSp>
        <p:nvCxnSpPr>
          <p:cNvPr id="14" name="直接箭头连接符 13"/>
          <p:cNvCxnSpPr/>
          <p:nvPr/>
        </p:nvCxnSpPr>
        <p:spPr bwMode="auto">
          <a:xfrm>
            <a:off x="2349226" y="3849775"/>
            <a:ext cx="1003436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805662" y="2724550"/>
            <a:ext cx="2214000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4724262" y="3901150"/>
            <a:ext cx="1295400" cy="8382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>
            <a:off x="3809862" y="2742550"/>
            <a:ext cx="0" cy="1044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graphicFrame>
        <p:nvGraphicFramePr>
          <p:cNvPr id="18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790705"/>
              </p:ext>
            </p:extLst>
          </p:nvPr>
        </p:nvGraphicFramePr>
        <p:xfrm>
          <a:off x="3375860" y="4992510"/>
          <a:ext cx="1780202" cy="547688"/>
        </p:xfrm>
        <a:graphic>
          <a:graphicData uri="http://schemas.openxmlformats.org/drawingml/2006/table">
            <a:tbl>
              <a:tblPr/>
              <a:tblGrid>
                <a:gridCol w="890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686613" y="5521710"/>
            <a:ext cx="1800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0          1       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1830250" y="4992775"/>
            <a:ext cx="762000" cy="609600"/>
          </a:xfrm>
          <a:prstGeom prst="roundRect">
            <a:avLst/>
          </a:prstGeom>
          <a:solidFill>
            <a:srgbClr val="CECEE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08038" y="5526175"/>
            <a:ext cx="6783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pt-BR" altLang="zh-CN" sz="3200" b="1" kern="0">
                <a:latin typeface="Courier New" pitchFamily="49" charset="0"/>
                <a:ea typeface="ＭＳ Ｐゴシック" pitchFamily="34" charset="-128"/>
              </a:rPr>
              <a:t>a2</a:t>
            </a:r>
            <a:endParaRPr lang="zh-CN" altLang="en-US" sz="3200"/>
          </a:p>
        </p:txBody>
      </p:sp>
      <p:cxnSp>
        <p:nvCxnSpPr>
          <p:cNvPr id="22" name="直接箭头连接符 21"/>
          <p:cNvCxnSpPr/>
          <p:nvPr/>
        </p:nvCxnSpPr>
        <p:spPr bwMode="auto">
          <a:xfrm>
            <a:off x="2350814" y="5297575"/>
            <a:ext cx="1003436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3" name="直接箭头连接符 22"/>
          <p:cNvCxnSpPr/>
          <p:nvPr/>
        </p:nvCxnSpPr>
        <p:spPr bwMode="auto">
          <a:xfrm flipV="1">
            <a:off x="4879838" y="4815550"/>
            <a:ext cx="1141412" cy="4572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 flipV="1">
            <a:off x="3963850" y="3062950"/>
            <a:ext cx="2209800" cy="218497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6050234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例题：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DNA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序列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 descr="untitle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388" y="2909840"/>
            <a:ext cx="243840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11041" y="1267414"/>
            <a:ext cx="803433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黑体" pitchFamily="49" charset="-122"/>
              </a:rPr>
              <a:t>问题背景：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	</a:t>
            </a:r>
            <a:r>
              <a:rPr kumimoji="1" lang="zh-CN" altLang="en-US" sz="2400" b="1">
                <a:ea typeface="宋体" pitchFamily="2" charset="-122"/>
              </a:rPr>
              <a:t>人类基因组计划的第一阶段于</a:t>
            </a:r>
            <a:r>
              <a:rPr kumimoji="1" lang="en-US" altLang="zh-CN" sz="2400" b="1">
                <a:ea typeface="宋体" pitchFamily="2" charset="-122"/>
              </a:rPr>
              <a:t>2000</a:t>
            </a:r>
            <a:r>
              <a:rPr kumimoji="1" lang="zh-CN" altLang="en-US" sz="2400" b="1">
                <a:ea typeface="宋体" pitchFamily="2" charset="-122"/>
              </a:rPr>
              <a:t>年</a:t>
            </a:r>
            <a:r>
              <a:rPr kumimoji="1" lang="en-US" altLang="zh-CN" sz="2400" b="1">
                <a:ea typeface="宋体" pitchFamily="2" charset="-122"/>
              </a:rPr>
              <a:t>6</a:t>
            </a:r>
            <a:r>
              <a:rPr kumimoji="1" lang="zh-CN" altLang="en-US" sz="2400" b="1">
                <a:ea typeface="宋体" pitchFamily="2" charset="-122"/>
              </a:rPr>
              <a:t>月</a:t>
            </a:r>
            <a:r>
              <a:rPr kumimoji="1" lang="en-US" altLang="zh-CN" sz="2400" b="1">
                <a:ea typeface="宋体" pitchFamily="2" charset="-122"/>
              </a:rPr>
              <a:t>26</a:t>
            </a:r>
            <a:r>
              <a:rPr kumimoji="1" lang="zh-CN" altLang="en-US" sz="2400" b="1">
                <a:ea typeface="宋体" pitchFamily="2" charset="-122"/>
              </a:rPr>
              <a:t>日胜利结束，我国科研工作者圆满地完成了其中的</a:t>
            </a:r>
            <a:r>
              <a:rPr kumimoji="1" lang="en-US" altLang="zh-CN" sz="2400" b="1">
                <a:ea typeface="宋体" pitchFamily="2" charset="-122"/>
              </a:rPr>
              <a:t>1%</a:t>
            </a:r>
            <a:r>
              <a:rPr kumimoji="1" lang="zh-CN" altLang="en-US" sz="2400" b="1">
                <a:ea typeface="宋体" pitchFamily="2" charset="-122"/>
              </a:rPr>
              <a:t>的测序工作。</a:t>
            </a:r>
            <a:endParaRPr kumimoji="1" lang="zh-CN" altLang="en-US" sz="2400" b="1">
              <a:solidFill>
                <a:schemeClr val="tx1"/>
              </a:solidFill>
              <a:ea typeface="宋体" pitchFamily="2" charset="-122"/>
            </a:endParaRP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	</a:t>
            </a:r>
            <a:r>
              <a:rPr kumimoji="1" lang="zh-CN" altLang="en-US" sz="2400" b="1">
                <a:ea typeface="宋体" pitchFamily="2" charset="-122"/>
              </a:rPr>
              <a:t>众所周知，组成</a:t>
            </a:r>
            <a:r>
              <a:rPr kumimoji="1" lang="en-US" altLang="zh-CN" sz="2400" b="1">
                <a:ea typeface="宋体" pitchFamily="2" charset="-122"/>
              </a:rPr>
              <a:t>DNA</a:t>
            </a:r>
            <a:r>
              <a:rPr kumimoji="1" lang="zh-CN" altLang="en-US" sz="2400" b="1">
                <a:ea typeface="宋体" pitchFamily="2" charset="-122"/>
              </a:rPr>
              <a:t>的碱基有四种：腺嘌呤</a:t>
            </a:r>
            <a:r>
              <a:rPr kumimoji="1" lang="en-US" altLang="zh-CN" sz="2400" b="1">
                <a:ea typeface="宋体" pitchFamily="2" charset="-122"/>
              </a:rPr>
              <a:t>(A)</a:t>
            </a:r>
            <a:r>
              <a:rPr kumimoji="1" lang="zh-CN" altLang="en-US" sz="2400" b="1">
                <a:ea typeface="宋体" pitchFamily="2" charset="-122"/>
              </a:rPr>
              <a:t>、鸟嘌呤</a:t>
            </a:r>
            <a:r>
              <a:rPr kumimoji="1" lang="en-US" altLang="zh-CN" sz="2400" b="1">
                <a:ea typeface="宋体" pitchFamily="2" charset="-122"/>
              </a:rPr>
              <a:t>(G)</a:t>
            </a:r>
            <a:r>
              <a:rPr kumimoji="1" lang="zh-CN" altLang="en-US" sz="2400" b="1">
                <a:ea typeface="宋体" pitchFamily="2" charset="-122"/>
              </a:rPr>
              <a:t>、胞嘧啶</a:t>
            </a:r>
            <a:r>
              <a:rPr kumimoji="1" lang="en-US" altLang="zh-CN" sz="2400" b="1">
                <a:ea typeface="宋体" pitchFamily="2" charset="-122"/>
              </a:rPr>
              <a:t>(C)</a:t>
            </a:r>
            <a:r>
              <a:rPr kumimoji="1" lang="zh-CN" altLang="en-US" sz="2400" b="1">
                <a:ea typeface="宋体" pitchFamily="2" charset="-122"/>
              </a:rPr>
              <a:t>、胸腺嘧啶</a:t>
            </a:r>
            <a:r>
              <a:rPr kumimoji="1" lang="en-US" altLang="zh-CN" sz="2400" b="1">
                <a:ea typeface="宋体" pitchFamily="2" charset="-122"/>
              </a:rPr>
              <a:t>(T)</a:t>
            </a:r>
            <a:r>
              <a:rPr kumimoji="1" lang="zh-CN" altLang="en-US" sz="2400" b="1">
                <a:ea typeface="宋体" pitchFamily="2" charset="-122"/>
              </a:rPr>
              <a:t>。对任意两个人，其染色体上的</a:t>
            </a:r>
            <a:r>
              <a:rPr kumimoji="1" lang="en-US" altLang="zh-CN" sz="2400" b="1">
                <a:ea typeface="宋体" pitchFamily="2" charset="-122"/>
              </a:rPr>
              <a:t>DNA</a:t>
            </a:r>
            <a:r>
              <a:rPr kumimoji="1" lang="zh-CN" altLang="en-US" sz="2400" b="1">
                <a:ea typeface="宋体" pitchFamily="2" charset="-122"/>
              </a:rPr>
              <a:t>序列大部分相同，但总会有少数碱基对不同。这种不同是由基因的变异引起，但每个人的变异位置不尽相同。这样，对于大部分位点来说，很可能的情形是：大部分人在该位点上的碱基是一致的（没有发生变异），少数人具有不同的碱基（发生了变异）。</a:t>
            </a:r>
            <a:endParaRPr kumimoji="1" lang="zh-CN" altLang="en-US" sz="24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697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问题背景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26515" y="1141572"/>
            <a:ext cx="976427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       这就给科学家一个启示：在测序过程中，若仅仅使用一个人的样本，在很多位点上测出的结果就不具有代表性；而如果能测出多个人的序列，则有可能“整合”出一段具有人类共性的序列出来，这样更有利于研究。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       如，若要测人的某一段</a:t>
            </a:r>
            <a:r>
              <a:rPr kumimoji="1" lang="en-US" altLang="zh-CN" sz="2400" b="1">
                <a:solidFill>
                  <a:schemeClr val="tx1"/>
                </a:solidFill>
                <a:ea typeface="宋体" pitchFamily="2" charset="-122"/>
              </a:rPr>
              <a:t>DNA</a:t>
            </a: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序列，得到</a:t>
            </a:r>
            <a:r>
              <a:rPr kumimoji="1" lang="en-US" altLang="zh-CN" sz="2400" b="1">
                <a:solidFill>
                  <a:schemeClr val="tx1"/>
                </a:solidFill>
                <a:ea typeface="宋体" pitchFamily="2" charset="-122"/>
              </a:rPr>
              <a:t>4</a:t>
            </a:r>
            <a:r>
              <a:rPr kumimoji="1" lang="zh-CN" altLang="en-US" sz="2400" b="1">
                <a:solidFill>
                  <a:schemeClr val="tx1"/>
                </a:solidFill>
                <a:ea typeface="宋体" pitchFamily="2" charset="-122"/>
              </a:rPr>
              <a:t>人的样本：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AAAG</a:t>
            </a:r>
            <a:r>
              <a:rPr kumimoji="1" lang="en-US" altLang="zh-CN" sz="24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G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CCT</a:t>
            </a:r>
          </a:p>
          <a:p>
            <a:pPr defTabSz="850900">
              <a:buClr>
                <a:srgbClr val="FFFF66"/>
              </a:buClr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AGAG</a:t>
            </a:r>
            <a:r>
              <a:rPr kumimoji="1" lang="en-US" altLang="zh-CN" sz="24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C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TCT</a:t>
            </a:r>
          </a:p>
          <a:p>
            <a:pPr defTabSz="850900">
              <a:buClr>
                <a:srgbClr val="FFFF66"/>
              </a:buClr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AAGG</a:t>
            </a:r>
            <a:r>
              <a:rPr kumimoji="1" lang="en-US" altLang="zh-CN" sz="24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A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TCT</a:t>
            </a:r>
          </a:p>
          <a:p>
            <a:pPr defTabSz="850900">
              <a:buClr>
                <a:srgbClr val="FFFF66"/>
              </a:buClr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AAAC</a:t>
            </a:r>
            <a:r>
              <a:rPr kumimoji="1" lang="en-US" altLang="zh-CN" sz="24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T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TCT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整合规则：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(1)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取出在每个位置上出现次数最多的碱基作为整合后该位置上的碱基；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(2)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若某个位置出现次数最多的碱基不止一种，则优先选择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A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，其次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、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G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和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T</a:t>
            </a:r>
            <a:r>
              <a:rPr kumimoji="1" lang="zh-CN" altLang="en-US" sz="2400" b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。</a:t>
            </a:r>
            <a:endParaRPr kumimoji="1" lang="en-US" altLang="zh-CN" sz="2400" b="1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759132" y="3788256"/>
            <a:ext cx="21178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buNone/>
            </a:pPr>
            <a:r>
              <a:rPr lang="en-US" altLang="zh-CN" sz="2800" b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AAAG</a:t>
            </a: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A</a:t>
            </a:r>
            <a:r>
              <a:rPr lang="en-US" altLang="zh-CN" sz="2800" b="1">
                <a:solidFill>
                  <a:schemeClr val="tx2"/>
                </a:solidFill>
                <a:latin typeface="Courier New" pitchFamily="49" charset="0"/>
                <a:ea typeface="宋体" pitchFamily="2" charset="-122"/>
              </a:rPr>
              <a:t>TCT </a:t>
            </a:r>
          </a:p>
        </p:txBody>
      </p:sp>
    </p:spTree>
    <p:extLst>
      <p:ext uri="{BB962C8B-B14F-4D97-AF65-F5344CB8AC3E}">
        <p14:creationId xmlns:p14="http://schemas.microsoft.com/office/powerpoint/2010/main" val="39225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问题描述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55930" y="1650050"/>
            <a:ext cx="1011942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80000"/>
              </a:spcBef>
              <a:buClr>
                <a:srgbClr val="FFFF66"/>
              </a:buClr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	对一组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DNA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序列进行整合。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	输入：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行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(2&lt;=N&lt;=10)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，每一行是一个</a:t>
            </a:r>
            <a:r>
              <a:rPr kumimoji="1" lang="en-US" altLang="zh-CN" sz="3600" b="1">
                <a:solidFill>
                  <a:schemeClr val="tx1"/>
                </a:solidFill>
                <a:ea typeface="宋体" pitchFamily="2" charset="-122"/>
              </a:rPr>
              <a:t>DNA</a:t>
            </a: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序列，具有相同的长度；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pitchFamily="2" charset="-122"/>
              </a:rPr>
              <a:t>	输出：一个字符串，即整合以后的序列。</a:t>
            </a:r>
          </a:p>
        </p:txBody>
      </p:sp>
    </p:spTree>
    <p:extLst>
      <p:ext uri="{BB962C8B-B14F-4D97-AF65-F5344CB8AC3E}">
        <p14:creationId xmlns:p14="http://schemas.microsoft.com/office/powerpoint/2010/main" val="30239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10604" y="1314882"/>
            <a:ext cx="9879288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【</a:t>
            </a:r>
            <a:r>
              <a:rPr kumimoji="1" lang="zh-CN" altLang="en-US" sz="3200" b="1">
                <a:ea typeface="宋体" pitchFamily="2" charset="-122"/>
              </a:rPr>
              <a:t>数据结构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】</a:t>
            </a:r>
          </a:p>
          <a:p>
            <a:pPr>
              <a:spcBef>
                <a:spcPts val="12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（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）这组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DNA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序列如何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存放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？</a:t>
            </a:r>
          </a:p>
          <a:p>
            <a:pPr>
              <a:spcBef>
                <a:spcPts val="12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（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）如何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记录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在每个位置上各种碱基的出现次数？</a:t>
            </a:r>
          </a:p>
          <a:p>
            <a:pPr>
              <a:spcBef>
                <a:spcPts val="12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【</a:t>
            </a:r>
            <a:r>
              <a:rPr kumimoji="1" lang="zh-CN" altLang="zh-CN" sz="3200" b="1">
                <a:ea typeface="宋体" pitchFamily="2" charset="-122"/>
              </a:rPr>
              <a:t>算法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】</a:t>
            </a:r>
            <a:endParaRPr kumimoji="1" lang="zh-CN" altLang="en-US" sz="3200" b="1">
              <a:solidFill>
                <a:schemeClr val="tx1"/>
              </a:solidFill>
              <a:ea typeface="宋体" pitchFamily="2" charset="-122"/>
            </a:endParaRPr>
          </a:p>
          <a:p>
            <a:pPr>
              <a:spcBef>
                <a:spcPts val="12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（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）如何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统计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各位置上每种碱基的出现次数</a:t>
            </a:r>
          </a:p>
          <a:p>
            <a:pPr>
              <a:spcBef>
                <a:spcPts val="12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（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）如何找到出现次数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最多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的碱基？</a:t>
            </a:r>
          </a:p>
          <a:p>
            <a:pPr>
              <a:spcBef>
                <a:spcPts val="12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    （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3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）若次数相同，如何实现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ACGT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优先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顺序</a:t>
            </a:r>
          </a:p>
        </p:txBody>
      </p:sp>
    </p:spTree>
    <p:extLst>
      <p:ext uri="{BB962C8B-B14F-4D97-AF65-F5344CB8AC3E}">
        <p14:creationId xmlns:p14="http://schemas.microsoft.com/office/powerpoint/2010/main" val="325488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960550" y="1421448"/>
            <a:ext cx="8077200" cy="4078039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 = int(input())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DNAs = []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i in range(N):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dna = input()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DNAs.append(dna)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length = len(DNAs[0])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result = ''</a:t>
            </a:r>
          </a:p>
        </p:txBody>
      </p:sp>
    </p:spTree>
    <p:extLst>
      <p:ext uri="{BB962C8B-B14F-4D97-AF65-F5344CB8AC3E}">
        <p14:creationId xmlns:p14="http://schemas.microsoft.com/office/powerpoint/2010/main" val="37665258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576006" y="900156"/>
            <a:ext cx="8077200" cy="5601533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j in range(length):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num = [0.3, 0.2, 0.1, 0]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for i in range(N):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if DNAs[i][j] == 'A':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num[0] += 1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elif DNAs[i][j] == 'C':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num[1] += 1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elif DNAs[i][j] == 'G':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num[2] += 1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elif DNAs[i][j] == 'T':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num[3] += 1</a:t>
            </a:r>
          </a:p>
        </p:txBody>
      </p:sp>
    </p:spTree>
    <p:extLst>
      <p:ext uri="{BB962C8B-B14F-4D97-AF65-F5344CB8AC3E}">
        <p14:creationId xmlns:p14="http://schemas.microsoft.com/office/powerpoint/2010/main" val="22229174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81089" y="1113801"/>
            <a:ext cx="8077200" cy="509370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jianji =['A', 'C', 'G', 'T']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max = 0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for i in range(4):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if num[i] &gt; max: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max = num[i]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    c = jianji[i]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result += c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print("</a:t>
            </a:r>
            <a:r>
              <a:rPr kumimoji="1" lang="zh-CN" altLang="en-US" sz="2800" b="1">
                <a:latin typeface="Courier New" pitchFamily="49" charset="0"/>
                <a:cs typeface="Courier New" pitchFamily="49" charset="0"/>
              </a:rPr>
              <a:t>整合结果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:" + result)</a:t>
            </a:r>
          </a:p>
          <a:p>
            <a:pPr marL="342900" indent="-342900">
              <a:spcBef>
                <a:spcPts val="600"/>
              </a:spcBef>
              <a:buNone/>
            </a:pPr>
            <a:endParaRPr kumimoji="1" lang="en-US" altLang="zh-CN" sz="28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27476522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、元组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(tuple)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41465" y="1371600"/>
            <a:ext cx="9937335" cy="4251533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元组：用来记录一组有序数据项的集合</a:t>
            </a:r>
            <a:endParaRPr lang="en-US" altLang="zh-CN"/>
          </a:p>
          <a:p>
            <a:pPr lvl="1"/>
            <a:r>
              <a:rPr lang="zh-CN" altLang="en-US"/>
              <a:t>与列表类似，但元素值不可修改</a:t>
            </a:r>
            <a:endParaRPr lang="en-US" altLang="zh-CN"/>
          </a:p>
          <a:p>
            <a:pPr lvl="1"/>
            <a:r>
              <a:rPr lang="zh-CN" altLang="en-US"/>
              <a:t>有序：数据项之间按照顺序排列，可根据位置来访问元素</a:t>
            </a:r>
            <a:endParaRPr lang="en-US" altLang="zh-CN"/>
          </a:p>
          <a:p>
            <a:pPr lvl="1"/>
            <a:r>
              <a:rPr lang="zh-CN" altLang="en-US"/>
              <a:t>常用来记录一组相关的数据，如某个点的坐标、某个颜色的</a:t>
            </a:r>
            <a:r>
              <a:rPr lang="en-US" altLang="zh-CN"/>
              <a:t>RGB</a:t>
            </a:r>
            <a:r>
              <a:rPr lang="zh-CN" altLang="en-US"/>
              <a:t>值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90530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创建元组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29478" y="1268334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创建元组：</a:t>
            </a:r>
            <a:r>
              <a:rPr lang="en-US" altLang="zh-CN" sz="3200">
                <a:solidFill>
                  <a:srgbClr val="FF00FF"/>
                </a:solidFill>
              </a:rPr>
              <a:t>(e1, e2, 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1878" y="1989138"/>
            <a:ext cx="74879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pt-BR" altLang="zh-CN" sz="2800" b="1">
                <a:latin typeface="Courier New" pitchFamily="49" charset="0"/>
                <a:cs typeface="Courier New" pitchFamily="49" charset="0"/>
              </a:rPr>
              <a:t> = (40.002475329, 116.326389852)</a:t>
            </a: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pt-BR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counsellor</a:t>
            </a:r>
            <a:r>
              <a:rPr lang="pt-BR" altLang="zh-CN" sz="2800" b="1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'wolong'</a:t>
            </a:r>
            <a:r>
              <a:rPr lang="pt-BR" altLang="zh-CN" sz="2800" b="1">
                <a:latin typeface="Courier New" pitchFamily="49" charset="0"/>
                <a:cs typeface="Courier New" pitchFamily="49" charset="0"/>
              </a:rPr>
              <a:t>, 'fengchu')</a:t>
            </a:r>
            <a:endParaRPr lang="en-US" altLang="zh-CN" sz="2800" b="1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134878" y="1450134"/>
            <a:ext cx="1530271" cy="1334382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511239" y="3337402"/>
            <a:ext cx="6882581" cy="3036332"/>
            <a:chOff x="1143761" y="3657600"/>
            <a:chExt cx="6882581" cy="303633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3761" y="3657600"/>
              <a:ext cx="6882581" cy="2667000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3810000" y="6324600"/>
              <a:ext cx="21852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/>
                <a:t>西虹市首富</a:t>
              </a:r>
              <a:r>
                <a:rPr lang="en-US" altLang="zh-CN"/>
                <a:t>(</a:t>
              </a:r>
              <a:r>
                <a:rPr lang="zh-CN" altLang="en-US"/>
                <a:t>王多鱼</a:t>
              </a:r>
              <a:r>
                <a:rPr lang="en-US" altLang="zh-CN"/>
                <a:t>)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742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访问元组元素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 txBox="1">
            <a:spLocks/>
          </p:cNvSpPr>
          <p:nvPr/>
        </p:nvSpPr>
        <p:spPr bwMode="auto">
          <a:xfrm>
            <a:off x="1124502" y="127688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元组中的元素下标从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uLnTx/>
                <a:uFillTx/>
                <a:latin typeface="宋体" pitchFamily="2" charset="-122"/>
                <a:ea typeface="宋体" pitchFamily="2" charset="-122"/>
              </a:rPr>
              <a:t>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开始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time =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(19, 20, 0)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  <a:p>
            <a:pPr marL="742950" lvl="1" indent="-285750">
              <a:spcBef>
                <a:spcPts val="1800"/>
              </a:spcBef>
              <a:buFont typeface="Wingdings" pitchFamily="2" charset="2"/>
              <a:buChar char="ü"/>
              <a:defRPr/>
            </a:pP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可以访问其中第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i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个元素：</a:t>
            </a:r>
            <a:r>
              <a:rPr lang="en-US" altLang="zh-CN" sz="3200" b="1" kern="0">
                <a:latin typeface="宋体" pitchFamily="2" charset="-122"/>
                <a:ea typeface="宋体" pitchFamily="2" charset="-122"/>
              </a:rPr>
              <a:t>time[i]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 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860049"/>
              </p:ext>
            </p:extLst>
          </p:nvPr>
        </p:nvGraphicFramePr>
        <p:xfrm>
          <a:off x="2953302" y="2770400"/>
          <a:ext cx="4495799" cy="640080"/>
        </p:xfrm>
        <a:graphic>
          <a:graphicData uri="http://schemas.openxmlformats.org/drawingml/2006/table">
            <a:tbl>
              <a:tblPr/>
              <a:tblGrid>
                <a:gridCol w="149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95314" y="348668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0      1      2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9123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元组元素不可修改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 txBox="1">
            <a:spLocks/>
          </p:cNvSpPr>
          <p:nvPr/>
        </p:nvSpPr>
        <p:spPr bwMode="auto">
          <a:xfrm>
            <a:off x="1124502" y="127688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l"/>
              <a:defRPr/>
            </a:pP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元组元素的值不能修改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time =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(19, 20, 0)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87445"/>
              </p:ext>
            </p:extLst>
          </p:nvPr>
        </p:nvGraphicFramePr>
        <p:xfrm>
          <a:off x="2953302" y="2770400"/>
          <a:ext cx="4495799" cy="640080"/>
        </p:xfrm>
        <a:graphic>
          <a:graphicData uri="http://schemas.openxmlformats.org/drawingml/2006/table">
            <a:tbl>
              <a:tblPr/>
              <a:tblGrid>
                <a:gridCol w="149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95314" y="348668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0      1      2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00323" y="4185943"/>
            <a:ext cx="25506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ker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time[1]</a:t>
            </a:r>
            <a:r>
              <a:rPr lang="zh-CN" altLang="en-US" sz="3600" b="1" ker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600" b="1" ker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30</a:t>
            </a:r>
            <a:endParaRPr lang="zh-CN" altLang="en-US" sz="3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3227" y="5269003"/>
            <a:ext cx="7961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TypeError: 'tuple' object does not support item assignment</a:t>
            </a:r>
            <a:endParaRPr lang="zh-CN" altLang="en-US" sz="2400" b="1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3003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元组的函数和操作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11590" y="121920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t = (10, 20, 30, 40)</a:t>
            </a:r>
            <a:endParaRPr lang="zh-CN" altLang="en-US" sz="32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89020"/>
              </p:ext>
            </p:extLst>
          </p:nvPr>
        </p:nvGraphicFramePr>
        <p:xfrm>
          <a:off x="1516190" y="2026920"/>
          <a:ext cx="8627668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3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函数或操作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len(t)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元素的个数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关系比较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&gt;,</a:t>
                      </a:r>
                      <a:r>
                        <a:rPr lang="en-US" altLang="zh-CN" sz="28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&gt;=, &lt;, &lt;=, !=, ==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 or False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 / not 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 in t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元素是否出现在元组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max(t)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最大值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最小值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sum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sum(list)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求和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9001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元组的函数和操作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11590" y="1219200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t = (10, 20, 30, 40)</a:t>
            </a:r>
            <a:endParaRPr lang="zh-CN" altLang="en-US" sz="320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928655"/>
              </p:ext>
            </p:extLst>
          </p:nvPr>
        </p:nvGraphicFramePr>
        <p:xfrm>
          <a:off x="1515598" y="2026920"/>
          <a:ext cx="8602622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1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函数或操作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sorted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l=sorted(t)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 = [10,20,30,40]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返回一个排序的列表，原元组不变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index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i=t.index(30)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 = 2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首次出现的元素下标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t=t+(50</a:t>
                      </a:r>
                      <a:r>
                        <a:rPr lang="en-US" altLang="zh-CN" sz="2800" b="1">
                          <a:solidFill>
                            <a:srgbClr val="00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 = (10, 20, 30, 40, 50)</a:t>
                      </a:r>
                      <a:endParaRPr lang="zh-CN" altLang="en-US" sz="28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t[m:n]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t[1:3]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(20, 30)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子元组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87950" y="5131915"/>
            <a:ext cx="83935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append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pop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remove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extend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insert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reverse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sort</a:t>
            </a:r>
            <a:r>
              <a:rPr lang="zh-CN" altLang="en-US" sz="28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等修改对象内容的列表成员函数不能使用</a:t>
            </a:r>
          </a:p>
        </p:txBody>
      </p:sp>
    </p:spTree>
    <p:extLst>
      <p:ext uri="{BB962C8B-B14F-4D97-AF65-F5344CB8AC3E}">
        <p14:creationId xmlns:p14="http://schemas.microsoft.com/office/powerpoint/2010/main" val="2389332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变量名作为元组元素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 txBox="1">
            <a:spLocks/>
          </p:cNvSpPr>
          <p:nvPr/>
        </p:nvSpPr>
        <p:spPr bwMode="auto">
          <a:xfrm>
            <a:off x="962127" y="1191420"/>
            <a:ext cx="9703023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有值的变量名可作为元组元素，用于创建元组，随后元组与</a:t>
            </a:r>
            <a:r>
              <a:rPr lang="zh-CN" altLang="en-US" sz="3200" b="1" kern="0">
                <a:latin typeface="宋体" pitchFamily="2" charset="-122"/>
                <a:ea typeface="宋体" pitchFamily="2" charset="-122"/>
              </a:rPr>
              <a:t>这些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变量无关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h = 19</a:t>
            </a: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	m = 20</a:t>
            </a: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	s = 0</a:t>
            </a: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	time = </a:t>
            </a: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(h, m, s)  </a:t>
            </a:r>
            <a:r>
              <a:rPr lang="en-US" altLang="zh-CN" sz="24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lang="zh-CN" altLang="en-US" sz="2400" b="1" kern="0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随后变量与元组</a:t>
            </a:r>
            <a:r>
              <a:rPr lang="zh-CN" altLang="en-US" sz="2400" b="1" ker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互不影响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</p:txBody>
      </p:sp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399"/>
              </p:ext>
            </p:extLst>
          </p:nvPr>
        </p:nvGraphicFramePr>
        <p:xfrm>
          <a:off x="2790928" y="4676320"/>
          <a:ext cx="4495799" cy="640080"/>
        </p:xfrm>
        <a:graphic>
          <a:graphicData uri="http://schemas.openxmlformats.org/drawingml/2006/table">
            <a:tbl>
              <a:tblPr/>
              <a:tblGrid>
                <a:gridCol w="149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EB641B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ＭＳ Ｐゴシック" pitchFamily="34" charset="-128"/>
                          <a:cs typeface="Courier New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32940" y="5392600"/>
            <a:ext cx="4106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0      1      2</a:t>
            </a:r>
            <a:endParaRPr lang="zh-CN" altLang="en-US" sz="28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2154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用元组赋值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 txBox="1">
            <a:spLocks/>
          </p:cNvSpPr>
          <p:nvPr/>
        </p:nvSpPr>
        <p:spPr bwMode="auto">
          <a:xfrm>
            <a:off x="1611594" y="1353795"/>
            <a:ext cx="8534400" cy="408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l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宋体" pitchFamily="2" charset="-122"/>
                <a:ea typeface="宋体" pitchFamily="2" charset="-122"/>
              </a:rPr>
              <a:t>用元组可以一次性给多个变量赋值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600"/>
              </a:spcBef>
              <a:buNone/>
              <a:defRPr/>
            </a:pPr>
            <a:r>
              <a: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(h,</a:t>
            </a:r>
            <a:r>
              <a:rPr kumimoji="0" lang="en-US" altLang="zh-CN" sz="3600" b="1" i="0" u="none" strike="noStrike" kern="0" cap="none" spc="0" normalizeH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 m, s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) = (19, 20, 0)</a:t>
            </a:r>
          </a:p>
          <a:p>
            <a:pPr marL="742950" lvl="1" indent="-285750">
              <a:spcBef>
                <a:spcPts val="0"/>
              </a:spcBef>
              <a:buNone/>
              <a:defRPr/>
            </a:pPr>
            <a:endParaRPr lang="en-US" altLang="zh-CN" sz="3200" b="1" kern="0"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	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等价于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	h = 19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uLnTx/>
                <a:uFillTx/>
                <a:latin typeface="Courier New" pitchFamily="49" charset="0"/>
                <a:ea typeface="ＭＳ Ｐゴシック" pitchFamily="34" charset="-128"/>
              </a:rPr>
              <a:t>	m = 20</a:t>
            </a:r>
          </a:p>
          <a:p>
            <a:pPr marL="742950" lvl="1" indent="-285750">
              <a:spcBef>
                <a:spcPts val="0"/>
              </a:spcBef>
              <a:buNone/>
              <a:defRPr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	s = 0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itchFamily="49" charset="0"/>
              <a:ea typeface="ＭＳ Ｐゴシック" pitchFamily="34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"/>
              <a:tabLst/>
              <a:defRPr/>
            </a:pPr>
            <a:endParaRPr kumimoji="0" lang="en-US" altLang="zh-CN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itchFamily="49" charset="-122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416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分析运行结果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86642" y="1514588"/>
            <a:ext cx="6019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4000" b="1" kern="0" dirty="0">
                <a:latin typeface="Courier New" pitchFamily="49" charset="0"/>
                <a:ea typeface="ＭＳ Ｐゴシック" pitchFamily="34" charset="-128"/>
              </a:rPr>
              <a:t>x = 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4000" b="1" kern="0" dirty="0">
                <a:latin typeface="Courier New" pitchFamily="49" charset="0"/>
                <a:ea typeface="ＭＳ Ｐゴシック" pitchFamily="34" charset="-128"/>
              </a:rPr>
              <a:t>y = 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4000" b="1" kern="0" dirty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(x, y) = (y, x)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4000" b="1" kern="0" dirty="0">
                <a:latin typeface="Courier New" pitchFamily="49" charset="0"/>
                <a:ea typeface="ＭＳ Ｐゴシック" pitchFamily="34" charset="-128"/>
              </a:rPr>
              <a:t>print(x)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4000" b="1" kern="0" dirty="0">
                <a:latin typeface="Courier New" pitchFamily="49" charset="0"/>
                <a:ea typeface="ＭＳ Ｐゴシック" pitchFamily="34" charset="-128"/>
              </a:rPr>
              <a:t>print(y)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250654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用元组作为参数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03421" y="1200685"/>
            <a:ext cx="8077200" cy="3785652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def DayDreaming(t):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t = (1800, 2, 1)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print('In DayDreaming:' + str(t))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4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info = (6000, 0, 0) </a:t>
            </a:r>
            <a:r>
              <a:rPr kumimoji="1" lang="en-US" altLang="zh-CN" sz="24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#salary,cars,houses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DayDreaming(info)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    print('In main:' + str(info))</a:t>
            </a:r>
          </a:p>
          <a:p>
            <a:pPr marL="342900" indent="-342900">
              <a:spcBef>
                <a:spcPts val="0"/>
              </a:spcBef>
              <a:buNone/>
            </a:pPr>
            <a:endParaRPr kumimoji="1" lang="en-US" altLang="zh-CN" sz="2400" b="1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4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021" y="3905249"/>
            <a:ext cx="2943225" cy="21621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1898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函数返回元组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49122" y="1157236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可使用元组从函数中返回多个值</a:t>
            </a:r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868121" y="1995436"/>
            <a:ext cx="1041232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quotient_and_remainder(x,y):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q = x // y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#integer division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r = x % y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return(q, r)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(quot,rem) = quotient_and_remainder(30,7)</a:t>
            </a: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例题：跳绳比赛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223801" y="1241776"/>
            <a:ext cx="931316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黑体" pitchFamily="49" charset="-122"/>
              </a:rPr>
              <a:t>问题描述：</a:t>
            </a: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	清华附小即将举行跳绳比赛，即一分钟内最多能跳多少下。班主任老师让每一位同学回家后要练习跳绳技能，练习后自己进行一次模拟比赛</a:t>
            </a:r>
            <a:r>
              <a:rPr kumimoji="1" lang="zh-CN" altLang="en-US" sz="2800" b="1">
                <a:ea typeface="宋体" pitchFamily="2" charset="-122"/>
              </a:rPr>
              <a:t>。</a:t>
            </a:r>
            <a:endParaRPr kumimoji="1" lang="zh-CN" altLang="en-US" sz="2800" b="1">
              <a:solidFill>
                <a:schemeClr val="tx1"/>
              </a:solidFill>
              <a:ea typeface="宋体" pitchFamily="2" charset="-122"/>
            </a:endParaRPr>
          </a:p>
          <a:p>
            <a:pPr defTabSz="850900">
              <a:spcBef>
                <a:spcPct val="50000"/>
              </a:spcBef>
              <a:buClr>
                <a:srgbClr val="FFFF66"/>
              </a:buClr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	</a:t>
            </a:r>
            <a:r>
              <a:rPr kumimoji="1" lang="zh-CN" altLang="en-US" sz="2800" b="1">
                <a:ea typeface="宋体" pitchFamily="2" charset="-122"/>
              </a:rPr>
              <a:t>每天晚上学生要在微信群上报模拟比赛的成绩，格式为（学生姓名，跳绳次数）。一周过去了，老师请你帮忙编写一个程序，统计班级跳绳的最高成绩和最低成绩，以及参与练习的学生人数。</a:t>
            </a:r>
            <a:endParaRPr kumimoji="1" lang="zh-CN" altLang="en-US" sz="2800" b="1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64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main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71779" y="1257659"/>
            <a:ext cx="10217211" cy="4493538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records = 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('li',90),('bai',95),('li',98)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(high, low, N) = statistics(records)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print('high score: ' + str(high))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print('low score: ' + str(low))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print('student number: ' + str(N))</a:t>
            </a:r>
          </a:p>
          <a:p>
            <a:pPr marL="342900" indent="-342900">
              <a:spcBef>
                <a:spcPts val="18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25019134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statistics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的基本思路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56298" y="1933781"/>
            <a:ext cx="716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((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,</a:t>
            </a:r>
            <a:r>
              <a:rPr lang="en-US" altLang="zh-CN" sz="3600" b="1" kern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), (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,</a:t>
            </a:r>
            <a:r>
              <a:rPr lang="en-US" altLang="zh-CN" sz="3600" b="1" kern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), (</a:t>
            </a:r>
            <a:r>
              <a:rPr lang="en-US" altLang="zh-CN" sz="3600" b="1" ker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,</a:t>
            </a:r>
            <a:r>
              <a:rPr lang="en-US" altLang="zh-CN" sz="3600" b="1" kern="0">
                <a:solidFill>
                  <a:srgbClr val="0000FF"/>
                </a:solidFill>
                <a:latin typeface="Courier New" pitchFamily="49" charset="0"/>
                <a:ea typeface="ＭＳ Ｐゴシック" pitchFamily="34" charset="-128"/>
              </a:rPr>
              <a:t>█</a:t>
            </a: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),...)</a:t>
            </a:r>
          </a:p>
        </p:txBody>
      </p:sp>
      <p:sp>
        <p:nvSpPr>
          <p:cNvPr id="5" name="TextBox 4"/>
          <p:cNvSpPr txBox="1"/>
          <p:nvPr/>
        </p:nvSpPr>
        <p:spPr>
          <a:xfrm rot="-2700000">
            <a:off x="3105215" y="1427967"/>
            <a:ext cx="702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ints</a:t>
            </a:r>
            <a:endParaRPr lang="zh-CN" altLang="en-US" sz="280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-2700000">
            <a:off x="2397044" y="1306926"/>
            <a:ext cx="1141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strings</a:t>
            </a:r>
            <a:endParaRPr lang="zh-CN" altLang="en-US" sz="28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71815" y="242324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li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94698" y="2423247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bai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2314" y="242324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li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4055" y="242771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90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04298" y="242771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95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4055" y="242771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98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956298" y="3305381"/>
            <a:ext cx="7162800" cy="955596"/>
            <a:chOff x="990600" y="3544669"/>
            <a:chExt cx="7162800" cy="955596"/>
          </a:xfrm>
        </p:grpSpPr>
        <p:sp>
          <p:nvSpPr>
            <p:cNvPr id="15" name="矩形 14"/>
            <p:cNvSpPr/>
            <p:nvPr/>
          </p:nvSpPr>
          <p:spPr>
            <a:xfrm>
              <a:off x="990600" y="3544669"/>
              <a:ext cx="71628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scores(</a:t>
              </a:r>
              <a:r>
                <a:rPr lang="en-US" altLang="zh-CN" sz="3600" b="1" kern="0">
                  <a:solidFill>
                    <a:srgbClr val="0000FF"/>
                  </a:solidFill>
                  <a:latin typeface="Courier New" pitchFamily="49" charset="0"/>
                  <a:ea typeface="ＭＳ Ｐゴシック" pitchFamily="34" charset="-128"/>
                </a:rPr>
                <a:t>█</a:t>
              </a: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, </a:t>
              </a:r>
              <a:r>
                <a:rPr lang="en-US" altLang="zh-CN" sz="3600" b="1" kern="0">
                  <a:solidFill>
                    <a:srgbClr val="0000FF"/>
                  </a:solidFill>
                  <a:latin typeface="Courier New" pitchFamily="49" charset="0"/>
                  <a:ea typeface="ＭＳ Ｐゴシック" pitchFamily="34" charset="-128"/>
                </a:rPr>
                <a:t>█</a:t>
              </a: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, </a:t>
              </a:r>
              <a:r>
                <a:rPr lang="en-US" altLang="zh-CN" sz="3600" b="1" kern="0">
                  <a:solidFill>
                    <a:srgbClr val="0000FF"/>
                  </a:solidFill>
                  <a:latin typeface="Courier New" pitchFamily="49" charset="0"/>
                  <a:ea typeface="ＭＳ Ｐゴシック" pitchFamily="34" charset="-128"/>
                </a:rPr>
                <a:t>█</a:t>
              </a: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, ... 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36557" y="403860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90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33800" y="403413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95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572000" y="403413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98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956298" y="4448381"/>
            <a:ext cx="7162800" cy="955596"/>
            <a:chOff x="990600" y="4687669"/>
            <a:chExt cx="7162800" cy="955596"/>
          </a:xfrm>
        </p:grpSpPr>
        <p:sp>
          <p:nvSpPr>
            <p:cNvPr id="20" name="矩形 19"/>
            <p:cNvSpPr/>
            <p:nvPr/>
          </p:nvSpPr>
          <p:spPr>
            <a:xfrm>
              <a:off x="990600" y="4687669"/>
              <a:ext cx="71628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people(</a:t>
              </a:r>
              <a:r>
                <a:rPr lang="en-US" altLang="zh-CN" sz="3600" b="1" kern="0">
                  <a:solidFill>
                    <a:srgbClr val="FF0000"/>
                  </a:solidFill>
                  <a:latin typeface="Courier New" pitchFamily="49" charset="0"/>
                  <a:ea typeface="ＭＳ Ｐゴシック" pitchFamily="34" charset="-128"/>
                </a:rPr>
                <a:t>█</a:t>
              </a: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, </a:t>
              </a:r>
              <a:r>
                <a:rPr lang="en-US" altLang="zh-CN" sz="3600" b="1" kern="0">
                  <a:solidFill>
                    <a:srgbClr val="FF0000"/>
                  </a:solidFill>
                  <a:latin typeface="Courier New" pitchFamily="49" charset="0"/>
                  <a:ea typeface="ＭＳ Ｐゴシック" pitchFamily="34" charset="-128"/>
                </a:rPr>
                <a:t>█</a:t>
              </a:r>
              <a:r>
                <a:rPr lang="en-US" altLang="zh-CN" sz="3600" b="1" kern="0">
                  <a:latin typeface="Courier New" pitchFamily="49" charset="0"/>
                  <a:ea typeface="ＭＳ Ｐゴシック" pitchFamily="34" charset="-128"/>
                </a:rPr>
                <a:t>, ... 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71800" y="5181600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li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72165" y="5181600"/>
              <a:ext cx="5950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bai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 bwMode="auto">
          <a:xfrm>
            <a:off x="3404098" y="2540643"/>
            <a:ext cx="609600" cy="801469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 flipH="1">
            <a:off x="4928098" y="2633512"/>
            <a:ext cx="381000" cy="78480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直接箭头连接符 24"/>
          <p:cNvCxnSpPr/>
          <p:nvPr/>
        </p:nvCxnSpPr>
        <p:spPr bwMode="auto">
          <a:xfrm flipH="1">
            <a:off x="5842498" y="2709712"/>
            <a:ext cx="1219202" cy="70860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>
            <a:off x="2794498" y="2769243"/>
            <a:ext cx="1143000" cy="171586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直接箭头连接符 26"/>
          <p:cNvCxnSpPr/>
          <p:nvPr/>
        </p:nvCxnSpPr>
        <p:spPr bwMode="auto">
          <a:xfrm>
            <a:off x="4699498" y="2808712"/>
            <a:ext cx="228600" cy="171586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3505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statistics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5086" y="883060"/>
            <a:ext cx="9174622" cy="5601533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statistics(aTuple):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scores = ()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people = ()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for t in aTuple: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scores = scores + (t[1]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if t[0] not in people: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    people = people + (t[0],)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max_s = max(scores)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min_s = min(scores)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Num = len(people)</a:t>
            </a:r>
          </a:p>
          <a:p>
            <a:pPr marL="342900" indent="-342900">
              <a:spcBef>
                <a:spcPts val="6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return(max_s, min_s, Num)</a:t>
            </a:r>
          </a:p>
        </p:txBody>
      </p:sp>
    </p:spTree>
    <p:extLst>
      <p:ext uri="{BB962C8B-B14F-4D97-AF65-F5344CB8AC3E}">
        <p14:creationId xmlns:p14="http://schemas.microsoft.com/office/powerpoint/2010/main" val="9287248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、集合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(set)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44017" y="1241982"/>
            <a:ext cx="9501493" cy="4355514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：数学中集合概念的抽象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dirty="0"/>
              <a:t>无重复元素</a:t>
            </a:r>
            <a:br>
              <a:rPr lang="en-US" altLang="zh-CN" dirty="0"/>
            </a:b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 3, 1, 4, 1, 5 } == { 3, 1, 4, 5 }</a:t>
            </a:r>
          </a:p>
          <a:p>
            <a:pPr lvl="1">
              <a:spcBef>
                <a:spcPts val="1200"/>
              </a:spcBef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无序，不记录每个元素添加的先后顺序，也不能查询某个元素的</a:t>
            </a:r>
            <a:r>
              <a:rPr lang="zh-CN" altLang="en-US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下标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或者用下标来访问某个元素</a:t>
            </a:r>
            <a:br>
              <a:rPr lang="en-US" altLang="zh-CN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 1, 2, 3 } == { 3, 2, 1 }</a:t>
            </a:r>
          </a:p>
          <a:p>
            <a:pPr lvl="1">
              <a:spcBef>
                <a:spcPts val="1200"/>
              </a:spcBef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2024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集合的创建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61110" y="1734794"/>
            <a:ext cx="7696200" cy="39624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创建集合：</a:t>
            </a:r>
            <a:r>
              <a:rPr lang="en-US" altLang="zh-CN">
                <a:solidFill>
                  <a:srgbClr val="FF00FF"/>
                </a:solidFill>
              </a:rPr>
              <a:t>{e1, e2, …}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1164" y="3021140"/>
            <a:ext cx="83311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team = {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'tang','sun','zhu','sha'</a:t>
            </a: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}</a:t>
            </a:r>
            <a:endParaRPr lang="en-US" altLang="zh-CN" sz="3200" b="1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291" y="2152346"/>
            <a:ext cx="2233256" cy="22332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57110" y="4173545"/>
            <a:ext cx="1667101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800"/>
              <a:t>高斯无法证明的定理的集合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710" y="4477486"/>
            <a:ext cx="5612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empty = set() </a:t>
            </a:r>
            <a:r>
              <a:rPr lang="pt-BR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不能写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384276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nimBg="1"/>
      <p:bldP spid="9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从其他集合创建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300385" y="1379434"/>
            <a:ext cx="7696200" cy="39624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从列表、元组或字符串来创建集合</a:t>
            </a:r>
            <a:endParaRPr lang="en-US" altLang="zh-CN" sz="3200">
              <a:solidFill>
                <a:srgbClr val="FF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8985" y="2446234"/>
            <a:ext cx="4875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s1 = 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set</a:t>
            </a: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[1, 1, 0]</a:t>
            </a: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)</a:t>
            </a:r>
            <a:endParaRPr lang="en-US" altLang="zh-CN" sz="32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8985" y="351303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s2 = set((0,0))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6361431" y="2751034"/>
            <a:ext cx="806354" cy="0"/>
          </a:xfrm>
          <a:prstGeom prst="straightConnector1">
            <a:avLst/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203982" y="2446234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0, 1}</a:t>
            </a: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5366511" y="3817834"/>
            <a:ext cx="806354" cy="0"/>
          </a:xfrm>
          <a:prstGeom prst="straightConnector1">
            <a:avLst/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200516" y="3513034"/>
            <a:ext cx="92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8985" y="4452259"/>
            <a:ext cx="9712915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s3 = set('</a:t>
            </a:r>
            <a:r>
              <a:rPr lang="zh-CN" altLang="en-US" sz="3200" b="1">
                <a:latin typeface="Courier New" pitchFamily="49" charset="0"/>
                <a:cs typeface="Courier New" pitchFamily="49" charset="0"/>
              </a:rPr>
              <a:t>东边日出西边雨，道是无晴却有晴。</a:t>
            </a: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')</a:t>
            </a:r>
          </a:p>
          <a:p>
            <a:pPr>
              <a:spcBef>
                <a:spcPts val="1800"/>
              </a:spcBef>
              <a:buNone/>
            </a:pPr>
            <a:r>
              <a:rPr lang="pt-BR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len(s3)</a:t>
            </a: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72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  <p:bldP spid="9" grpId="0" build="p"/>
      <p:bldP spid="11" grpId="0" build="p"/>
      <p:bldP spid="12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数学集合的操作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00188" y="1142286"/>
            <a:ext cx="6019800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odd = {1, 3, 5}</a:t>
            </a:r>
          </a:p>
          <a:p>
            <a:pPr>
              <a:buNone/>
            </a:pPr>
            <a:r>
              <a:rPr lang="en-US" altLang="zh-CN" sz="3200" b="1" kern="0">
                <a:latin typeface="Courier New" pitchFamily="49" charset="0"/>
                <a:ea typeface="ＭＳ Ｐゴシック" pitchFamily="34" charset="-128"/>
              </a:rPr>
              <a:t>prime = {2, 3, 5}</a:t>
            </a:r>
            <a:endParaRPr lang="zh-CN" altLang="en-US" sz="32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992213"/>
              </p:ext>
            </p:extLst>
          </p:nvPr>
        </p:nvGraphicFramePr>
        <p:xfrm>
          <a:off x="982772" y="2545504"/>
          <a:ext cx="73750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8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数学集合操作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Python</a:t>
                      </a:r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语句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属于 ∈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</a:t>
                      </a:r>
                      <a:r>
                        <a:rPr lang="en-US" altLang="zh-CN" sz="3200" b="1">
                          <a:solidFill>
                            <a:srgbClr val="FF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</a:t>
                      </a: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prime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False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并集 ∪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odd </a:t>
                      </a:r>
                      <a:r>
                        <a:rPr lang="en-US" altLang="zh-CN" sz="3200" b="1">
                          <a:solidFill>
                            <a:srgbClr val="FF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|</a:t>
                      </a:r>
                      <a:r>
                        <a:rPr lang="en-US" altLang="zh-CN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prime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{1, 2, 3, 5}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交集 ∩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odd</a:t>
                      </a:r>
                      <a:r>
                        <a:rPr lang="en-US" altLang="zh-CN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3200" b="1" baseline="0">
                          <a:solidFill>
                            <a:srgbClr val="FF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&amp;</a:t>
                      </a:r>
                      <a:r>
                        <a:rPr lang="en-US" altLang="zh-CN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prime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{3, 5}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差集</a:t>
                      </a:r>
                      <a:r>
                        <a:rPr lang="zh-CN" altLang="en-US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odd </a:t>
                      </a:r>
                      <a:r>
                        <a:rPr lang="en-US" altLang="zh-CN" sz="3200" b="1">
                          <a:solidFill>
                            <a:srgbClr val="FF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</a:t>
                      </a: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prime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{1} 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对称差集</a:t>
                      </a:r>
                      <a:r>
                        <a:rPr lang="zh-CN" altLang="en-US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32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odd </a:t>
                      </a:r>
                      <a:r>
                        <a:rPr lang="en-US" altLang="zh-CN" sz="3200" b="1">
                          <a:solidFill>
                            <a:srgbClr val="FF00FF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^</a:t>
                      </a: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prime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{1, 2} 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93" y="3433284"/>
            <a:ext cx="1119909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93" y="4203529"/>
            <a:ext cx="1106286" cy="728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93" y="5697869"/>
            <a:ext cx="1078344" cy="732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602" y="4931646"/>
            <a:ext cx="1152164" cy="761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650409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修改集合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3029" y="1353793"/>
            <a:ext cx="601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600" b="1" kern="0">
                <a:latin typeface="Courier New" pitchFamily="49" charset="0"/>
                <a:ea typeface="ＭＳ Ｐゴシック" pitchFamily="34" charset="-128"/>
              </a:rPr>
              <a:t>s = {2, 3, 5}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096386"/>
              </p:ext>
            </p:extLst>
          </p:nvPr>
        </p:nvGraphicFramePr>
        <p:xfrm>
          <a:off x="1068227" y="2448511"/>
          <a:ext cx="97934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成员函数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(s</a:t>
                      </a:r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的值</a:t>
                      </a: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add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添加一个元素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s.add(7)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3, 5, 7}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remove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删除一个元素找不到时报错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s.remove(3)</a:t>
                      </a:r>
                    </a:p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s.remove(4)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5}</a:t>
                      </a:r>
                    </a:p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Error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discard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删除一个元素找不到时不报错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s.discard(3)</a:t>
                      </a:r>
                    </a:p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s.discard(4)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5} </a:t>
                      </a:r>
                    </a:p>
                    <a:p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{2, 3, 5}</a:t>
                      </a:r>
                      <a:endParaRPr lang="zh-CN" altLang="en-US" sz="32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35276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集合访问举例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23775" y="961396"/>
            <a:ext cx="7315200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2913" indent="-442913">
              <a:spcBef>
                <a:spcPts val="1200"/>
              </a:spcBef>
              <a:buFont typeface="Times New Roman" pitchFamily="18" charset="0"/>
              <a:buChar char="☺"/>
            </a:pPr>
            <a:r>
              <a:rPr kumimoji="1"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只能添加不同的元素到集合中</a:t>
            </a:r>
            <a:endParaRPr kumimoji="1" lang="en-US" altLang="zh-CN" sz="3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2913" indent="-442913">
              <a:spcBef>
                <a:spcPts val="1200"/>
              </a:spcBef>
              <a:buFont typeface="Times New Roman" pitchFamily="18" charset="0"/>
              <a:buChar char="☺"/>
            </a:pPr>
            <a:r>
              <a:rPr kumimoji="1" lang="zh-CN" altLang="en-US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集合元素的遍历顺序</a:t>
            </a:r>
            <a:r>
              <a:rPr kumimoji="1" lang="en-US" altLang="zh-CN" sz="3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….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96410" y="2323736"/>
            <a:ext cx="5004189" cy="40318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NZ" altLang="zh-CN" sz="3200" b="1" dirty="0">
                <a:latin typeface="Courier New" pitchFamily="49" charset="0"/>
                <a:ea typeface="宋体" charset="-122"/>
              </a:rPr>
              <a:t>words = set()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 err="1">
                <a:latin typeface="Courier New" pitchFamily="49" charset="0"/>
                <a:ea typeface="宋体" charset="-122"/>
              </a:rPr>
              <a:t>words.add</a:t>
            </a:r>
            <a:r>
              <a:rPr lang="en-NZ" altLang="zh-CN" sz="3200" b="1" dirty="0">
                <a:latin typeface="Courier New" pitchFamily="49" charset="0"/>
                <a:ea typeface="宋体" charset="-122"/>
              </a:rPr>
              <a:t>("Bats")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 err="1">
                <a:latin typeface="Courier New" pitchFamily="49" charset="0"/>
                <a:ea typeface="宋体" charset="-122"/>
              </a:rPr>
              <a:t>words.add</a:t>
            </a:r>
            <a:r>
              <a:rPr lang="en-NZ" altLang="zh-CN" sz="3200" b="1" dirty="0">
                <a:latin typeface="Courier New" pitchFamily="49" charset="0"/>
                <a:ea typeface="宋体" charset="-122"/>
              </a:rPr>
              <a:t>("Ants")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 err="1">
                <a:latin typeface="Courier New" pitchFamily="49" charset="0"/>
                <a:ea typeface="宋体" charset="-122"/>
              </a:rPr>
              <a:t>words.add</a:t>
            </a:r>
            <a:r>
              <a:rPr lang="en-NZ" altLang="zh-CN" sz="3200" b="1" dirty="0">
                <a:latin typeface="Courier New" pitchFamily="49" charset="0"/>
                <a:ea typeface="宋体" charset="-122"/>
              </a:rPr>
              <a:t>("Crabs")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 err="1">
                <a:latin typeface="Courier New" pitchFamily="49" charset="0"/>
                <a:ea typeface="宋体" charset="-122"/>
              </a:rPr>
              <a:t>words.add</a:t>
            </a:r>
            <a:r>
              <a:rPr lang="en-NZ" altLang="zh-CN" sz="3200" b="1" dirty="0">
                <a:latin typeface="Courier New" pitchFamily="49" charset="0"/>
                <a:ea typeface="宋体" charset="-122"/>
              </a:rPr>
              <a:t>("Ants")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>
                <a:latin typeface="Courier New" pitchFamily="49" charset="0"/>
                <a:ea typeface="宋体" charset="-122"/>
              </a:rPr>
              <a:t>print(</a:t>
            </a:r>
            <a:r>
              <a:rPr lang="en-NZ" altLang="zh-CN" sz="3200" b="1" dirty="0" err="1">
                <a:latin typeface="Courier New" pitchFamily="49" charset="0"/>
                <a:ea typeface="宋体" charset="-122"/>
              </a:rPr>
              <a:t>len</a:t>
            </a:r>
            <a:r>
              <a:rPr lang="en-NZ" altLang="zh-CN" sz="3200" b="1" dirty="0">
                <a:latin typeface="Courier New" pitchFamily="49" charset="0"/>
                <a:ea typeface="宋体" charset="-122"/>
              </a:rPr>
              <a:t>(words))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>
                <a:latin typeface="Courier New" pitchFamily="49" charset="0"/>
                <a:ea typeface="宋体" charset="-122"/>
              </a:rPr>
              <a:t>for word in words:</a:t>
            </a:r>
          </a:p>
          <a:p>
            <a:pPr>
              <a:spcBef>
                <a:spcPts val="0"/>
              </a:spcBef>
              <a:buNone/>
            </a:pPr>
            <a:r>
              <a:rPr lang="en-NZ" altLang="zh-CN" sz="3200" b="1" dirty="0">
                <a:latin typeface="Courier New" pitchFamily="49" charset="0"/>
                <a:ea typeface="宋体" charset="-122"/>
              </a:rPr>
              <a:t>    print(word)</a:t>
            </a:r>
          </a:p>
        </p:txBody>
      </p: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943609" y="5265636"/>
            <a:ext cx="866775" cy="519112"/>
            <a:chOff x="2607" y="3466"/>
            <a:chExt cx="546" cy="32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880" y="3466"/>
              <a:ext cx="2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NZ" altLang="zh-CN" sz="2800" b="1">
                  <a:solidFill>
                    <a:srgbClr val="FF7A00"/>
                  </a:solidFill>
                  <a:ea typeface="宋体" charset="-122"/>
                </a:rPr>
                <a:t>?</a:t>
              </a:r>
              <a:endParaRPr lang="en-US" altLang="zh-CN" sz="2800" b="1">
                <a:solidFill>
                  <a:srgbClr val="FF7A00"/>
                </a:solidFill>
                <a:ea typeface="宋体" charset="-122"/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2607" y="3657"/>
              <a:ext cx="31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098724" y="3020938"/>
            <a:ext cx="381425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19100" indent="-41910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AutoNum type="alphaLcParenR"/>
            </a:pPr>
            <a:r>
              <a:rPr kumimoji="1" lang="en-NZ" altLang="zh-CN" sz="2800">
                <a:latin typeface="Tahoma" pitchFamily="34" charset="0"/>
                <a:ea typeface="宋体" charset="-122"/>
              </a:rPr>
              <a:t>Bats, Ants, Crabs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AutoNum type="alphaLcParenR"/>
            </a:pPr>
            <a:r>
              <a:rPr kumimoji="1" lang="en-NZ" altLang="zh-CN" sz="2800">
                <a:latin typeface="Tahoma" pitchFamily="34" charset="0"/>
                <a:ea typeface="宋体" charset="-122"/>
              </a:rPr>
              <a:t>Ants, Bats, Crabs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AutoNum type="alphaLcParenR"/>
            </a:pPr>
            <a:r>
              <a:rPr kumimoji="1" lang="en-NZ" altLang="zh-CN" sz="2800">
                <a:latin typeface="Tahoma" pitchFamily="34" charset="0"/>
                <a:ea typeface="宋体" charset="-122"/>
              </a:rPr>
              <a:t>Crabs, Bats, Ants</a:t>
            </a:r>
          </a:p>
          <a:p>
            <a:pPr algn="l"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AutoNum type="alphaLcParenR"/>
            </a:pPr>
            <a:r>
              <a:rPr kumimoji="1" lang="en-NZ" altLang="zh-CN" sz="2800">
                <a:latin typeface="Tahoma" pitchFamily="34" charset="0"/>
                <a:ea typeface="宋体" charset="-122"/>
              </a:rPr>
              <a:t>Nondeterministic</a:t>
            </a:r>
            <a:endParaRPr kumimoji="1" lang="en-US" altLang="zh-CN" sz="2800">
              <a:latin typeface="Tahoma" pitchFamily="34" charset="0"/>
              <a:ea typeface="宋体" charset="-122"/>
            </a:endParaRPr>
          </a:p>
        </p:txBody>
      </p:sp>
      <p:sp>
        <p:nvSpPr>
          <p:cNvPr id="11" name="AutoShape 26"/>
          <p:cNvSpPr>
            <a:spLocks/>
          </p:cNvSpPr>
          <p:nvPr/>
        </p:nvSpPr>
        <p:spPr bwMode="auto">
          <a:xfrm>
            <a:off x="5939323" y="4223760"/>
            <a:ext cx="360362" cy="461665"/>
          </a:xfrm>
          <a:prstGeom prst="borderCallout1">
            <a:avLst>
              <a:gd name="adj1" fmla="val 34616"/>
              <a:gd name="adj2" fmla="val -21144"/>
              <a:gd name="adj3" fmla="val 158846"/>
              <a:gd name="adj4" fmla="val -347470"/>
            </a:avLst>
          </a:prstGeom>
          <a:solidFill>
            <a:srgbClr val="FFFF99"/>
          </a:solidFill>
          <a:ln w="19050" algn="ctr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b="1">
                <a:latin typeface="Courier New" pitchFamily="49" charset="0"/>
                <a:ea typeface="宋体" charset="-122"/>
              </a:rPr>
              <a:t>3</a:t>
            </a:r>
            <a:endParaRPr lang="en-US" altLang="zh-CN" b="1">
              <a:solidFill>
                <a:srgbClr val="0000FF"/>
              </a:solidFill>
              <a:latin typeface="Courier New" pitchFamily="49" charset="0"/>
              <a:ea typeface="宋体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7251125" y="5080480"/>
            <a:ext cx="3114926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4471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SpellCheck.py(1)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89368" y="1106674"/>
            <a:ext cx="10796179" cy="50937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import re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def readWords(filename):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words = set()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file = open(filename)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for line in file: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    line = line.lower()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    word_list = re.split('[^a-zA-Z]+', line)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    words = words | set(word_list)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file.close()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return words</a:t>
            </a:r>
          </a:p>
        </p:txBody>
      </p:sp>
    </p:spTree>
    <p:extLst>
      <p:ext uri="{BB962C8B-B14F-4D97-AF65-F5344CB8AC3E}">
        <p14:creationId xmlns:p14="http://schemas.microsoft.com/office/powerpoint/2010/main" val="156962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SpellCheck.py(2)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94474" y="1388692"/>
            <a:ext cx="9915970" cy="40780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def main():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dictionaryWords = readWords("words.txt")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documentWords = readWords("1.txt")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for word in documentWords: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    if word not in dictionaryWords: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            print(word)</a:t>
            </a: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ea typeface="宋体" charset="-12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ea typeface="宋体" charset="-122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403040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数据查询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5625" y="1944874"/>
            <a:ext cx="471635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给定一个巨大的数据</a:t>
            </a:r>
            <a:endParaRPr lang="en-US" altLang="zh-CN" sz="3200" b="1">
              <a:solidFill>
                <a:srgbClr val="973095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集合，然后查询某一个</a:t>
            </a:r>
            <a:endParaRPr lang="en-US" altLang="zh-CN" sz="3200" b="1">
              <a:solidFill>
                <a:srgbClr val="973095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数据如</a:t>
            </a:r>
            <a:r>
              <a:rPr lang="en-US" altLang="zh-CN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4565926</a:t>
            </a: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是否出现</a:t>
            </a:r>
            <a:endParaRPr lang="en-US" altLang="zh-CN" sz="3200" b="1">
              <a:solidFill>
                <a:srgbClr val="973095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在其中。在具体实现时</a:t>
            </a:r>
            <a:endParaRPr lang="en-US" altLang="zh-CN" sz="3200" b="1">
              <a:solidFill>
                <a:srgbClr val="973095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应使用哪一种集合类型？</a:t>
            </a:r>
            <a:endParaRPr lang="en-US" altLang="zh-CN" sz="3200" b="1">
              <a:solidFill>
                <a:srgbClr val="973095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list</a:t>
            </a: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lang="en-US" altLang="zh-CN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tuple</a:t>
            </a: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lang="en-US" altLang="zh-CN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set</a:t>
            </a:r>
            <a:r>
              <a:rPr lang="zh-CN" altLang="en-US" sz="3200" b="1">
                <a:solidFill>
                  <a:srgbClr val="973095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？</a:t>
            </a:r>
          </a:p>
        </p:txBody>
      </p:sp>
      <p:graphicFrame>
        <p:nvGraphicFramePr>
          <p:cNvPr id="5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908872"/>
              </p:ext>
            </p:extLst>
          </p:nvPr>
        </p:nvGraphicFramePr>
        <p:xfrm>
          <a:off x="6501890" y="908302"/>
          <a:ext cx="2438400" cy="5486328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4120243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4276013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4328968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4397700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4462718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4466240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4475579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4478964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4480332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4494763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4499043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4508710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4549243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4563697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4564531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4565926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4566088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80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4572874</a:t>
                      </a:r>
                    </a:p>
                  </a:txBody>
                  <a:tcPr marT="45718" marB="4571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1676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88714" y="962820"/>
            <a:ext cx="8908982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import time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import random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length = 20000</a:t>
            </a:r>
          </a:p>
          <a:p>
            <a:pPr>
              <a:buNone/>
            </a:pP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= []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in range(length):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myset.append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)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t1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()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in range(length):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e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(0, length-1)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result = e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</a:t>
            </a:r>
            <a:endParaRPr lang="en-US" altLang="zh-CN" sz="2800" b="1" dirty="0">
              <a:latin typeface="Courier New" pitchFamily="49" charset="0"/>
              <a:ea typeface="宋体" charset="-122"/>
            </a:endParaRP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t2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()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print(t2 - t1)</a:t>
            </a:r>
          </a:p>
        </p:txBody>
      </p:sp>
    </p:spTree>
    <p:extLst>
      <p:ext uri="{BB962C8B-B14F-4D97-AF65-F5344CB8AC3E}">
        <p14:creationId xmlns:p14="http://schemas.microsoft.com/office/powerpoint/2010/main" val="113252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88714" y="962820"/>
            <a:ext cx="8908982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import time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import random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length = 20000</a:t>
            </a:r>
          </a:p>
          <a:p>
            <a:pPr>
              <a:buNone/>
            </a:pP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= 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set()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in range(length):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myset.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add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)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t1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()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in range(length):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e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(0, length-1) 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    result = e </a:t>
            </a:r>
            <a:r>
              <a:rPr lang="en-US" altLang="zh-CN" sz="2800" b="1" dirty="0">
                <a:solidFill>
                  <a:srgbClr val="C00000"/>
                </a:solidFill>
                <a:latin typeface="Courier New" pitchFamily="49" charset="0"/>
                <a:ea typeface="宋体" charset="-122"/>
              </a:rPr>
              <a:t>in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myset</a:t>
            </a:r>
            <a:endParaRPr lang="en-US" altLang="zh-CN" sz="2800" b="1" dirty="0">
              <a:latin typeface="Courier New" pitchFamily="49" charset="0"/>
              <a:ea typeface="宋体" charset="-122"/>
            </a:endParaRP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t2 = </a:t>
            </a:r>
            <a:r>
              <a:rPr lang="en-US" altLang="zh-CN" sz="28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800" b="1" dirty="0">
                <a:latin typeface="Courier New" pitchFamily="49" charset="0"/>
                <a:ea typeface="宋体" charset="-122"/>
              </a:rPr>
              <a:t>()</a:t>
            </a:r>
          </a:p>
          <a:p>
            <a:pPr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</a:rPr>
              <a:t>print(t2 - t1)</a:t>
            </a:r>
          </a:p>
        </p:txBody>
      </p:sp>
    </p:spTree>
    <p:extLst>
      <p:ext uri="{BB962C8B-B14F-4D97-AF65-F5344CB8AC3E}">
        <p14:creationId xmlns:p14="http://schemas.microsoft.com/office/powerpoint/2010/main" val="297174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、字典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83518" y="2162087"/>
            <a:ext cx="90749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为什么要引入字典（</a:t>
            </a:r>
            <a:r>
              <a:rPr lang="en-US" altLang="zh-CN" sz="4800" b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dictionary</a:t>
            </a:r>
            <a:r>
              <a:rPr lang="zh-CN" altLang="en-US" sz="4800" b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）</a:t>
            </a:r>
            <a:endParaRPr lang="en-US" altLang="zh-CN" sz="4800" b="1"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  <a:p>
            <a:r>
              <a:rPr lang="zh-CN" altLang="en-US" sz="4800" b="1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类型？</a:t>
            </a:r>
          </a:p>
        </p:txBody>
      </p:sp>
    </p:spTree>
    <p:extLst>
      <p:ext uri="{BB962C8B-B14F-4D97-AF65-F5344CB8AC3E}">
        <p14:creationId xmlns:p14="http://schemas.microsoft.com/office/powerpoint/2010/main" val="27183689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电影评分查询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380" y="1362342"/>
            <a:ext cx="6978650" cy="426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2571430" y="1209942"/>
            <a:ext cx="4038600" cy="533400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7219630" y="1895742"/>
            <a:ext cx="1828800" cy="533400"/>
          </a:xfrm>
          <a:prstGeom prst="ellipse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67034" y="5701277"/>
            <a:ext cx="699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给定一部电影的名称，查询它的评分，怎么实现？</a:t>
            </a:r>
            <a:endParaRPr lang="en-US" altLang="zh-CN" sz="24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8337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列表法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62000" y="1242696"/>
            <a:ext cx="881285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定义两个列表，分别存放电影名称和评分，用下标来同步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838200" y="2403608"/>
            <a:ext cx="1040060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titles = ['The Shawshark Redemption',  'Liu Lang Di Qiu']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scores = [9.3, 8.0]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476" y="3842042"/>
            <a:ext cx="4806124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movie = 'Liu Lang Di Qiu'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i = titles.index(movie)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print(scores[i])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7874" y="3200193"/>
            <a:ext cx="40236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800" b="1"/>
              <a:t>缺点</a:t>
            </a:r>
            <a:endParaRPr lang="en-US" altLang="zh-CN" sz="2800" b="1"/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2800" b="1"/>
              <a:t>每种信息都需要一个列表，弱相关</a:t>
            </a:r>
            <a:endParaRPr lang="en-US" altLang="zh-CN" sz="2800" b="1"/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2800" b="1"/>
              <a:t>发行日期、类别、导演、语言</a:t>
            </a:r>
            <a:r>
              <a:rPr lang="en-US" altLang="zh-CN" sz="2800" b="1"/>
              <a:t>…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2800" b="1"/>
              <a:t>只能用整数索引</a:t>
            </a:r>
            <a:endParaRPr lang="en-US" altLang="zh-CN" sz="2800" b="1"/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2800" b="1"/>
              <a:t>列表须同时更新</a:t>
            </a:r>
          </a:p>
        </p:txBody>
      </p:sp>
    </p:spTree>
    <p:extLst>
      <p:ext uri="{BB962C8B-B14F-4D97-AF65-F5344CB8AC3E}">
        <p14:creationId xmlns:p14="http://schemas.microsoft.com/office/powerpoint/2010/main" val="59262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对象列表法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908710" y="1184302"/>
            <a:ext cx="9747890" cy="4985980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class Movie 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def __init__(self, t, s):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self.title = t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self.score = s</a:t>
            </a:r>
          </a:p>
          <a:p>
            <a:pPr marL="342900" indent="-342900">
              <a:spcBef>
                <a:spcPts val="12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m1 = Movie("The Shawshark Redemption", 9.3)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m2 = Movie("Liu Lang Di Qiu", 8.0)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movies = [m1, m2]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query = "Liu Lang Di Qiu"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for m in movies: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if(m.title == query):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print(m.score)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9306" y="4850312"/>
            <a:ext cx="5023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优点：同一部电影的所有信息组织在一起</a:t>
            </a:r>
            <a:endParaRPr lang="en-US" altLang="zh-CN" sz="2400" b="1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缺点：查询时要逐个元素进行遍历</a:t>
            </a:r>
            <a:endParaRPr lang="en-US" altLang="zh-CN" sz="24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80203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更好的办法：字典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189807"/>
              </p:ext>
            </p:extLst>
          </p:nvPr>
        </p:nvGraphicFramePr>
        <p:xfrm>
          <a:off x="1687110" y="2489776"/>
          <a:ext cx="1828800" cy="2526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Shawshark</a:t>
                      </a:r>
                      <a:r>
                        <a:rPr lang="en-US" altLang="zh-CN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Redemption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Liu Lang Di Qiu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04867"/>
              </p:ext>
            </p:extLst>
          </p:nvPr>
        </p:nvGraphicFramePr>
        <p:xfrm>
          <a:off x="4201710" y="2489775"/>
          <a:ext cx="685800" cy="251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8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9.3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8.0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93122" y="2565975"/>
            <a:ext cx="356188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400"/>
              </a:spcBef>
              <a:buNone/>
            </a:pPr>
            <a:r>
              <a:rPr lang="en-US" altLang="zh-CN" sz="2400" b="1"/>
              <a:t>0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400" b="1"/>
              <a:t>1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400" b="1"/>
              <a:t>2</a:t>
            </a:r>
          </a:p>
          <a:p>
            <a:pPr>
              <a:spcBef>
                <a:spcPts val="2400"/>
              </a:spcBef>
              <a:buNone/>
            </a:pPr>
            <a:r>
              <a:rPr lang="en-US" altLang="zh-CN" sz="2400" b="1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8063" y="148055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列表</a:t>
            </a:r>
          </a:p>
        </p:txBody>
      </p:sp>
      <p:sp>
        <p:nvSpPr>
          <p:cNvPr id="9" name="矩形 8"/>
          <p:cNvSpPr/>
          <p:nvPr/>
        </p:nvSpPr>
        <p:spPr>
          <a:xfrm>
            <a:off x="2144310" y="5058965"/>
            <a:ext cx="9220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titles</a:t>
            </a:r>
            <a:endParaRPr lang="zh-CN" altLang="en-US" sz="2800"/>
          </a:p>
        </p:txBody>
      </p:sp>
      <p:sp>
        <p:nvSpPr>
          <p:cNvPr id="10" name="矩形 9"/>
          <p:cNvSpPr/>
          <p:nvPr/>
        </p:nvSpPr>
        <p:spPr>
          <a:xfrm>
            <a:off x="4049310" y="5058965"/>
            <a:ext cx="11127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scores</a:t>
            </a:r>
            <a:endParaRPr lang="zh-CN" altLang="en-US" sz="280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94979"/>
              </p:ext>
            </p:extLst>
          </p:nvPr>
        </p:nvGraphicFramePr>
        <p:xfrm>
          <a:off x="6489138" y="2468165"/>
          <a:ext cx="3048000" cy="2526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Shawshark</a:t>
                      </a:r>
                      <a:r>
                        <a:rPr lang="en-US" altLang="zh-CN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Redemption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9.3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Liu Lang Di Qiu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8.0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48557" y="148910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字典</a:t>
            </a:r>
          </a:p>
        </p:txBody>
      </p:sp>
      <p:sp>
        <p:nvSpPr>
          <p:cNvPr id="13" name="矩形 12"/>
          <p:cNvSpPr/>
          <p:nvPr/>
        </p:nvSpPr>
        <p:spPr>
          <a:xfrm>
            <a:off x="6946338" y="5058965"/>
            <a:ext cx="862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keys</a:t>
            </a:r>
            <a:endParaRPr lang="zh-CN" altLang="en-US" sz="2800"/>
          </a:p>
        </p:txBody>
      </p:sp>
      <p:sp>
        <p:nvSpPr>
          <p:cNvPr id="14" name="矩形 13"/>
          <p:cNvSpPr/>
          <p:nvPr/>
        </p:nvSpPr>
        <p:spPr>
          <a:xfrm>
            <a:off x="8394138" y="5058965"/>
            <a:ext cx="11416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values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3080440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字典（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dictionary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35471" y="1224890"/>
            <a:ext cx="998860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key1: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key2:</a:t>
            </a:r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value2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…}</a:t>
            </a: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由一系列“键－值”对组成的集合，键唯一，如身份证号，但值不唯一，多个键可映射为相同的值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/>
              <a:t>给定一个键，可找到相应的值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类似于一个“数组”，但数组的索引为对象</a:t>
            </a:r>
            <a:r>
              <a:rPr lang="en-US" altLang="zh-CN"/>
              <a:t>(</a:t>
            </a:r>
            <a:r>
              <a:rPr lang="zh-CN" altLang="en-US"/>
              <a:t>键</a:t>
            </a:r>
            <a:r>
              <a:rPr lang="en-US" altLang="zh-CN"/>
              <a:t>)</a:t>
            </a:r>
            <a:r>
              <a:rPr lang="zh-CN" altLang="en-US"/>
              <a:t>；或电话簿</a:t>
            </a:r>
            <a:r>
              <a:rPr lang="en-US" altLang="zh-CN"/>
              <a:t>(</a:t>
            </a:r>
            <a:r>
              <a:rPr lang="zh-CN" altLang="en-US"/>
              <a:t>姓名</a:t>
            </a:r>
            <a:r>
              <a:rPr lang="en-US" altLang="zh-CN"/>
              <a:t>:</a:t>
            </a:r>
            <a:r>
              <a:rPr lang="zh-CN" altLang="en-US"/>
              <a:t>号码</a:t>
            </a:r>
            <a:r>
              <a:rPr lang="en-US" altLang="zh-CN"/>
              <a:t>)</a:t>
            </a: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键不可修改，而值可以修改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01279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43039" y="1157951"/>
            <a:ext cx="3009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empty_dict = 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43039" y="1859418"/>
            <a:ext cx="9734524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squares = {2 : 4, 3 : 9, 4 :16, 5 : 25}</a:t>
            </a:r>
          </a:p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ages = {'A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na':18, 'John':19, 'Tom':18, 'Katy':17</a:t>
            </a: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32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grades = {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'Ana':'B', 'John':'A', 'Tom':'C+', 'Katy':'A'</a:t>
            </a: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32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185465"/>
              </p:ext>
            </p:extLst>
          </p:nvPr>
        </p:nvGraphicFramePr>
        <p:xfrm>
          <a:off x="3877267" y="4096284"/>
          <a:ext cx="425226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'Ana'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'B'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'Tom'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'C+'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'John'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'Katy'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634727" y="3994446"/>
            <a:ext cx="13484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grades</a:t>
            </a:r>
            <a:endParaRPr lang="zh-CN" altLang="en-US" sz="3200"/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2947933" y="4324884"/>
            <a:ext cx="806354" cy="0"/>
          </a:xfrm>
          <a:prstGeom prst="straightConnector1">
            <a:avLst/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4938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字典查询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85693" y="1182874"/>
            <a:ext cx="4902430" cy="2363631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</a:pPr>
            <a:r>
              <a:rPr lang="zh-CN" altLang="en-US"/>
              <a:t>给定一个键，可返回相应的值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若找不到该键，错误提示</a:t>
            </a:r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150111"/>
              </p:ext>
            </p:extLst>
          </p:nvPr>
        </p:nvGraphicFramePr>
        <p:xfrm>
          <a:off x="5862446" y="1301090"/>
          <a:ext cx="4252266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6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'Ana'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'B'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'Tom'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'C+'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'John'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'Katy'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'A'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1210" y="3696046"/>
            <a:ext cx="9734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grades = {</a:t>
            </a: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'Ana':'B', 'John':'A', 'Tom':'C+', 'Katy':'A'</a:t>
            </a:r>
            <a:r>
              <a:rPr lang="pt-BR" altLang="zh-CN" sz="3200" b="1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422" y="4577591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grades</a:t>
            </a:r>
            <a:r>
              <a:rPr lang="pt-BR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'John'</a:t>
            </a:r>
            <a:r>
              <a:rPr lang="pt-BR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en-US" altLang="zh-CN" sz="3200" b="1">
              <a:solidFill>
                <a:srgbClr val="FF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0422" y="5314766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altLang="zh-CN" sz="3200" b="1">
                <a:latin typeface="Courier New" pitchFamily="49" charset="0"/>
                <a:cs typeface="Courier New" pitchFamily="49" charset="0"/>
              </a:rPr>
              <a:t>grades['Jerry']</a:t>
            </a:r>
            <a:endParaRPr lang="en-US" altLang="zh-CN" sz="3200" b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4784222" y="4882391"/>
            <a:ext cx="806354" cy="0"/>
          </a:xfrm>
          <a:prstGeom prst="straightConnector1">
            <a:avLst/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622422" y="4577591"/>
            <a:ext cx="9252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'A'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4870856" y="5619566"/>
            <a:ext cx="806354" cy="0"/>
          </a:xfrm>
          <a:prstGeom prst="straightConnector1">
            <a:avLst/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748856" y="5314766"/>
            <a:ext cx="2159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KeyError</a:t>
            </a:r>
            <a:endParaRPr lang="en-US" altLang="zh-CN" sz="32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71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1" grpId="0" build="p"/>
      <p:bldP spid="13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字典的操作（图示）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81"/>
          <p:cNvSpPr>
            <a:spLocks noChangeArrowheads="1"/>
          </p:cNvSpPr>
          <p:nvPr/>
        </p:nvSpPr>
        <p:spPr bwMode="auto">
          <a:xfrm>
            <a:off x="1318919" y="1541145"/>
            <a:ext cx="2438400" cy="1871663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None/>
            </a:pPr>
            <a:endParaRPr lang="zh-CN" altLang="en-US">
              <a:ea typeface="宋体" charset="-122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1374481" y="1541145"/>
            <a:ext cx="9350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sz="1600" b="1">
                <a:ea typeface="宋体" charset="-122"/>
              </a:rPr>
              <a:t>D['k']</a:t>
            </a:r>
            <a:br>
              <a:rPr lang="en-US" altLang="zh-CN" sz="1600">
                <a:ea typeface="宋体" charset="-122"/>
              </a:rPr>
            </a:br>
            <a:r>
              <a:rPr lang="en-US" altLang="zh-CN" sz="1600">
                <a:ea typeface="宋体" charset="-122"/>
                <a:sym typeface="Wingdings" pitchFamily="2" charset="2"/>
              </a:rPr>
              <a:t>'</a:t>
            </a:r>
            <a:r>
              <a:rPr lang="en-US" altLang="zh-CN" sz="1600" i="1">
                <a:ea typeface="宋体" charset="-122"/>
              </a:rPr>
              <a:t>a'</a:t>
            </a:r>
          </a:p>
        </p:txBody>
      </p: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2460331" y="1684020"/>
            <a:ext cx="1079500" cy="1368425"/>
            <a:chOff x="884" y="1979"/>
            <a:chExt cx="680" cy="862"/>
          </a:xfrm>
        </p:grpSpPr>
        <p:sp>
          <p:nvSpPr>
            <p:cNvPr id="8" name="AutoShape 33"/>
            <p:cNvSpPr>
              <a:spLocks noChangeArrowheads="1"/>
            </p:cNvSpPr>
            <p:nvPr/>
          </p:nvSpPr>
          <p:spPr bwMode="auto">
            <a:xfrm>
              <a:off x="884" y="1979"/>
              <a:ext cx="680" cy="862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1341" y="2070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1341" y="2253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1341" y="2437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1341" y="2618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975" y="2068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975" y="2251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975" y="2435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975" y="2616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auto">
            <a:xfrm>
              <a:off x="1156" y="216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auto">
            <a:xfrm>
              <a:off x="1156" y="234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auto">
            <a:xfrm>
              <a:off x="1156" y="252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20" name="Line 31"/>
            <p:cNvSpPr>
              <a:spLocks noChangeShapeType="1"/>
            </p:cNvSpPr>
            <p:nvPr/>
          </p:nvSpPr>
          <p:spPr bwMode="auto">
            <a:xfrm>
              <a:off x="1156" y="270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</p:grp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364161" y="2184083"/>
            <a:ext cx="11652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sz="1600" b="1">
                <a:ea typeface="宋体" charset="-122"/>
              </a:rPr>
              <a:t>D['x']</a:t>
            </a:r>
            <a:br>
              <a:rPr lang="en-US" altLang="zh-CN" sz="1600">
                <a:ea typeface="宋体" charset="-122"/>
              </a:rPr>
            </a:br>
            <a:r>
              <a:rPr lang="en-US" altLang="zh-CN" sz="1600">
                <a:ea typeface="宋体" charset="-122"/>
                <a:sym typeface="Wingdings" pitchFamily="2" charset="2"/>
              </a:rPr>
              <a:t></a:t>
            </a:r>
            <a:r>
              <a:rPr lang="en-US" altLang="zh-CN" sz="1400">
                <a:ea typeface="宋体" charset="-122"/>
                <a:sym typeface="Wingdings" pitchFamily="2" charset="2"/>
              </a:rPr>
              <a:t>Key</a:t>
            </a:r>
            <a:r>
              <a:rPr lang="en-US" altLang="zh-CN" sz="1400" i="1">
                <a:ea typeface="宋体" charset="-122"/>
              </a:rPr>
              <a:t>Error</a:t>
            </a:r>
          </a:p>
        </p:txBody>
      </p:sp>
      <p:sp>
        <p:nvSpPr>
          <p:cNvPr id="22" name="Text Box 35"/>
          <p:cNvSpPr txBox="1">
            <a:spLocks noChangeArrowheads="1"/>
          </p:cNvSpPr>
          <p:nvPr/>
        </p:nvSpPr>
        <p:spPr bwMode="auto">
          <a:xfrm>
            <a:off x="2388893" y="2979420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sz="1400" b="1" i="1">
                <a:solidFill>
                  <a:srgbClr val="000099"/>
                </a:solidFill>
                <a:ea typeface="宋体" charset="-122"/>
              </a:rPr>
              <a:t>keys</a:t>
            </a:r>
            <a:endParaRPr lang="en-US" altLang="zh-CN" sz="1400" i="1">
              <a:solidFill>
                <a:srgbClr val="000099"/>
              </a:solidFill>
              <a:ea typeface="宋体" charset="-122"/>
            </a:endParaRPr>
          </a:p>
        </p:txBody>
      </p:sp>
      <p:sp>
        <p:nvSpPr>
          <p:cNvPr id="23" name="Text Box 36"/>
          <p:cNvSpPr txBox="1">
            <a:spLocks noChangeArrowheads="1"/>
          </p:cNvSpPr>
          <p:nvPr/>
        </p:nvSpPr>
        <p:spPr bwMode="auto">
          <a:xfrm>
            <a:off x="2965156" y="2979420"/>
            <a:ext cx="792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sz="1400" b="1" i="1">
                <a:ea typeface="宋体" charset="-122"/>
              </a:rPr>
              <a:t>values</a:t>
            </a:r>
            <a:endParaRPr lang="en-US" altLang="zh-CN" sz="1400" i="1">
              <a:ea typeface="宋体" charset="-122"/>
            </a:endParaRPr>
          </a:p>
        </p:txBody>
      </p:sp>
      <p:grpSp>
        <p:nvGrpSpPr>
          <p:cNvPr id="24" name="Group 100"/>
          <p:cNvGrpSpPr>
            <a:grpSpLocks/>
          </p:cNvGrpSpPr>
          <p:nvPr/>
        </p:nvGrpSpPr>
        <p:grpSpPr bwMode="auto">
          <a:xfrm>
            <a:off x="4692856" y="1360171"/>
            <a:ext cx="1727200" cy="2016125"/>
            <a:chOff x="1792" y="1752"/>
            <a:chExt cx="1088" cy="1270"/>
          </a:xfrm>
        </p:grpSpPr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1792" y="1752"/>
              <a:ext cx="6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D['x'] ='e'</a:t>
              </a:r>
              <a:endParaRPr lang="en-US" altLang="zh-CN" sz="1600" i="1">
                <a:ea typeface="宋体" charset="-122"/>
              </a:endParaRPr>
            </a:p>
          </p:txBody>
        </p:sp>
        <p:sp>
          <p:nvSpPr>
            <p:cNvPr id="26" name="AutoShape 41"/>
            <p:cNvSpPr>
              <a:spLocks noChangeArrowheads="1"/>
            </p:cNvSpPr>
            <p:nvPr/>
          </p:nvSpPr>
          <p:spPr bwMode="auto">
            <a:xfrm>
              <a:off x="2200" y="1979"/>
              <a:ext cx="680" cy="1043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27" name="Rectangle 42"/>
            <p:cNvSpPr>
              <a:spLocks noChangeArrowheads="1"/>
            </p:cNvSpPr>
            <p:nvPr/>
          </p:nvSpPr>
          <p:spPr bwMode="auto">
            <a:xfrm>
              <a:off x="2657" y="2070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  <p:sp>
          <p:nvSpPr>
            <p:cNvPr id="28" name="Rectangle 43"/>
            <p:cNvSpPr>
              <a:spLocks noChangeArrowheads="1"/>
            </p:cNvSpPr>
            <p:nvPr/>
          </p:nvSpPr>
          <p:spPr bwMode="auto">
            <a:xfrm>
              <a:off x="2657" y="2253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29" name="Rectangle 44"/>
            <p:cNvSpPr>
              <a:spLocks noChangeArrowheads="1"/>
            </p:cNvSpPr>
            <p:nvPr/>
          </p:nvSpPr>
          <p:spPr bwMode="auto">
            <a:xfrm>
              <a:off x="2657" y="2437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30" name="Rectangle 45"/>
            <p:cNvSpPr>
              <a:spLocks noChangeArrowheads="1"/>
            </p:cNvSpPr>
            <p:nvPr/>
          </p:nvSpPr>
          <p:spPr bwMode="auto">
            <a:xfrm>
              <a:off x="2657" y="2618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291" y="2068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33" name="Rectangle 47"/>
            <p:cNvSpPr>
              <a:spLocks noChangeArrowheads="1"/>
            </p:cNvSpPr>
            <p:nvPr/>
          </p:nvSpPr>
          <p:spPr bwMode="auto">
            <a:xfrm>
              <a:off x="2291" y="2251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34" name="Rectangle 48"/>
            <p:cNvSpPr>
              <a:spLocks noChangeArrowheads="1"/>
            </p:cNvSpPr>
            <p:nvPr/>
          </p:nvSpPr>
          <p:spPr bwMode="auto">
            <a:xfrm>
              <a:off x="2291" y="2435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35" name="Rectangle 49"/>
            <p:cNvSpPr>
              <a:spLocks noChangeArrowheads="1"/>
            </p:cNvSpPr>
            <p:nvPr/>
          </p:nvSpPr>
          <p:spPr bwMode="auto">
            <a:xfrm>
              <a:off x="2291" y="2616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>
              <a:off x="2472" y="216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37" name="Line 51"/>
            <p:cNvSpPr>
              <a:spLocks noChangeShapeType="1"/>
            </p:cNvSpPr>
            <p:nvPr/>
          </p:nvSpPr>
          <p:spPr bwMode="auto">
            <a:xfrm>
              <a:off x="2472" y="234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38" name="Line 52"/>
            <p:cNvSpPr>
              <a:spLocks noChangeShapeType="1"/>
            </p:cNvSpPr>
            <p:nvPr/>
          </p:nvSpPr>
          <p:spPr bwMode="auto">
            <a:xfrm>
              <a:off x="2472" y="252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39" name="Line 53"/>
            <p:cNvSpPr>
              <a:spLocks noChangeShapeType="1"/>
            </p:cNvSpPr>
            <p:nvPr/>
          </p:nvSpPr>
          <p:spPr bwMode="auto">
            <a:xfrm>
              <a:off x="2472" y="270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40" name="Rectangle 57"/>
            <p:cNvSpPr>
              <a:spLocks noChangeArrowheads="1"/>
            </p:cNvSpPr>
            <p:nvPr/>
          </p:nvSpPr>
          <p:spPr bwMode="auto">
            <a:xfrm>
              <a:off x="2654" y="2796"/>
              <a:ext cx="133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e</a:t>
              </a:r>
            </a:p>
          </p:txBody>
        </p:sp>
        <p:sp>
          <p:nvSpPr>
            <p:cNvPr id="41" name="Rectangle 58"/>
            <p:cNvSpPr>
              <a:spLocks noChangeArrowheads="1"/>
            </p:cNvSpPr>
            <p:nvPr/>
          </p:nvSpPr>
          <p:spPr bwMode="auto">
            <a:xfrm>
              <a:off x="2291" y="2796"/>
              <a:ext cx="133" cy="134"/>
            </a:xfrm>
            <a:prstGeom prst="rect">
              <a:avLst/>
            </a:prstGeom>
            <a:solidFill>
              <a:srgbClr val="E6E6E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x</a:t>
              </a:r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2472" y="288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43" name="Arc 60"/>
            <p:cNvSpPr>
              <a:spLocks/>
            </p:cNvSpPr>
            <p:nvPr/>
          </p:nvSpPr>
          <p:spPr bwMode="auto">
            <a:xfrm rot="16200000" flipH="1">
              <a:off x="2041" y="2659"/>
              <a:ext cx="226" cy="1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</p:grpSp>
      <p:grpSp>
        <p:nvGrpSpPr>
          <p:cNvPr id="44" name="Group 101"/>
          <p:cNvGrpSpPr>
            <a:grpSpLocks/>
          </p:cNvGrpSpPr>
          <p:nvPr/>
        </p:nvGrpSpPr>
        <p:grpSpPr bwMode="auto">
          <a:xfrm>
            <a:off x="7419413" y="1355409"/>
            <a:ext cx="1584325" cy="1947862"/>
            <a:chOff x="3107" y="1749"/>
            <a:chExt cx="998" cy="1227"/>
          </a:xfrm>
        </p:grpSpPr>
        <p:sp>
          <p:nvSpPr>
            <p:cNvPr id="45" name="Text Box 61"/>
            <p:cNvSpPr txBox="1">
              <a:spLocks noChangeArrowheads="1"/>
            </p:cNvSpPr>
            <p:nvPr/>
          </p:nvSpPr>
          <p:spPr bwMode="auto">
            <a:xfrm>
              <a:off x="3107" y="1749"/>
              <a:ext cx="726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D['k']='f'</a:t>
              </a:r>
            </a:p>
            <a:p>
              <a:pPr algn="l">
                <a:buNone/>
              </a:pPr>
              <a:r>
                <a:rPr lang="en-US" altLang="zh-CN" sz="1600">
                  <a:ea typeface="宋体" charset="-122"/>
                </a:rPr>
                <a:t>#</a:t>
              </a:r>
              <a:r>
                <a:rPr lang="zh-CN" altLang="en-US" sz="1600">
                  <a:ea typeface="宋体" charset="-122"/>
                </a:rPr>
                <a:t>可修改值</a:t>
              </a:r>
              <a:endParaRPr lang="en-US" altLang="zh-CN" sz="1600">
                <a:ea typeface="宋体" charset="-122"/>
              </a:endParaRPr>
            </a:p>
          </p:txBody>
        </p:sp>
        <p:sp>
          <p:nvSpPr>
            <p:cNvPr id="46" name="AutoShape 62"/>
            <p:cNvSpPr>
              <a:spLocks noChangeArrowheads="1"/>
            </p:cNvSpPr>
            <p:nvPr/>
          </p:nvSpPr>
          <p:spPr bwMode="auto">
            <a:xfrm>
              <a:off x="3198" y="2115"/>
              <a:ext cx="680" cy="861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47" name="Rectangle 63"/>
            <p:cNvSpPr>
              <a:spLocks noChangeArrowheads="1"/>
            </p:cNvSpPr>
            <p:nvPr/>
          </p:nvSpPr>
          <p:spPr bwMode="auto">
            <a:xfrm>
              <a:off x="3833" y="2026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  <p:sp>
          <p:nvSpPr>
            <p:cNvPr id="48" name="Rectangle 64"/>
            <p:cNvSpPr>
              <a:spLocks noChangeArrowheads="1"/>
            </p:cNvSpPr>
            <p:nvPr/>
          </p:nvSpPr>
          <p:spPr bwMode="auto">
            <a:xfrm>
              <a:off x="3655" y="2389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49" name="Rectangle 65"/>
            <p:cNvSpPr>
              <a:spLocks noChangeArrowheads="1"/>
            </p:cNvSpPr>
            <p:nvPr/>
          </p:nvSpPr>
          <p:spPr bwMode="auto">
            <a:xfrm>
              <a:off x="3655" y="2573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50" name="Rectangle 66"/>
            <p:cNvSpPr>
              <a:spLocks noChangeArrowheads="1"/>
            </p:cNvSpPr>
            <p:nvPr/>
          </p:nvSpPr>
          <p:spPr bwMode="auto">
            <a:xfrm>
              <a:off x="3655" y="2754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51" name="Rectangle 67"/>
            <p:cNvSpPr>
              <a:spLocks noChangeArrowheads="1"/>
            </p:cNvSpPr>
            <p:nvPr/>
          </p:nvSpPr>
          <p:spPr bwMode="auto">
            <a:xfrm>
              <a:off x="3289" y="2204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52" name="Rectangle 68"/>
            <p:cNvSpPr>
              <a:spLocks noChangeArrowheads="1"/>
            </p:cNvSpPr>
            <p:nvPr/>
          </p:nvSpPr>
          <p:spPr bwMode="auto">
            <a:xfrm>
              <a:off x="3289" y="2387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53" name="Rectangle 69"/>
            <p:cNvSpPr>
              <a:spLocks noChangeArrowheads="1"/>
            </p:cNvSpPr>
            <p:nvPr/>
          </p:nvSpPr>
          <p:spPr bwMode="auto">
            <a:xfrm>
              <a:off x="3289" y="2571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54" name="Rectangle 70"/>
            <p:cNvSpPr>
              <a:spLocks noChangeArrowheads="1"/>
            </p:cNvSpPr>
            <p:nvPr/>
          </p:nvSpPr>
          <p:spPr bwMode="auto">
            <a:xfrm>
              <a:off x="3289" y="2752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  <p:sp>
          <p:nvSpPr>
            <p:cNvPr id="55" name="Line 71"/>
            <p:cNvSpPr>
              <a:spLocks noChangeShapeType="1"/>
            </p:cNvSpPr>
            <p:nvPr/>
          </p:nvSpPr>
          <p:spPr bwMode="auto">
            <a:xfrm>
              <a:off x="3470" y="229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3470" y="248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3470" y="266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58" name="Line 74"/>
            <p:cNvSpPr>
              <a:spLocks noChangeShapeType="1"/>
            </p:cNvSpPr>
            <p:nvPr/>
          </p:nvSpPr>
          <p:spPr bwMode="auto">
            <a:xfrm>
              <a:off x="3470" y="284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59" name="Rectangle 79"/>
            <p:cNvSpPr>
              <a:spLocks noChangeArrowheads="1"/>
            </p:cNvSpPr>
            <p:nvPr/>
          </p:nvSpPr>
          <p:spPr bwMode="auto">
            <a:xfrm>
              <a:off x="3651" y="2207"/>
              <a:ext cx="133" cy="13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f</a:t>
              </a:r>
            </a:p>
          </p:txBody>
        </p:sp>
        <p:sp>
          <p:nvSpPr>
            <p:cNvPr id="60" name="Arc 80"/>
            <p:cNvSpPr>
              <a:spLocks/>
            </p:cNvSpPr>
            <p:nvPr/>
          </p:nvSpPr>
          <p:spPr bwMode="auto">
            <a:xfrm rot="5400000" flipH="1" flipV="1">
              <a:off x="3946" y="1821"/>
              <a:ext cx="136" cy="1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</p:grpSp>
      <p:sp>
        <p:nvSpPr>
          <p:cNvPr id="61" name="Text Box 97"/>
          <p:cNvSpPr txBox="1">
            <a:spLocks noChangeArrowheads="1"/>
          </p:cNvSpPr>
          <p:nvPr/>
        </p:nvSpPr>
        <p:spPr bwMode="auto">
          <a:xfrm>
            <a:off x="1395118" y="2831783"/>
            <a:ext cx="720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buNone/>
            </a:pPr>
            <a:r>
              <a:rPr lang="en-US" altLang="zh-CN" sz="1600" b="1">
                <a:ea typeface="宋体" charset="-122"/>
              </a:rPr>
              <a:t>len(D)</a:t>
            </a:r>
            <a:br>
              <a:rPr lang="en-US" altLang="zh-CN" sz="1600">
                <a:ea typeface="宋体" charset="-122"/>
              </a:rPr>
            </a:br>
            <a:r>
              <a:rPr lang="en-US" altLang="zh-CN" sz="1600">
                <a:ea typeface="宋体" charset="-122"/>
                <a:sym typeface="Wingdings" pitchFamily="2" charset="2"/>
              </a:rPr>
              <a:t></a:t>
            </a:r>
            <a:r>
              <a:rPr lang="en-US" altLang="zh-CN" sz="1600" i="1">
                <a:ea typeface="宋体" charset="-122"/>
              </a:rPr>
              <a:t>4</a:t>
            </a:r>
          </a:p>
        </p:txBody>
      </p:sp>
      <p:grpSp>
        <p:nvGrpSpPr>
          <p:cNvPr id="62" name="Group 119"/>
          <p:cNvGrpSpPr>
            <a:grpSpLocks/>
          </p:cNvGrpSpPr>
          <p:nvPr/>
        </p:nvGrpSpPr>
        <p:grpSpPr bwMode="auto">
          <a:xfrm>
            <a:off x="1014118" y="4138296"/>
            <a:ext cx="2447925" cy="1512887"/>
            <a:chOff x="204" y="3067"/>
            <a:chExt cx="1542" cy="953"/>
          </a:xfrm>
        </p:grpSpPr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204" y="3067"/>
              <a:ext cx="7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del(D['n'])</a:t>
              </a:r>
              <a:br>
                <a:rPr lang="en-US" altLang="zh-CN" sz="1600">
                  <a:ea typeface="宋体" charset="-122"/>
                </a:rPr>
              </a:br>
              <a:endParaRPr lang="en-US" altLang="zh-CN" sz="1600" i="1">
                <a:ea typeface="宋体" charset="-122"/>
              </a:endParaRPr>
            </a:p>
          </p:txBody>
        </p:sp>
        <p:sp>
          <p:nvSpPr>
            <p:cNvPr id="64" name="Text Box 82"/>
            <p:cNvSpPr txBox="1">
              <a:spLocks noChangeArrowheads="1"/>
            </p:cNvSpPr>
            <p:nvPr/>
          </p:nvSpPr>
          <p:spPr bwMode="auto">
            <a:xfrm>
              <a:off x="204" y="3520"/>
              <a:ext cx="7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del(D['x'])</a:t>
              </a:r>
              <a:br>
                <a:rPr lang="en-US" altLang="zh-CN" sz="1600">
                  <a:ea typeface="宋体" charset="-122"/>
                </a:rPr>
              </a:br>
              <a:r>
                <a:rPr lang="en-US" altLang="zh-CN" sz="1600">
                  <a:ea typeface="宋体" charset="-122"/>
                  <a:sym typeface="Wingdings" pitchFamily="2" charset="2"/>
                </a:rPr>
                <a:t></a:t>
              </a:r>
              <a:r>
                <a:rPr lang="en-US" altLang="zh-CN" sz="1600" i="1">
                  <a:ea typeface="宋体" charset="-122"/>
                  <a:sym typeface="Wingdings" pitchFamily="2" charset="2"/>
                </a:rPr>
                <a:t>KeyError</a:t>
              </a:r>
              <a:endParaRPr lang="en-US" altLang="zh-CN" sz="1600" i="1">
                <a:ea typeface="宋体" charset="-122"/>
              </a:endParaRPr>
            </a:p>
          </p:txBody>
        </p:sp>
        <p:sp>
          <p:nvSpPr>
            <p:cNvPr id="65" name="AutoShape 84"/>
            <p:cNvSpPr>
              <a:spLocks noChangeArrowheads="1"/>
            </p:cNvSpPr>
            <p:nvPr/>
          </p:nvSpPr>
          <p:spPr bwMode="auto">
            <a:xfrm>
              <a:off x="930" y="3067"/>
              <a:ext cx="680" cy="68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66" name="Rectangle 85"/>
            <p:cNvSpPr>
              <a:spLocks noChangeArrowheads="1"/>
            </p:cNvSpPr>
            <p:nvPr/>
          </p:nvSpPr>
          <p:spPr bwMode="auto">
            <a:xfrm>
              <a:off x="1387" y="3158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  <p:sp>
          <p:nvSpPr>
            <p:cNvPr id="67" name="Rectangle 86"/>
            <p:cNvSpPr>
              <a:spLocks noChangeArrowheads="1"/>
            </p:cNvSpPr>
            <p:nvPr/>
          </p:nvSpPr>
          <p:spPr bwMode="auto">
            <a:xfrm>
              <a:off x="1387" y="3341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68" name="Rectangle 87"/>
            <p:cNvSpPr>
              <a:spLocks noChangeArrowheads="1"/>
            </p:cNvSpPr>
            <p:nvPr/>
          </p:nvSpPr>
          <p:spPr bwMode="auto">
            <a:xfrm>
              <a:off x="1387" y="3525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69" name="Rectangle 88"/>
            <p:cNvSpPr>
              <a:spLocks noChangeArrowheads="1"/>
            </p:cNvSpPr>
            <p:nvPr/>
          </p:nvSpPr>
          <p:spPr bwMode="auto">
            <a:xfrm>
              <a:off x="1613" y="3840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70" name="Rectangle 89"/>
            <p:cNvSpPr>
              <a:spLocks noChangeArrowheads="1"/>
            </p:cNvSpPr>
            <p:nvPr/>
          </p:nvSpPr>
          <p:spPr bwMode="auto">
            <a:xfrm>
              <a:off x="1021" y="3156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71" name="Rectangle 90"/>
            <p:cNvSpPr>
              <a:spLocks noChangeArrowheads="1"/>
            </p:cNvSpPr>
            <p:nvPr/>
          </p:nvSpPr>
          <p:spPr bwMode="auto">
            <a:xfrm>
              <a:off x="1021" y="3339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72" name="Rectangle 91"/>
            <p:cNvSpPr>
              <a:spLocks noChangeArrowheads="1"/>
            </p:cNvSpPr>
            <p:nvPr/>
          </p:nvSpPr>
          <p:spPr bwMode="auto">
            <a:xfrm>
              <a:off x="1021" y="3523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73" name="Rectangle 92"/>
            <p:cNvSpPr>
              <a:spLocks noChangeArrowheads="1"/>
            </p:cNvSpPr>
            <p:nvPr/>
          </p:nvSpPr>
          <p:spPr bwMode="auto">
            <a:xfrm>
              <a:off x="1247" y="3838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  <p:sp>
          <p:nvSpPr>
            <p:cNvPr id="74" name="Line 93"/>
            <p:cNvSpPr>
              <a:spLocks noChangeShapeType="1"/>
            </p:cNvSpPr>
            <p:nvPr/>
          </p:nvSpPr>
          <p:spPr bwMode="auto">
            <a:xfrm>
              <a:off x="1202" y="324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75" name="Line 94"/>
            <p:cNvSpPr>
              <a:spLocks noChangeShapeType="1"/>
            </p:cNvSpPr>
            <p:nvPr/>
          </p:nvSpPr>
          <p:spPr bwMode="auto">
            <a:xfrm>
              <a:off x="1202" y="34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76" name="Line 95"/>
            <p:cNvSpPr>
              <a:spLocks noChangeShapeType="1"/>
            </p:cNvSpPr>
            <p:nvPr/>
          </p:nvSpPr>
          <p:spPr bwMode="auto">
            <a:xfrm>
              <a:off x="1202" y="3613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77" name="Line 96"/>
            <p:cNvSpPr>
              <a:spLocks noChangeShapeType="1"/>
            </p:cNvSpPr>
            <p:nvPr/>
          </p:nvSpPr>
          <p:spPr bwMode="auto">
            <a:xfrm>
              <a:off x="1428" y="393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78" name="Line 98"/>
            <p:cNvSpPr>
              <a:spLocks noChangeShapeType="1"/>
            </p:cNvSpPr>
            <p:nvPr/>
          </p:nvSpPr>
          <p:spPr bwMode="auto">
            <a:xfrm flipH="1">
              <a:off x="1202" y="3793"/>
              <a:ext cx="227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79" name="Arc 99"/>
            <p:cNvSpPr>
              <a:spLocks/>
            </p:cNvSpPr>
            <p:nvPr/>
          </p:nvSpPr>
          <p:spPr bwMode="auto">
            <a:xfrm rot="16200000" flipH="1">
              <a:off x="1043" y="3771"/>
              <a:ext cx="135" cy="1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</p:grpSp>
      <p:grpSp>
        <p:nvGrpSpPr>
          <p:cNvPr id="80" name="Group 117"/>
          <p:cNvGrpSpPr>
            <a:grpSpLocks/>
          </p:cNvGrpSpPr>
          <p:nvPr/>
        </p:nvGrpSpPr>
        <p:grpSpPr bwMode="auto">
          <a:xfrm>
            <a:off x="7301697" y="4147556"/>
            <a:ext cx="1655763" cy="1341437"/>
            <a:chOff x="1927" y="3129"/>
            <a:chExt cx="1043" cy="845"/>
          </a:xfrm>
        </p:grpSpPr>
        <p:sp>
          <p:nvSpPr>
            <p:cNvPr id="81" name="Freeform 14"/>
            <p:cNvSpPr>
              <a:spLocks/>
            </p:cNvSpPr>
            <p:nvPr/>
          </p:nvSpPr>
          <p:spPr bwMode="auto">
            <a:xfrm>
              <a:off x="2290" y="3338"/>
              <a:ext cx="680" cy="636"/>
            </a:xfrm>
            <a:custGeom>
              <a:avLst/>
              <a:gdLst>
                <a:gd name="T0" fmla="*/ 9 w 1020"/>
                <a:gd name="T1" fmla="*/ 11 h 955"/>
                <a:gd name="T2" fmla="*/ 37 w 1020"/>
                <a:gd name="T3" fmla="*/ 1 h 955"/>
                <a:gd name="T4" fmla="*/ 81 w 1020"/>
                <a:gd name="T5" fmla="*/ 17 h 955"/>
                <a:gd name="T6" fmla="*/ 85 w 1020"/>
                <a:gd name="T7" fmla="*/ 57 h 955"/>
                <a:gd name="T8" fmla="*/ 53 w 1020"/>
                <a:gd name="T9" fmla="*/ 80 h 955"/>
                <a:gd name="T10" fmla="*/ 13 w 1020"/>
                <a:gd name="T11" fmla="*/ 77 h 955"/>
                <a:gd name="T12" fmla="*/ 1 w 1020"/>
                <a:gd name="T13" fmla="*/ 53 h 955"/>
                <a:gd name="T14" fmla="*/ 5 w 1020"/>
                <a:gd name="T15" fmla="*/ 29 h 955"/>
                <a:gd name="T16" fmla="*/ 9 w 1020"/>
                <a:gd name="T17" fmla="*/ 11 h 9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20"/>
                <a:gd name="T28" fmla="*/ 0 h 955"/>
                <a:gd name="T29" fmla="*/ 1020 w 1020"/>
                <a:gd name="T30" fmla="*/ 955 h 9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20" h="955">
                  <a:moveTo>
                    <a:pt x="96" y="130"/>
                  </a:moveTo>
                  <a:cubicBezTo>
                    <a:pt x="156" y="77"/>
                    <a:pt x="285" y="0"/>
                    <a:pt x="423" y="10"/>
                  </a:cubicBezTo>
                  <a:cubicBezTo>
                    <a:pt x="561" y="20"/>
                    <a:pt x="831" y="85"/>
                    <a:pt x="922" y="191"/>
                  </a:cubicBezTo>
                  <a:cubicBezTo>
                    <a:pt x="1013" y="297"/>
                    <a:pt x="1020" y="524"/>
                    <a:pt x="967" y="645"/>
                  </a:cubicBezTo>
                  <a:cubicBezTo>
                    <a:pt x="914" y="766"/>
                    <a:pt x="740" y="879"/>
                    <a:pt x="604" y="917"/>
                  </a:cubicBezTo>
                  <a:cubicBezTo>
                    <a:pt x="468" y="955"/>
                    <a:pt x="249" y="925"/>
                    <a:pt x="151" y="872"/>
                  </a:cubicBezTo>
                  <a:cubicBezTo>
                    <a:pt x="53" y="819"/>
                    <a:pt x="30" y="691"/>
                    <a:pt x="15" y="600"/>
                  </a:cubicBezTo>
                  <a:cubicBezTo>
                    <a:pt x="0" y="509"/>
                    <a:pt x="47" y="406"/>
                    <a:pt x="60" y="328"/>
                  </a:cubicBezTo>
                  <a:cubicBezTo>
                    <a:pt x="73" y="250"/>
                    <a:pt x="36" y="183"/>
                    <a:pt x="96" y="130"/>
                  </a:cubicBez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82" name="Text Box 102"/>
            <p:cNvSpPr txBox="1">
              <a:spLocks noChangeArrowheads="1"/>
            </p:cNvSpPr>
            <p:nvPr/>
          </p:nvSpPr>
          <p:spPr bwMode="auto">
            <a:xfrm>
              <a:off x="1927" y="3129"/>
              <a:ext cx="77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D.keys()</a:t>
              </a:r>
              <a:endParaRPr lang="en-US" altLang="zh-CN" sz="1600" b="1" i="1">
                <a:ea typeface="宋体" charset="-122"/>
              </a:endParaRPr>
            </a:p>
          </p:txBody>
        </p:sp>
        <p:sp>
          <p:nvSpPr>
            <p:cNvPr id="83" name="Rectangle 104"/>
            <p:cNvSpPr>
              <a:spLocks noChangeArrowheads="1"/>
            </p:cNvSpPr>
            <p:nvPr/>
          </p:nvSpPr>
          <p:spPr bwMode="auto">
            <a:xfrm>
              <a:off x="2562" y="3384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84" name="Rectangle 105"/>
            <p:cNvSpPr>
              <a:spLocks noChangeArrowheads="1"/>
            </p:cNvSpPr>
            <p:nvPr/>
          </p:nvSpPr>
          <p:spPr bwMode="auto">
            <a:xfrm>
              <a:off x="2381" y="3565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85" name="Rectangle 106"/>
            <p:cNvSpPr>
              <a:spLocks noChangeArrowheads="1"/>
            </p:cNvSpPr>
            <p:nvPr/>
          </p:nvSpPr>
          <p:spPr bwMode="auto">
            <a:xfrm>
              <a:off x="2744" y="3610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86" name="Rectangle 107"/>
            <p:cNvSpPr>
              <a:spLocks noChangeArrowheads="1"/>
            </p:cNvSpPr>
            <p:nvPr/>
          </p:nvSpPr>
          <p:spPr bwMode="auto">
            <a:xfrm>
              <a:off x="2562" y="3747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</p:grpSp>
      <p:grpSp>
        <p:nvGrpSpPr>
          <p:cNvPr id="87" name="Group 118"/>
          <p:cNvGrpSpPr>
            <a:grpSpLocks/>
          </p:cNvGrpSpPr>
          <p:nvPr/>
        </p:nvGrpSpPr>
        <p:grpSpPr bwMode="auto">
          <a:xfrm>
            <a:off x="9113035" y="4038019"/>
            <a:ext cx="1368425" cy="1417638"/>
            <a:chOff x="3198" y="3218"/>
            <a:chExt cx="862" cy="893"/>
          </a:xfrm>
        </p:grpSpPr>
        <p:sp>
          <p:nvSpPr>
            <p:cNvPr id="88" name="Text Box 103"/>
            <p:cNvSpPr txBox="1">
              <a:spLocks noChangeArrowheads="1"/>
            </p:cNvSpPr>
            <p:nvPr/>
          </p:nvSpPr>
          <p:spPr bwMode="auto">
            <a:xfrm>
              <a:off x="3198" y="3218"/>
              <a:ext cx="86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None/>
              </a:pPr>
              <a:r>
                <a:rPr lang="en-US" altLang="zh-CN" sz="1600" b="1">
                  <a:ea typeface="宋体" charset="-122"/>
                </a:rPr>
                <a:t>D.values()</a:t>
              </a:r>
              <a:endParaRPr lang="en-US" altLang="zh-CN" sz="1600" b="1" i="1">
                <a:ea typeface="宋体" charset="-122"/>
              </a:endParaRPr>
            </a:p>
          </p:txBody>
        </p:sp>
        <p:sp>
          <p:nvSpPr>
            <p:cNvPr id="89" name="Freeform 108"/>
            <p:cNvSpPr>
              <a:spLocks/>
            </p:cNvSpPr>
            <p:nvPr/>
          </p:nvSpPr>
          <p:spPr bwMode="auto">
            <a:xfrm>
              <a:off x="3379" y="3475"/>
              <a:ext cx="680" cy="636"/>
            </a:xfrm>
            <a:custGeom>
              <a:avLst/>
              <a:gdLst>
                <a:gd name="T0" fmla="*/ 9 w 1020"/>
                <a:gd name="T1" fmla="*/ 11 h 955"/>
                <a:gd name="T2" fmla="*/ 37 w 1020"/>
                <a:gd name="T3" fmla="*/ 1 h 955"/>
                <a:gd name="T4" fmla="*/ 81 w 1020"/>
                <a:gd name="T5" fmla="*/ 17 h 955"/>
                <a:gd name="T6" fmla="*/ 85 w 1020"/>
                <a:gd name="T7" fmla="*/ 57 h 955"/>
                <a:gd name="T8" fmla="*/ 53 w 1020"/>
                <a:gd name="T9" fmla="*/ 80 h 955"/>
                <a:gd name="T10" fmla="*/ 13 w 1020"/>
                <a:gd name="T11" fmla="*/ 77 h 955"/>
                <a:gd name="T12" fmla="*/ 1 w 1020"/>
                <a:gd name="T13" fmla="*/ 53 h 955"/>
                <a:gd name="T14" fmla="*/ 5 w 1020"/>
                <a:gd name="T15" fmla="*/ 29 h 955"/>
                <a:gd name="T16" fmla="*/ 9 w 1020"/>
                <a:gd name="T17" fmla="*/ 11 h 9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20"/>
                <a:gd name="T28" fmla="*/ 0 h 955"/>
                <a:gd name="T29" fmla="*/ 1020 w 1020"/>
                <a:gd name="T30" fmla="*/ 955 h 9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20" h="955">
                  <a:moveTo>
                    <a:pt x="96" y="130"/>
                  </a:moveTo>
                  <a:cubicBezTo>
                    <a:pt x="156" y="77"/>
                    <a:pt x="285" y="0"/>
                    <a:pt x="423" y="10"/>
                  </a:cubicBezTo>
                  <a:cubicBezTo>
                    <a:pt x="561" y="20"/>
                    <a:pt x="831" y="85"/>
                    <a:pt x="922" y="191"/>
                  </a:cubicBezTo>
                  <a:cubicBezTo>
                    <a:pt x="1013" y="297"/>
                    <a:pt x="1020" y="524"/>
                    <a:pt x="967" y="645"/>
                  </a:cubicBezTo>
                  <a:cubicBezTo>
                    <a:pt x="914" y="766"/>
                    <a:pt x="740" y="879"/>
                    <a:pt x="604" y="917"/>
                  </a:cubicBezTo>
                  <a:cubicBezTo>
                    <a:pt x="468" y="955"/>
                    <a:pt x="249" y="925"/>
                    <a:pt x="151" y="872"/>
                  </a:cubicBezTo>
                  <a:cubicBezTo>
                    <a:pt x="53" y="819"/>
                    <a:pt x="30" y="691"/>
                    <a:pt x="15" y="600"/>
                  </a:cubicBezTo>
                  <a:cubicBezTo>
                    <a:pt x="0" y="509"/>
                    <a:pt x="47" y="406"/>
                    <a:pt x="60" y="328"/>
                  </a:cubicBezTo>
                  <a:cubicBezTo>
                    <a:pt x="73" y="250"/>
                    <a:pt x="36" y="183"/>
                    <a:pt x="96" y="130"/>
                  </a:cubicBezTo>
                  <a:close/>
                </a:path>
              </a:pathLst>
            </a:custGeom>
            <a:solidFill>
              <a:srgbClr val="E6E6E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90" name="Rectangle 113"/>
            <p:cNvSpPr>
              <a:spLocks noChangeArrowheads="1"/>
            </p:cNvSpPr>
            <p:nvPr/>
          </p:nvSpPr>
          <p:spPr bwMode="auto">
            <a:xfrm>
              <a:off x="3515" y="3566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  <p:sp>
          <p:nvSpPr>
            <p:cNvPr id="91" name="Rectangle 114"/>
            <p:cNvSpPr>
              <a:spLocks noChangeArrowheads="1"/>
            </p:cNvSpPr>
            <p:nvPr/>
          </p:nvSpPr>
          <p:spPr bwMode="auto">
            <a:xfrm>
              <a:off x="3787" y="3612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92" name="Rectangle 115"/>
            <p:cNvSpPr>
              <a:spLocks noChangeArrowheads="1"/>
            </p:cNvSpPr>
            <p:nvPr/>
          </p:nvSpPr>
          <p:spPr bwMode="auto">
            <a:xfrm>
              <a:off x="3470" y="3838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93" name="Rectangle 116"/>
            <p:cNvSpPr>
              <a:spLocks noChangeArrowheads="1"/>
            </p:cNvSpPr>
            <p:nvPr/>
          </p:nvSpPr>
          <p:spPr bwMode="auto">
            <a:xfrm>
              <a:off x="3742" y="3838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2828631" y="124269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000"/>
              <a:t>D</a:t>
            </a:r>
            <a:endParaRPr lang="zh-CN" altLang="en-US" sz="2000"/>
          </a:p>
        </p:txBody>
      </p:sp>
      <p:grpSp>
        <p:nvGrpSpPr>
          <p:cNvPr id="95" name="Group 101"/>
          <p:cNvGrpSpPr>
            <a:grpSpLocks/>
          </p:cNvGrpSpPr>
          <p:nvPr/>
        </p:nvGrpSpPr>
        <p:grpSpPr bwMode="auto">
          <a:xfrm>
            <a:off x="4379747" y="4062096"/>
            <a:ext cx="2057401" cy="1574800"/>
            <a:chOff x="2582" y="1984"/>
            <a:chExt cx="1296" cy="992"/>
          </a:xfrm>
        </p:grpSpPr>
        <p:sp>
          <p:nvSpPr>
            <p:cNvPr id="96" name="Text Box 61"/>
            <p:cNvSpPr txBox="1">
              <a:spLocks noChangeArrowheads="1"/>
            </p:cNvSpPr>
            <p:nvPr/>
          </p:nvSpPr>
          <p:spPr bwMode="auto">
            <a:xfrm>
              <a:off x="2582" y="1984"/>
              <a:ext cx="726" cy="8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r>
                <a:rPr lang="en-US" altLang="zh-CN" sz="1600" b="1">
                  <a:ea typeface="宋体" charset="-122"/>
                </a:rPr>
                <a:t>'k' in D </a:t>
              </a:r>
              <a:br>
                <a:rPr lang="en-US" altLang="zh-CN" sz="1600">
                  <a:ea typeface="宋体" charset="-122"/>
                </a:rPr>
              </a:br>
              <a:r>
                <a:rPr lang="en-US" altLang="zh-CN" sz="1600">
                  <a:ea typeface="宋体" charset="-122"/>
                  <a:sym typeface="Wingdings" pitchFamily="2" charset="2"/>
                </a:rPr>
                <a:t>True</a:t>
              </a:r>
            </a:p>
            <a:p>
              <a:pPr>
                <a:buNone/>
              </a:pPr>
              <a:endParaRPr lang="en-US" altLang="zh-CN" sz="1600" b="1">
                <a:ea typeface="宋体" charset="-122"/>
              </a:endParaRPr>
            </a:p>
            <a:p>
              <a:pPr>
                <a:buNone/>
              </a:pPr>
              <a:r>
                <a:rPr lang="en-US" altLang="zh-CN" sz="1600" b="1">
                  <a:ea typeface="宋体" charset="-122"/>
                </a:rPr>
                <a:t>'x' in D</a:t>
              </a:r>
              <a:br>
                <a:rPr lang="en-US" altLang="zh-CN" sz="1600">
                  <a:ea typeface="宋体" charset="-122"/>
                </a:rPr>
              </a:br>
              <a:r>
                <a:rPr lang="en-US" altLang="zh-CN" sz="1600">
                  <a:ea typeface="宋体" charset="-122"/>
                  <a:sym typeface="Wingdings" pitchFamily="2" charset="2"/>
                </a:rPr>
                <a:t></a:t>
              </a:r>
              <a:r>
                <a:rPr lang="en-US" altLang="zh-CN" sz="1600" i="1">
                  <a:ea typeface="宋体" charset="-122"/>
                  <a:sym typeface="Wingdings" pitchFamily="2" charset="2"/>
                </a:rPr>
                <a:t>False</a:t>
              </a:r>
              <a:endParaRPr lang="en-US" altLang="zh-CN" sz="1600" b="1" i="1">
                <a:ea typeface="宋体" charset="-122"/>
              </a:endParaRPr>
            </a:p>
          </p:txBody>
        </p:sp>
        <p:sp>
          <p:nvSpPr>
            <p:cNvPr id="97" name="AutoShape 62"/>
            <p:cNvSpPr>
              <a:spLocks noChangeArrowheads="1"/>
            </p:cNvSpPr>
            <p:nvPr/>
          </p:nvSpPr>
          <p:spPr bwMode="auto">
            <a:xfrm>
              <a:off x="3198" y="2115"/>
              <a:ext cx="680" cy="861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77777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None/>
              </a:pPr>
              <a:endParaRPr lang="zh-CN" altLang="en-US">
                <a:ea typeface="宋体" charset="-122"/>
              </a:endParaRPr>
            </a:p>
          </p:txBody>
        </p:sp>
        <p:sp>
          <p:nvSpPr>
            <p:cNvPr id="98" name="Rectangle 64"/>
            <p:cNvSpPr>
              <a:spLocks noChangeArrowheads="1"/>
            </p:cNvSpPr>
            <p:nvPr/>
          </p:nvSpPr>
          <p:spPr bwMode="auto">
            <a:xfrm>
              <a:off x="3655" y="2389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99" name="Rectangle 65"/>
            <p:cNvSpPr>
              <a:spLocks noChangeArrowheads="1"/>
            </p:cNvSpPr>
            <p:nvPr/>
          </p:nvSpPr>
          <p:spPr bwMode="auto">
            <a:xfrm>
              <a:off x="3655" y="2573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c</a:t>
              </a:r>
            </a:p>
          </p:txBody>
        </p:sp>
        <p:sp>
          <p:nvSpPr>
            <p:cNvPr id="100" name="Rectangle 66"/>
            <p:cNvSpPr>
              <a:spLocks noChangeArrowheads="1"/>
            </p:cNvSpPr>
            <p:nvPr/>
          </p:nvSpPr>
          <p:spPr bwMode="auto">
            <a:xfrm>
              <a:off x="3655" y="2754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b</a:t>
              </a:r>
            </a:p>
          </p:txBody>
        </p:sp>
        <p:sp>
          <p:nvSpPr>
            <p:cNvPr id="101" name="Rectangle 67"/>
            <p:cNvSpPr>
              <a:spLocks noChangeArrowheads="1"/>
            </p:cNvSpPr>
            <p:nvPr/>
          </p:nvSpPr>
          <p:spPr bwMode="auto">
            <a:xfrm>
              <a:off x="3289" y="2204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k</a:t>
              </a:r>
            </a:p>
          </p:txBody>
        </p:sp>
        <p:sp>
          <p:nvSpPr>
            <p:cNvPr id="102" name="Rectangle 68"/>
            <p:cNvSpPr>
              <a:spLocks noChangeArrowheads="1"/>
            </p:cNvSpPr>
            <p:nvPr/>
          </p:nvSpPr>
          <p:spPr bwMode="auto">
            <a:xfrm>
              <a:off x="3289" y="2387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m</a:t>
              </a:r>
            </a:p>
          </p:txBody>
        </p:sp>
        <p:sp>
          <p:nvSpPr>
            <p:cNvPr id="103" name="Rectangle 69"/>
            <p:cNvSpPr>
              <a:spLocks noChangeArrowheads="1"/>
            </p:cNvSpPr>
            <p:nvPr/>
          </p:nvSpPr>
          <p:spPr bwMode="auto">
            <a:xfrm>
              <a:off x="3289" y="2571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p</a:t>
              </a:r>
            </a:p>
          </p:txBody>
        </p:sp>
        <p:sp>
          <p:nvSpPr>
            <p:cNvPr id="104" name="Rectangle 70"/>
            <p:cNvSpPr>
              <a:spLocks noChangeArrowheads="1"/>
            </p:cNvSpPr>
            <p:nvPr/>
          </p:nvSpPr>
          <p:spPr bwMode="auto">
            <a:xfrm>
              <a:off x="3289" y="2752"/>
              <a:ext cx="133" cy="13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n</a:t>
              </a:r>
            </a:p>
          </p:txBody>
        </p:sp>
        <p:sp>
          <p:nvSpPr>
            <p:cNvPr id="105" name="Line 71"/>
            <p:cNvSpPr>
              <a:spLocks noChangeShapeType="1"/>
            </p:cNvSpPr>
            <p:nvPr/>
          </p:nvSpPr>
          <p:spPr bwMode="auto">
            <a:xfrm>
              <a:off x="3470" y="229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06" name="Line 72"/>
            <p:cNvSpPr>
              <a:spLocks noChangeShapeType="1"/>
            </p:cNvSpPr>
            <p:nvPr/>
          </p:nvSpPr>
          <p:spPr bwMode="auto">
            <a:xfrm>
              <a:off x="3470" y="2480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07" name="Line 73"/>
            <p:cNvSpPr>
              <a:spLocks noChangeShapeType="1"/>
            </p:cNvSpPr>
            <p:nvPr/>
          </p:nvSpPr>
          <p:spPr bwMode="auto">
            <a:xfrm>
              <a:off x="3470" y="2661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08" name="Line 74"/>
            <p:cNvSpPr>
              <a:spLocks noChangeShapeType="1"/>
            </p:cNvSpPr>
            <p:nvPr/>
          </p:nvSpPr>
          <p:spPr bwMode="auto">
            <a:xfrm>
              <a:off x="3470" y="284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09" name="Rectangle 79"/>
            <p:cNvSpPr>
              <a:spLocks noChangeArrowheads="1"/>
            </p:cNvSpPr>
            <p:nvPr/>
          </p:nvSpPr>
          <p:spPr bwMode="auto">
            <a:xfrm>
              <a:off x="3651" y="2207"/>
              <a:ext cx="133" cy="134"/>
            </a:xfrm>
            <a:prstGeom prst="rect">
              <a:avLst/>
            </a:prstGeom>
            <a:solidFill>
              <a:srgbClr val="FF7A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None/>
              </a:pPr>
              <a:r>
                <a:rPr lang="en-US" altLang="zh-CN" sz="1600" b="1">
                  <a:ea typeface="宋体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560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字典的操作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60314" y="1234765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 = {'k':'a', 'm':'b', 'p':'c', 'n':'b'}</a:t>
            </a:r>
            <a:endParaRPr lang="zh-CN" altLang="en-US" sz="32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345120"/>
              </p:ext>
            </p:extLst>
          </p:nvPr>
        </p:nvGraphicFramePr>
        <p:xfrm>
          <a:off x="1439275" y="2112804"/>
          <a:ext cx="9302787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操作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按键查值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D['k']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'a'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返回该键所对应的值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插入新元素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D['x']='e'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{'k':'a', 'm':'b', 'p':'c', 'n':'b', 'x':'e'}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修改值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D['k']='f'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{'k':'f', 'm':'b', 'p':'c', 'n':'b'}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len(D)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元素的个数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 / not 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'k' in 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键是否出现在字典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del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del(D['n'])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{'k':'a', 'm':'b', 'p':'c'}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09223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字典的操作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60314" y="1234765"/>
            <a:ext cx="6019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kern="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 = {'</a:t>
            </a:r>
            <a:r>
              <a:rPr lang="en-US" altLang="zh-CN" sz="3200" b="1" kern="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k':'a</a:t>
            </a:r>
            <a:r>
              <a:rPr lang="en-US" altLang="zh-CN" sz="3200" b="1" kern="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', '</a:t>
            </a:r>
            <a:r>
              <a:rPr lang="en-US" altLang="zh-CN" sz="3200" b="1" kern="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m':'b</a:t>
            </a:r>
            <a:r>
              <a:rPr lang="en-US" altLang="zh-CN" sz="3200" b="1" kern="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', '</a:t>
            </a:r>
            <a:r>
              <a:rPr lang="en-US" altLang="zh-CN" sz="3200" b="1" kern="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p':'c</a:t>
            </a:r>
            <a:r>
              <a:rPr lang="en-US" altLang="zh-CN" sz="3200" b="1" kern="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', '</a:t>
            </a:r>
            <a:r>
              <a:rPr lang="en-US" altLang="zh-CN" sz="3200" b="1" kern="0" dirty="0" err="1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n':'b</a:t>
            </a:r>
            <a:r>
              <a:rPr lang="en-US" altLang="zh-CN" sz="3200" b="1" kern="0" dirty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'}</a:t>
            </a:r>
            <a:endParaRPr lang="zh-CN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506437"/>
              </p:ext>
            </p:extLst>
          </p:nvPr>
        </p:nvGraphicFramePr>
        <p:xfrm>
          <a:off x="1440000" y="2113200"/>
          <a:ext cx="89345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7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操作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用法举例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max(D)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'p'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最大的键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min(D)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'k'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最小的键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sorted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sorted(D)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['k','m','n', 'p']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对键排序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列出所有键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D.keys()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['k','m','p', 'n'] 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顺序不定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列出所有值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D.values</a:t>
                      </a: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['a','b','c', 'b']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顺序不定</a:t>
                      </a:r>
                      <a:endParaRPr lang="zh-CN" altLang="en-US" sz="2400" b="1" dirty="0">
                        <a:solidFill>
                          <a:srgbClr val="00B05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列出键值对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D.items()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[('k', 'a'), ('m', 'b'), ('p', 'c'), ('n', 'b')] </a:t>
                      </a:r>
                      <a:r>
                        <a:rPr lang="en-US" altLang="zh-CN" sz="2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#</a:t>
                      </a:r>
                      <a:r>
                        <a:rPr lang="zh-CN" altLang="en-US" sz="2400" b="1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元素是元组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9551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字典访问举例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1402054" y="953531"/>
            <a:ext cx="8861445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5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= 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{}  </a:t>
            </a:r>
            <a:r>
              <a:rPr kumimoji="0" lang="en-US" altLang="zh-CN" sz="2800" b="1" dirty="0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#phone = </a:t>
            </a:r>
            <a:r>
              <a:rPr kumimoji="0" lang="en-US" altLang="zh-CN" sz="2800" b="1" dirty="0" err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dict</a:t>
            </a:r>
            <a:r>
              <a:rPr kumimoji="0" lang="en-US" altLang="zh-CN" sz="2800" b="1" dirty="0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()</a:t>
            </a:r>
            <a:endParaRPr kumimoji="0" lang="en-NZ" altLang="zh-CN" sz="2800" b="1" dirty="0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["Mum"] 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=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999888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["Dad"] = 999888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</a:t>
            </a:r>
            <a:r>
              <a:rPr kumimoji="0" lang="en-NZ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Bob</a:t>
            </a:r>
            <a:r>
              <a:rPr kumimoji="0" lang="en-NZ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"]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= 123456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["Edward"] = 555353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</a:t>
            </a:r>
            <a:r>
              <a:rPr kumimoji="0" lang="en-NZ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 dirty="0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Bob</a:t>
            </a:r>
            <a:r>
              <a:rPr kumimoji="0" lang="en-NZ" altLang="zh-CN" sz="2800" b="1" dirty="0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] = 110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print(</a:t>
            </a:r>
            <a:r>
              <a:rPr kumimoji="0" lang="en-NZ" altLang="zh-CN" sz="2800" b="1" dirty="0" err="1">
                <a:solidFill>
                  <a:srgbClr val="003399"/>
                </a:solidFill>
                <a:latin typeface="Courier New" pitchFamily="49" charset="0"/>
                <a:ea typeface="宋体" charset="-122"/>
              </a:rPr>
              <a:t>len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(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)) </a:t>
            </a:r>
            <a:r>
              <a:rPr kumimoji="0" lang="en-US" altLang="zh-CN" sz="2800" b="1" dirty="0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 4 or 5?</a:t>
            </a:r>
            <a:endParaRPr kumimoji="0" lang="en-NZ" altLang="zh-CN" sz="2800" b="1" dirty="0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for name in 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.</a:t>
            </a:r>
            <a:r>
              <a:rPr kumimoji="0" lang="en-NZ" altLang="zh-CN" sz="2800" b="1" dirty="0">
                <a:solidFill>
                  <a:srgbClr val="003399"/>
                </a:solidFill>
                <a:latin typeface="Courier New" pitchFamily="49" charset="0"/>
                <a:ea typeface="宋体" charset="-122"/>
              </a:rPr>
              <a:t>keys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(): </a:t>
            </a:r>
            <a:r>
              <a:rPr kumimoji="0" lang="en-NZ" altLang="zh-CN" sz="2800" b="1" dirty="0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#keys()</a:t>
            </a:r>
            <a:r>
              <a:rPr kumimoji="0" lang="zh-CN" altLang="en-US" sz="2800" b="1" dirty="0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可省略</a:t>
            </a:r>
            <a:endParaRPr kumimoji="0" lang="en-NZ" altLang="zh-CN" sz="2800" b="1" dirty="0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   print(name + "'s number: ")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   print(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[name]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)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print(</a:t>
            </a:r>
            <a:r>
              <a:rPr kumimoji="0" lang="en-US" altLang="zh-CN" sz="2800" b="1" dirty="0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.</a:t>
            </a:r>
            <a:r>
              <a:rPr kumimoji="0" lang="en-NZ" altLang="zh-CN" sz="2800" b="1" dirty="0">
                <a:solidFill>
                  <a:srgbClr val="003399"/>
                </a:solidFill>
                <a:latin typeface="Courier New" pitchFamily="49" charset="0"/>
                <a:ea typeface="宋体" charset="-122"/>
              </a:rPr>
              <a:t>values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())</a:t>
            </a:r>
          </a:p>
        </p:txBody>
      </p:sp>
      <p:sp>
        <p:nvSpPr>
          <p:cNvPr id="5" name="Line 14"/>
          <p:cNvSpPr>
            <a:spLocks noChangeShapeType="1"/>
          </p:cNvSpPr>
          <p:nvPr/>
        </p:nvSpPr>
        <p:spPr bwMode="auto">
          <a:xfrm>
            <a:off x="1113130" y="3802139"/>
            <a:ext cx="288925" cy="0"/>
          </a:xfrm>
          <a:prstGeom prst="line">
            <a:avLst/>
          </a:prstGeom>
          <a:noFill/>
          <a:ln w="31750">
            <a:solidFill>
              <a:srgbClr val="FF7A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5"/>
          <p:cNvSpPr>
            <a:spLocks noChangeShapeType="1"/>
          </p:cNvSpPr>
          <p:nvPr/>
        </p:nvSpPr>
        <p:spPr bwMode="auto">
          <a:xfrm>
            <a:off x="1113130" y="4649599"/>
            <a:ext cx="288925" cy="0"/>
          </a:xfrm>
          <a:prstGeom prst="line">
            <a:avLst/>
          </a:prstGeom>
          <a:noFill/>
          <a:ln w="31750">
            <a:solidFill>
              <a:srgbClr val="FF7A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1113130" y="5090421"/>
            <a:ext cx="288925" cy="0"/>
          </a:xfrm>
          <a:prstGeom prst="line">
            <a:avLst/>
          </a:prstGeom>
          <a:noFill/>
          <a:ln w="31750">
            <a:solidFill>
              <a:srgbClr val="FF7A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7"/>
          <p:cNvSpPr>
            <a:spLocks noChangeShapeType="1"/>
          </p:cNvSpPr>
          <p:nvPr/>
        </p:nvSpPr>
        <p:spPr bwMode="auto">
          <a:xfrm>
            <a:off x="1113130" y="5921503"/>
            <a:ext cx="288925" cy="0"/>
          </a:xfrm>
          <a:prstGeom prst="line">
            <a:avLst/>
          </a:prstGeom>
          <a:noFill/>
          <a:ln w="31750">
            <a:solidFill>
              <a:srgbClr val="FF7A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20"/>
          <p:cNvSpPr>
            <a:spLocks/>
          </p:cNvSpPr>
          <p:nvPr/>
        </p:nvSpPr>
        <p:spPr bwMode="auto">
          <a:xfrm>
            <a:off x="8311512" y="4768529"/>
            <a:ext cx="1752600" cy="646331"/>
          </a:xfrm>
          <a:prstGeom prst="borderCallout1">
            <a:avLst>
              <a:gd name="adj1" fmla="val 36366"/>
              <a:gd name="adj2" fmla="val -5287"/>
              <a:gd name="adj3" fmla="val 43852"/>
              <a:gd name="adj4" fmla="val -105675"/>
            </a:avLst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 type="arrow" w="med" len="med"/>
          </a:ln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5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1800">
                <a:solidFill>
                  <a:srgbClr val="003399"/>
                </a:solidFill>
                <a:ea typeface="宋体" charset="-122"/>
              </a:rPr>
              <a:t>What’s Bob’s number?</a:t>
            </a:r>
            <a:endParaRPr kumimoji="0" lang="en-US" altLang="zh-CN" sz="1800" b="1">
              <a:solidFill>
                <a:srgbClr val="003399"/>
              </a:solidFill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535198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字典作为函数参数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03831" y="1293267"/>
            <a:ext cx="9655323" cy="410767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如果用字典作为函数参数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在参数传递时，传递的是引用而不是值，即传递的是字典的地址，而不会把整个字典的内容拷贝过去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在被调用的函数中，如果对字典中的值进行了修改，则返回主调函数后，这些修改依然有效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1200"/>
              </a:spcBef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5651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字典作为参数举例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1444797" y="953260"/>
            <a:ext cx="8511063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5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algn="l"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n"/>
              <a:defRPr kumimoji="1"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def change_num(dict, name, num):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    dict[name] = num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zh-CN" sz="2800" b="1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 = </a:t>
            </a:r>
            <a:r>
              <a:rPr kumimoji="0" lang="en-US" altLang="zh-CN" sz="2800" b="1">
                <a:latin typeface="Courier New" pitchFamily="49" charset="0"/>
                <a:ea typeface="宋体" charset="-122"/>
              </a:rPr>
              <a:t>{}  </a:t>
            </a:r>
            <a:endParaRPr kumimoji="0" lang="en-NZ" altLang="zh-CN" sz="2800" b="1" dirty="0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["Mum"] </a:t>
            </a:r>
            <a:r>
              <a:rPr kumimoji="0" lang="en-US" altLang="zh-CN" sz="2800" b="1">
                <a:latin typeface="Courier New" pitchFamily="49" charset="0"/>
                <a:ea typeface="宋体" charset="-122"/>
              </a:rPr>
              <a:t>=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 999888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["Dad"] = 999888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[</a:t>
            </a:r>
            <a:r>
              <a:rPr kumimoji="0" lang="en-NZ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Bob</a:t>
            </a:r>
            <a:r>
              <a:rPr kumimoji="0" lang="en-NZ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"]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 = 123456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["Edward"] = 555353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>
                <a:latin typeface="Courier New" pitchFamily="49" charset="0"/>
                <a:ea typeface="宋体" charset="-122"/>
              </a:rPr>
              <a:t>change_num(phone, </a:t>
            </a:r>
            <a:r>
              <a:rPr kumimoji="0" lang="en-NZ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Bob</a:t>
            </a:r>
            <a:r>
              <a:rPr kumimoji="0" lang="en-NZ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"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, 110)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>
                <a:latin typeface="Courier New" pitchFamily="49" charset="0"/>
                <a:ea typeface="宋体" charset="-122"/>
              </a:rPr>
              <a:t>for name in </a:t>
            </a: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.</a:t>
            </a:r>
            <a:r>
              <a:rPr kumimoji="0" lang="en-NZ" altLang="zh-CN" sz="2800" b="1">
                <a:solidFill>
                  <a:srgbClr val="003399"/>
                </a:solidFill>
                <a:latin typeface="Courier New" pitchFamily="49" charset="0"/>
                <a:ea typeface="宋体" charset="-122"/>
              </a:rPr>
              <a:t>keys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():</a:t>
            </a:r>
            <a:endParaRPr kumimoji="0" lang="en-NZ" altLang="zh-CN" sz="2800" b="1" dirty="0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>
                <a:latin typeface="Courier New" pitchFamily="49" charset="0"/>
                <a:ea typeface="宋体" charset="-122"/>
              </a:rPr>
              <a:t>    print(name + "</a:t>
            </a:r>
            <a:r>
              <a:rPr kumimoji="0" lang="en-NZ" altLang="zh-CN" sz="2800" b="1" dirty="0" err="1">
                <a:latin typeface="Courier New" pitchFamily="49" charset="0"/>
                <a:ea typeface="宋体" charset="-122"/>
              </a:rPr>
              <a:t>'s</a:t>
            </a:r>
            <a:r>
              <a:rPr kumimoji="0" lang="en-NZ" altLang="zh-CN" sz="2800" b="1" dirty="0">
                <a:latin typeface="Courier New" pitchFamily="49" charset="0"/>
                <a:ea typeface="宋体" charset="-122"/>
              </a:rPr>
              <a:t> number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: ")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NZ" altLang="zh-CN" sz="2800" b="1">
                <a:latin typeface="Courier New" pitchFamily="49" charset="0"/>
                <a:ea typeface="宋体" charset="-122"/>
              </a:rPr>
              <a:t>    print(</a:t>
            </a:r>
            <a:r>
              <a:rPr kumimoji="0" lang="en-US" altLang="zh-CN" sz="2800" b="1">
                <a:latin typeface="Courier New" pitchFamily="49" charset="0"/>
                <a:ea typeface="宋体" charset="-122"/>
              </a:rPr>
              <a:t>phone</a:t>
            </a:r>
            <a:r>
              <a:rPr kumimoji="0" lang="en-NZ" altLang="zh-CN" sz="2800" b="1">
                <a:latin typeface="Courier New" pitchFamily="49" charset="0"/>
                <a:ea typeface="宋体" charset="-122"/>
              </a:rPr>
              <a:t>[name]</a:t>
            </a:r>
            <a:r>
              <a:rPr kumimoji="0" lang="en-US" altLang="zh-CN" sz="2800" b="1">
                <a:latin typeface="Courier New" pitchFamily="49" charset="0"/>
                <a:ea typeface="宋体" charset="-122"/>
              </a:rPr>
              <a:t>)</a:t>
            </a:r>
            <a:endParaRPr kumimoji="0" lang="en-NZ" altLang="zh-CN" sz="2800" b="1" dirty="0"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25530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例题：统计单词个数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46488" y="1658598"/>
            <a:ext cx="9452851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850900">
              <a:spcBef>
                <a:spcPct val="800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【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问题描述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】</a:t>
            </a:r>
          </a:p>
          <a:p>
            <a:pPr defTabSz="850900">
              <a:spcBef>
                <a:spcPts val="18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        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对于给定的一个单词列表，统计其中每</a:t>
            </a:r>
            <a:r>
              <a:rPr kumimoji="1" lang="zh-CN" altLang="en-US" sz="3200" b="1">
                <a:ea typeface="宋体" pitchFamily="2" charset="-122"/>
              </a:rPr>
              <a:t>个单词</a:t>
            </a:r>
            <a:endParaRPr kumimoji="1" lang="en-US" altLang="zh-CN" sz="3200" b="1">
              <a:ea typeface="宋体" pitchFamily="2" charset="-122"/>
            </a:endParaRPr>
          </a:p>
          <a:p>
            <a:pPr defTabSz="850900">
              <a:spcBef>
                <a:spcPts val="18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ea typeface="宋体" pitchFamily="2" charset="-122"/>
              </a:rPr>
              <a:t>的出现次数，返回一个元组（单词，次数）列表。</a:t>
            </a:r>
            <a:endParaRPr kumimoji="1" lang="en-US" altLang="zh-CN" sz="3200" b="1">
              <a:ea typeface="宋体" pitchFamily="2" charset="-122"/>
            </a:endParaRPr>
          </a:p>
          <a:p>
            <a:pPr defTabSz="850900">
              <a:spcBef>
                <a:spcPts val="1800"/>
              </a:spcBef>
              <a:buClr>
                <a:srgbClr val="FFFF66"/>
              </a:buClr>
              <a:buNone/>
            </a:pPr>
            <a:r>
              <a:rPr kumimoji="1" lang="en-US" altLang="zh-CN" sz="3200" b="1">
                <a:ea typeface="宋体" pitchFamily="2" charset="-122"/>
              </a:rPr>
              <a:t>        </a:t>
            </a:r>
            <a:r>
              <a:rPr kumimoji="1" lang="zh-CN" altLang="en-US" sz="3200" b="1">
                <a:ea typeface="宋体" pitchFamily="2" charset="-122"/>
              </a:rPr>
              <a:t>需要考虑性能，速度越快越好。</a:t>
            </a:r>
          </a:p>
        </p:txBody>
      </p:sp>
    </p:spTree>
    <p:extLst>
      <p:ext uri="{BB962C8B-B14F-4D97-AF65-F5344CB8AC3E}">
        <p14:creationId xmlns:p14="http://schemas.microsoft.com/office/powerpoint/2010/main" val="386277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main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6109" y="1510233"/>
            <a:ext cx="11526728" cy="35702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def main():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   words =['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Momo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Momo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Koko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Noa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Momo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Koko</a:t>
            </a:r>
            <a:r>
              <a:rPr lang="en-US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'</a:t>
            </a: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]</a:t>
            </a:r>
          </a:p>
          <a:p>
            <a:pPr>
              <a:spcBef>
                <a:spcPts val="600"/>
              </a:spcBef>
              <a:buNone/>
            </a:pP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   pairs = word_frequency(words)</a:t>
            </a:r>
          </a:p>
          <a:p>
            <a:pPr>
              <a:spcBef>
                <a:spcPts val="600"/>
              </a:spcBef>
              <a:buNone/>
            </a:pP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for p in pairs:</a:t>
            </a:r>
          </a:p>
          <a:p>
            <a:pPr>
              <a:spcBef>
                <a:spcPts val="600"/>
              </a:spcBef>
              <a:buNone/>
            </a:pP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 print(p[0]+ ' = ' +str(p[1]))</a:t>
            </a:r>
          </a:p>
          <a:p>
            <a:pPr>
              <a:spcBef>
                <a:spcPts val="600"/>
              </a:spcBef>
              <a:buNone/>
            </a:pPr>
            <a:endParaRPr lang="fi-FI" altLang="zh-CN" sz="28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fi-FI" altLang="zh-CN" sz="2800" b="1" dirty="0">
                <a:latin typeface="Courier New" pitchFamily="49" charset="0"/>
                <a:ea typeface="宋体" charset="-122"/>
                <a:cs typeface="Courier New" pitchFamily="49" charset="0"/>
              </a:rPr>
              <a:t>main()</a:t>
            </a:r>
            <a:endParaRPr lang="en-US" altLang="zh-CN" sz="28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49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方案</a:t>
            </a:r>
            <a:r>
              <a:rPr lang="en-US" altLang="zh-CN" sz="4800" noProof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84482" y="1288935"/>
            <a:ext cx="10284865" cy="34317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def </a:t>
            </a:r>
            <a:r>
              <a:rPr lang="en-US" altLang="zh-CN" sz="3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word_frequency</a:t>
            </a: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(words):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pairs = []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for w in set(words): </a:t>
            </a:r>
            <a:r>
              <a:rPr lang="en-US" altLang="zh-CN" sz="32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#why set()?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   </a:t>
            </a:r>
            <a:r>
              <a:rPr lang="en-US" altLang="zh-CN" sz="3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pairs.append</a:t>
            </a: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((w, </a:t>
            </a:r>
            <a:r>
              <a:rPr lang="en-US" altLang="zh-CN" sz="3200" b="1" dirty="0" err="1">
                <a:latin typeface="Courier New" pitchFamily="49" charset="0"/>
                <a:ea typeface="宋体" charset="-122"/>
                <a:cs typeface="Courier New" pitchFamily="49" charset="0"/>
              </a:rPr>
              <a:t>words.count</a:t>
            </a: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(w)))</a:t>
            </a:r>
          </a:p>
          <a:p>
            <a:pPr>
              <a:spcBef>
                <a:spcPts val="600"/>
              </a:spcBef>
              <a:buNone/>
            </a:pPr>
            <a:endParaRPr lang="en-US" altLang="zh-CN" sz="3200" b="1" dirty="0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 dirty="0">
                <a:latin typeface="Courier New" pitchFamily="49" charset="0"/>
                <a:ea typeface="宋体" charset="-122"/>
                <a:cs typeface="Courier New" pitchFamily="49" charset="0"/>
              </a:rPr>
              <a:t>    return sorted(pairs)</a:t>
            </a:r>
          </a:p>
        </p:txBody>
      </p:sp>
      <p:sp>
        <p:nvSpPr>
          <p:cNvPr id="5" name="矩形 4"/>
          <p:cNvSpPr/>
          <p:nvPr/>
        </p:nvSpPr>
        <p:spPr>
          <a:xfrm>
            <a:off x="1977596" y="4866691"/>
            <a:ext cx="76876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words.count(w)</a:t>
            </a:r>
            <a:r>
              <a:rPr lang="zh-CN" altLang="en-US" sz="2800" b="1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会被调用多少次？</a:t>
            </a:r>
            <a:endParaRPr lang="en-US" altLang="zh-CN" sz="2800" b="1">
              <a:solidFill>
                <a:srgbClr val="FF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buNone/>
            </a:pPr>
            <a:r>
              <a:rPr lang="zh-CN" altLang="en-US" sz="2800" b="1">
                <a:solidFill>
                  <a:srgbClr val="FF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每一次要进行多少次比较？如果百万单词？</a:t>
            </a:r>
            <a:endParaRPr lang="zh-CN" altLang="en-US" sz="2800" b="1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65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方案</a:t>
            </a:r>
            <a:r>
              <a:rPr lang="en-US" altLang="zh-CN" sz="4800" noProof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97231" y="1295993"/>
            <a:ext cx="9413196" cy="45704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def word_frequency(words):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zidian = {}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for w in words: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    if w in zidian: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时间复杂度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?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        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zidian[w] += 1</a:t>
            </a: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改。复杂度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?</a:t>
            </a:r>
            <a:endParaRPr lang="en-US" altLang="zh-CN" sz="2800" b="1"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        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zidian[w] = 1</a:t>
            </a: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新增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return sorted(zidian.items())</a:t>
            </a:r>
          </a:p>
        </p:txBody>
      </p:sp>
    </p:spTree>
    <p:extLst>
      <p:ext uri="{BB962C8B-B14F-4D97-AF65-F5344CB8AC3E}">
        <p14:creationId xmlns:p14="http://schemas.microsoft.com/office/powerpoint/2010/main" val="379956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字典查询：速度非常快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47588" y="1497648"/>
            <a:ext cx="5257800" cy="4078540"/>
            <a:chOff x="1174750" y="1295400"/>
            <a:chExt cx="7512050" cy="441325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750" y="1447800"/>
              <a:ext cx="6978650" cy="4260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椭圆 6"/>
            <p:cNvSpPr/>
            <p:nvPr/>
          </p:nvSpPr>
          <p:spPr bwMode="auto">
            <a:xfrm>
              <a:off x="2209800" y="1295400"/>
              <a:ext cx="4038600" cy="533400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6858000" y="1981200"/>
              <a:ext cx="1828800" cy="533400"/>
            </a:xfrm>
            <a:prstGeom prst="ellipse">
              <a:avLst/>
            </a:pr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</p:grp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42878"/>
              </p:ext>
            </p:extLst>
          </p:nvPr>
        </p:nvGraphicFramePr>
        <p:xfrm>
          <a:off x="6937078" y="2365613"/>
          <a:ext cx="3048000" cy="2526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 Shawshark</a:t>
                      </a:r>
                      <a:r>
                        <a:rPr lang="en-US" altLang="zh-CN" b="1" baseline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Redemption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9.3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Liu Lang Di Qiu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8.0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816">
                <a:tc>
                  <a:txBody>
                    <a:bodyPr/>
                    <a:lstStyle/>
                    <a:p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36675" y="1497648"/>
            <a:ext cx="1452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600">
                <a:latin typeface="黑体" pitchFamily="49" charset="-122"/>
                <a:ea typeface="黑体" pitchFamily="49" charset="-122"/>
              </a:rPr>
              <a:t>字典</a:t>
            </a:r>
          </a:p>
        </p:txBody>
      </p:sp>
      <p:sp>
        <p:nvSpPr>
          <p:cNvPr id="11" name="矩形 10"/>
          <p:cNvSpPr/>
          <p:nvPr/>
        </p:nvSpPr>
        <p:spPr>
          <a:xfrm>
            <a:off x="7351548" y="4956413"/>
            <a:ext cx="9605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keys</a:t>
            </a:r>
            <a:endParaRPr lang="zh-CN" altLang="en-US" sz="3200"/>
          </a:p>
        </p:txBody>
      </p:sp>
      <p:sp>
        <p:nvSpPr>
          <p:cNvPr id="12" name="矩形 11"/>
          <p:cNvSpPr/>
          <p:nvPr/>
        </p:nvSpPr>
        <p:spPr>
          <a:xfrm>
            <a:off x="8773710" y="4956413"/>
            <a:ext cx="12795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values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00384866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88714" y="962820"/>
            <a:ext cx="8908982" cy="532453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import time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import random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length = 20000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keys = []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values = []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 in range(length): 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key =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(0, length-1)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keys.append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(str(key))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values.append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)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t1 =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() 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 in range(length):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key =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(0, length-1) 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if str(key) in keys: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    index =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keys.index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(str(key))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        value = values[index]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t2 = </a:t>
            </a:r>
            <a:r>
              <a:rPr lang="en-US" altLang="zh-CN" sz="20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000" b="1" dirty="0">
                <a:latin typeface="Courier New" pitchFamily="49" charset="0"/>
                <a:ea typeface="宋体" charset="-122"/>
              </a:rPr>
              <a:t>()</a:t>
            </a:r>
          </a:p>
          <a:p>
            <a:pPr>
              <a:buNone/>
            </a:pPr>
            <a:r>
              <a:rPr lang="en-US" altLang="zh-CN" sz="2000" b="1" dirty="0">
                <a:latin typeface="Courier New" pitchFamily="49" charset="0"/>
                <a:ea typeface="宋体" charset="-122"/>
              </a:rPr>
              <a:t>print(t2 - t1)</a:t>
            </a:r>
          </a:p>
        </p:txBody>
      </p:sp>
    </p:spTree>
    <p:extLst>
      <p:ext uri="{BB962C8B-B14F-4D97-AF65-F5344CB8AC3E}">
        <p14:creationId xmlns:p14="http://schemas.microsoft.com/office/powerpoint/2010/main" val="94551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dictionary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388714" y="962820"/>
            <a:ext cx="8908982" cy="52629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import time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import random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length = 20000</a:t>
            </a:r>
          </a:p>
          <a:p>
            <a:pPr>
              <a:buNone/>
            </a:pP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zidian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 = {}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 in range(length): 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 key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(0, length-1)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zidian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[str(key)]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i</a:t>
            </a:r>
            <a:endParaRPr lang="en-US" altLang="zh-CN" sz="2400" b="1" dirty="0">
              <a:latin typeface="Courier New" pitchFamily="49" charset="0"/>
              <a:ea typeface="宋体" charset="-122"/>
            </a:endParaRP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t1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() 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i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 in range(length):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 key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random.randint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(0, length-1) 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 if str(key) in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zidian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: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        value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zidian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[str(key)]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t2 = </a:t>
            </a:r>
            <a:r>
              <a:rPr lang="en-US" altLang="zh-CN" sz="2400" b="1" dirty="0" err="1">
                <a:latin typeface="Courier New" pitchFamily="49" charset="0"/>
                <a:ea typeface="宋体" charset="-122"/>
              </a:rPr>
              <a:t>time.time</a:t>
            </a:r>
            <a:r>
              <a:rPr lang="en-US" altLang="zh-CN" sz="2400" b="1" dirty="0">
                <a:latin typeface="Courier New" pitchFamily="49" charset="0"/>
                <a:ea typeface="宋体" charset="-122"/>
              </a:rPr>
              <a:t>()</a:t>
            </a:r>
          </a:p>
          <a:p>
            <a:pPr>
              <a:buNone/>
            </a:pPr>
            <a:r>
              <a:rPr lang="en-US" altLang="zh-CN" sz="2400" b="1" dirty="0">
                <a:latin typeface="Courier New" pitchFamily="49" charset="0"/>
                <a:ea typeface="宋体" charset="-122"/>
              </a:rPr>
              <a:t>print(t2 - t1)</a:t>
            </a:r>
          </a:p>
        </p:txBody>
      </p:sp>
    </p:spTree>
    <p:extLst>
      <p:ext uri="{BB962C8B-B14F-4D97-AF65-F5344CB8AC3E}">
        <p14:creationId xmlns:p14="http://schemas.microsoft.com/office/powerpoint/2010/main" val="270457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哈希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(Hash</a:t>
            </a:r>
            <a:r>
              <a:rPr lang="en-US" altLang="zh-CN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)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B02EB1-8D36-4DC6-B282-E1AAA8E5B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518" y="1326352"/>
            <a:ext cx="9984579" cy="2209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2913" indent="-442913">
              <a:spcBef>
                <a:spcPct val="30000"/>
              </a:spcBef>
              <a:buSzPct val="90000"/>
              <a:buFont typeface="Times New Roman" pitchFamily="18" charset="0"/>
              <a:buChar char="☺"/>
            </a:pPr>
            <a:r>
              <a:rPr kumimoji="1"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Hash: "From the French hatcher, which means 'to chop'. "</a:t>
            </a:r>
          </a:p>
          <a:p>
            <a:pPr marL="442913" indent="-442913">
              <a:spcBef>
                <a:spcPct val="30000"/>
              </a:spcBef>
              <a:buSzPct val="90000"/>
              <a:buFont typeface="Times New Roman" pitchFamily="18" charset="0"/>
              <a:buChar char="☺"/>
            </a:pPr>
            <a:r>
              <a:rPr kumimoji="1"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 hash</a:t>
            </a:r>
            <a:r>
              <a:rPr kumimoji="1"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mix randomly or shuffle (To cut up, to slash or hack about; to mangle)</a:t>
            </a:r>
            <a:endParaRPr kumimoji="1"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EE650F5-28A9-4ED9-B36A-7617852E7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849" y="3838575"/>
            <a:ext cx="12192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082024C7-13A9-4456-BB0F-A20197281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7" y="3884612"/>
            <a:ext cx="2381250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BC5D24D0-40FA-447C-A138-5384624DF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5" y="4189412"/>
            <a:ext cx="1905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Line 7">
            <a:extLst>
              <a:ext uri="{FF2B5EF4-FFF2-40B4-BE49-F238E27FC236}">
                <a16:creationId xmlns:a16="http://schemas.microsoft.com/office/drawing/2014/main" id="{38A979D3-AE8A-4D32-B749-9BF41ECEB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2333" y="4799012"/>
            <a:ext cx="11430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4693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哈希表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0EE631A0-9860-4373-A1A6-E23213AB9E4F}"/>
              </a:ext>
            </a:extLst>
          </p:cNvPr>
          <p:cNvSpPr txBox="1">
            <a:spLocks/>
          </p:cNvSpPr>
          <p:nvPr/>
        </p:nvSpPr>
        <p:spPr>
          <a:xfrm>
            <a:off x="904878" y="1319208"/>
            <a:ext cx="10396538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（哈希表）使用一个数组和哈希函数来确定每个元素的索引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（哈希函数）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将一大堆数据压缩为一小坨数据，如一个整数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可以是一个函数或一个算法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输入数据不一定是整数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7279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哈希</a:t>
            </a:r>
            <a:r>
              <a:rPr lang="zh-CN" altLang="en-US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0143743-1CD2-4FF6-8049-06ACCCBFF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9222" y="3700459"/>
            <a:ext cx="24945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/>
              <a:t>"Weijun Chen"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510CCE21-63FF-4C00-873A-25559076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172" y="2254247"/>
            <a:ext cx="19800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>
                <a:latin typeface="Times New Roman" pitchFamily="18" charset="0"/>
              </a:rPr>
              <a:t>2106882160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F5E7F75-112B-426F-AA7B-979BA391C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0747" y="4406897"/>
            <a:ext cx="42659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>
                <a:latin typeface="Courier New" pitchFamily="49" charset="0"/>
              </a:rPr>
              <a:t>cwj@tsinghua.edu.cn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DDC4BA95-E338-49E4-9021-52C0A1D10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806" y="2968622"/>
            <a:ext cx="26933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>
                <a:latin typeface="Vrinda" pitchFamily="2" charset="0"/>
              </a:rPr>
              <a:t>3012345678901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64AE16-C19F-4E44-AD71-83E41E3AC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422" y="1414459"/>
            <a:ext cx="5486400" cy="4495800"/>
          </a:xfrm>
          <a:prstGeom prst="ellipse">
            <a:avLst/>
          </a:prstGeom>
          <a:noFill/>
          <a:ln w="50800">
            <a:solidFill>
              <a:srgbClr val="FF7A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buNone/>
            </a:pPr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17FC4512-764A-405F-84E6-C6655D226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83" y="3700459"/>
            <a:ext cx="17526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buNone/>
            </a:pPr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9FC646B1-0F53-4F60-BD8B-396E22F45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9" y="3327395"/>
            <a:ext cx="7553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 sz="4000"/>
              <a:t>12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77362C7-525E-423C-8A03-1C339BBF1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32" y="3765547"/>
            <a:ext cx="1431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 dirty="0">
                <a:solidFill>
                  <a:srgbClr val="FF7A00"/>
                </a:solidFill>
              </a:rPr>
              <a:t>hash</a:t>
            </a:r>
            <a:br>
              <a:rPr lang="en-US" dirty="0">
                <a:solidFill>
                  <a:srgbClr val="FF7A00"/>
                </a:solidFill>
              </a:rPr>
            </a:br>
            <a:r>
              <a:rPr lang="en-US" dirty="0">
                <a:solidFill>
                  <a:srgbClr val="FF7A00"/>
                </a:solidFill>
              </a:rPr>
              <a:t>function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1F87BED2-672B-48D0-A057-22344A140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972" y="4919659"/>
            <a:ext cx="34002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Marlett" pitchFamily="2" charset="2"/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None/>
            </a:pPr>
            <a:r>
              <a:rPr lang="en-US"/>
              <a:t>"Computer Science"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1A8228E-3157-4829-9953-CBFF455515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374" y="2024059"/>
            <a:ext cx="1575197" cy="237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1952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哈希</a:t>
            </a:r>
            <a:r>
              <a:rPr lang="zh-CN" altLang="en-US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</a:t>
            </a:r>
            <a:r>
              <a:rPr lang="en-US" altLang="zh-CN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6B0BD9BD-DC04-455D-8192-4CF1C10B321D}"/>
              </a:ext>
            </a:extLst>
          </p:cNvPr>
          <p:cNvSpPr txBox="1">
            <a:spLocks/>
          </p:cNvSpPr>
          <p:nvPr/>
        </p:nvSpPr>
        <p:spPr>
          <a:xfrm>
            <a:off x="962024" y="1383506"/>
            <a:ext cx="10139363" cy="43815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通常包括两个步骤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采用多种技术（如映射、叠加、乘法、移位等），将输入的一大堆各种类型的数据转换为一个整数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将该整数映射为哈希表（即元素实际存放处）的一个下标。典型做法：将整数除以哈希表的长度，取余数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28770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A1BC870-6A4B-43BB-BB7F-4E62D32876F8}"/>
              </a:ext>
            </a:extLst>
          </p:cNvPr>
          <p:cNvSpPr txBox="1">
            <a:spLocks/>
          </p:cNvSpPr>
          <p:nvPr/>
        </p:nvSpPr>
        <p:spPr>
          <a:xfrm>
            <a:off x="826294" y="1290638"/>
            <a:ext cx="10267950" cy="476011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假设输入数据为姓名（字符串），哈希函数为：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取第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，算出其整数值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(a=0, b=1, ...)</a:t>
            </a:r>
          </a:p>
          <a:p>
            <a:pPr lvl="1"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将其除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取余数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zh-CN" altLang="en-US" dirty="0"/>
              <a:t>例如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Bellers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-&gt; 11 -&gt; 11 % 6 = 5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"Mike"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(10 % 6) = 4</a:t>
            </a:r>
          </a:p>
        </p:txBody>
      </p:sp>
    </p:spTree>
    <p:extLst>
      <p:ext uri="{BB962C8B-B14F-4D97-AF65-F5344CB8AC3E}">
        <p14:creationId xmlns:p14="http://schemas.microsoft.com/office/powerpoint/2010/main" val="330879036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Handling Collisions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F715AE5-2766-46EE-9947-0008116249B1}"/>
              </a:ext>
            </a:extLst>
          </p:cNvPr>
          <p:cNvSpPr txBox="1">
            <a:spLocks/>
          </p:cNvSpPr>
          <p:nvPr/>
        </p:nvSpPr>
        <p:spPr>
          <a:xfrm>
            <a:off x="1254920" y="1264440"/>
            <a:ext cx="76962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如果两个数据被映射到同一个下标？</a:t>
            </a:r>
            <a:endParaRPr lang="en-US" altLang="zh-CN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90A2C79-8205-46FD-98BA-911CE3B2C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20" y="2312192"/>
            <a:ext cx="5026818" cy="352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IC23801.gif">
            <a:extLst>
              <a:ext uri="{FF2B5EF4-FFF2-40B4-BE49-F238E27FC236}">
                <a16:creationId xmlns:a16="http://schemas.microsoft.com/office/drawing/2014/main" id="{B3D26E5B-CF6C-47A2-A6A5-3C4234282F2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46144" y="2146178"/>
            <a:ext cx="3076574" cy="378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5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265" y="394741"/>
            <a:ext cx="5702530" cy="570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9331</Words>
  <Application>Microsoft Macintosh PowerPoint</Application>
  <PresentationFormat>宽屏</PresentationFormat>
  <Paragraphs>1666</Paragraphs>
  <Slides>136</Slides>
  <Notes>136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136</vt:i4>
      </vt:variant>
    </vt:vector>
  </HeadingPairs>
  <TitlesOfParts>
    <vt:vector size="159" baseType="lpstr">
      <vt:lpstr>等线</vt:lpstr>
      <vt:lpstr>等线 Light</vt:lpstr>
      <vt:lpstr>黑体</vt:lpstr>
      <vt:lpstr>华文隶书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Courier New</vt:lpstr>
      <vt:lpstr>Monotype Sorts</vt:lpstr>
      <vt:lpstr>Tahoma</vt:lpstr>
      <vt:lpstr>Times New Roman</vt:lpstr>
      <vt:lpstr>Vrinda</vt:lpstr>
      <vt:lpstr>Wingdings</vt:lpstr>
      <vt:lpstr>Wingdings 2</vt:lpstr>
      <vt:lpstr>Office 主题​​</vt:lpstr>
      <vt:lpstr>1_Office 主题​​</vt:lpstr>
      <vt:lpstr>文档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柠泽 路</cp:lastModifiedBy>
  <cp:revision>324</cp:revision>
  <dcterms:created xsi:type="dcterms:W3CDTF">2020-03-17T06:14:00Z</dcterms:created>
  <dcterms:modified xsi:type="dcterms:W3CDTF">2026-06-09T04:13:49Z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