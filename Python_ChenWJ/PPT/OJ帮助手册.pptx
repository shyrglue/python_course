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7" r:id="rId4"/>
    <p:sldId id="269" r:id="rId5"/>
    <p:sldId id="257" r:id="rId6"/>
    <p:sldId id="258" r:id="rId7"/>
    <p:sldId id="259" r:id="rId8"/>
    <p:sldId id="260" r:id="rId9"/>
    <p:sldId id="266" r:id="rId10"/>
    <p:sldId id="262" r:id="rId11"/>
    <p:sldId id="263" r:id="rId12"/>
    <p:sldId id="264" r:id="rId13"/>
    <p:sldId id="265" r:id="rId14"/>
    <p:sldId id="273" r:id="rId15"/>
    <p:sldId id="274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375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0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703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42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76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595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69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938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16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25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53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58C95-F0E1-47B7-9B14-D418A9D68EA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0FB7E-3E5F-4EEC-B3B6-94FFE2187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9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dsa.cs.tsinghua.edu.cn/oj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sa.cs.tsinghua.edu.cn/oj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Quick Guide To </a:t>
            </a:r>
            <a:br>
              <a:rPr lang="en-US" altLang="zh-CN" dirty="0"/>
            </a:br>
            <a:r>
              <a:rPr lang="en-US" altLang="zh-CN" dirty="0"/>
              <a:t>Tsinghua Online Judge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Online Judge Development Team</a:t>
            </a:r>
            <a:endParaRPr lang="zh-CN" altLang="en-US" dirty="0"/>
          </a:p>
          <a:p>
            <a:r>
              <a:rPr lang="en-US" altLang="zh-CN" dirty="0"/>
              <a:t>Oct 17, 2013</a:t>
            </a:r>
          </a:p>
        </p:txBody>
      </p:sp>
    </p:spTree>
    <p:extLst>
      <p:ext uri="{BB962C8B-B14F-4D97-AF65-F5344CB8AC3E}">
        <p14:creationId xmlns:p14="http://schemas.microsoft.com/office/powerpoint/2010/main" val="3981846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概览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hlinkClick r:id="rId2" action="ppaction://hlinksldjump"/>
              </a:rPr>
              <a:t>Tsinghua Online Judge</a:t>
            </a:r>
            <a:r>
              <a:rPr kumimoji="1" lang="zh-CN" altLang="en-US" dirty="0">
                <a:hlinkClick r:id="rId2" action="ppaction://hlinksldjump"/>
              </a:rPr>
              <a:t>介绍</a:t>
            </a:r>
            <a:endParaRPr kumimoji="1" lang="en-US" altLang="zh-CN" dirty="0"/>
          </a:p>
          <a:p>
            <a:r>
              <a:rPr kumimoji="1" lang="zh-CN" altLang="en-US" dirty="0">
                <a:hlinkClick r:id="rId3" action="ppaction://hlinksldjump"/>
              </a:rPr>
              <a:t>注册</a:t>
            </a:r>
            <a:endParaRPr kumimoji="1" lang="en-US" altLang="zh-CN" dirty="0"/>
          </a:p>
          <a:p>
            <a:r>
              <a:rPr kumimoji="1" lang="zh-CN" altLang="en-US" dirty="0">
                <a:hlinkClick r:id="rId4" action="ppaction://hlinksldjump"/>
              </a:rPr>
              <a:t>登录</a:t>
            </a:r>
            <a:endParaRPr kumimoji="1" lang="en-US" altLang="zh-CN" dirty="0"/>
          </a:p>
          <a:p>
            <a:r>
              <a:rPr kumimoji="1" lang="zh-CN" altLang="en-US" dirty="0">
                <a:hlinkClick r:id="rId5" action="ppaction://hlinksldjump"/>
              </a:rPr>
              <a:t>选课</a:t>
            </a:r>
            <a:endParaRPr kumimoji="1" lang="en-US" altLang="zh-CN" dirty="0"/>
          </a:p>
          <a:p>
            <a:r>
              <a:rPr kumimoji="1" lang="zh-CN" altLang="en-US" dirty="0">
                <a:hlinkClick r:id="rId6" action="ppaction://hlinksldjump"/>
              </a:rPr>
              <a:t>浏览和提交作业</a:t>
            </a:r>
            <a:endParaRPr kumimoji="1" lang="en-US" altLang="zh-CN" dirty="0"/>
          </a:p>
          <a:p>
            <a:r>
              <a:rPr kumimoji="1" lang="zh-CN" altLang="en-US" dirty="0">
                <a:hlinkClick r:id="" action="ppaction://noaction"/>
              </a:rPr>
              <a:t>在</a:t>
            </a:r>
            <a:r>
              <a:rPr kumimoji="1" lang="en-US" altLang="zh-CN" dirty="0">
                <a:hlinkClick r:id="" action="ppaction://noaction"/>
              </a:rPr>
              <a:t>OJ</a:t>
            </a:r>
            <a:r>
              <a:rPr kumimoji="1" lang="zh-CN" altLang="en-US" dirty="0">
                <a:hlinkClick r:id="" action="ppaction://noaction"/>
              </a:rPr>
              <a:t>上完成作业的一些说明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436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Tsinghua Online Judge</a:t>
            </a:r>
            <a:r>
              <a:rPr kumimoji="1" lang="zh-CN" altLang="en-US" dirty="0"/>
              <a:t>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Tsinghua Online Judge(</a:t>
            </a:r>
            <a:r>
              <a:rPr lang="zh-CN" altLang="en-US" dirty="0"/>
              <a:t>以下简称</a:t>
            </a:r>
            <a:r>
              <a:rPr lang="en-US" altLang="zh-CN" dirty="0"/>
              <a:t>OJ)</a:t>
            </a:r>
            <a:r>
              <a:rPr lang="zh-CN" altLang="en-US" dirty="0"/>
              <a:t>主要用于编程类作业的自动化、标准化评测。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访问</a:t>
            </a:r>
            <a:r>
              <a:rPr lang="en-US" altLang="zh-CN" dirty="0"/>
              <a:t>OJ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http://dsa.cs.tsinghua.edu.cn/oj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建议浏览器：</a:t>
            </a:r>
            <a:endParaRPr lang="en-US" altLang="zh-CN" dirty="0"/>
          </a:p>
          <a:p>
            <a:pPr lvl="1"/>
            <a:r>
              <a:rPr lang="en-US" altLang="zh-CN" dirty="0"/>
              <a:t>Internet Explorer 9</a:t>
            </a:r>
            <a:r>
              <a:rPr lang="zh-CN" altLang="en-US" dirty="0"/>
              <a:t>及以上版本</a:t>
            </a:r>
            <a:endParaRPr lang="en-US" altLang="zh-CN" dirty="0"/>
          </a:p>
          <a:p>
            <a:pPr lvl="1"/>
            <a:r>
              <a:rPr lang="en-US" altLang="zh-CN" dirty="0"/>
              <a:t>Firefox</a:t>
            </a:r>
          </a:p>
          <a:p>
            <a:pPr lvl="1"/>
            <a:r>
              <a:rPr lang="en-US" altLang="zh-CN" dirty="0"/>
              <a:t>Chrome</a:t>
            </a:r>
          </a:p>
          <a:p>
            <a:pPr lvl="1"/>
            <a:r>
              <a:rPr lang="en-US" altLang="zh-CN" dirty="0"/>
              <a:t>Safari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650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Tsinghua Online Judge</a:t>
            </a:r>
            <a:r>
              <a:rPr kumimoji="1" lang="zh-CN" altLang="en-US" dirty="0"/>
              <a:t>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OJ</a:t>
            </a:r>
            <a:r>
              <a:rPr kumimoji="1" lang="zh-CN" altLang="en-US" dirty="0"/>
              <a:t>的测试环境说明：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编译器为</a:t>
            </a:r>
            <a:r>
              <a:rPr kumimoji="1" lang="en-US" altLang="zh-CN" dirty="0"/>
              <a:t>g++-7</a:t>
            </a:r>
            <a:r>
              <a:rPr kumimoji="1" lang="zh-CN" altLang="en-US" dirty="0"/>
              <a:t>，支持</a:t>
            </a:r>
            <a:r>
              <a:rPr kumimoji="1" lang="en-US" altLang="zh-CN" dirty="0"/>
              <a:t>C/C++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提供标准的</a:t>
            </a:r>
            <a:r>
              <a:rPr kumimoji="1" lang="en-US" altLang="zh-CN" dirty="0"/>
              <a:t>C/C++</a:t>
            </a:r>
            <a:r>
              <a:rPr kumimoji="1" lang="zh-CN" altLang="en-US" dirty="0"/>
              <a:t>函数库，但是禁用了大部分的</a:t>
            </a:r>
            <a:r>
              <a:rPr kumimoji="1" lang="en-US" altLang="zh-CN" dirty="0"/>
              <a:t>STL</a:t>
            </a:r>
            <a:r>
              <a:rPr kumimoji="1" lang="zh-CN" altLang="en-US" dirty="0"/>
              <a:t>库，如</a:t>
            </a:r>
            <a:r>
              <a:rPr kumimoji="1" lang="en-US" altLang="zh-CN" dirty="0"/>
              <a:t>vector</a:t>
            </a:r>
            <a:r>
              <a:rPr kumimoji="1" lang="zh-CN" altLang="en-US" dirty="0"/>
              <a:t>、</a:t>
            </a:r>
            <a:r>
              <a:rPr kumimoji="1" lang="en-US" altLang="zh-CN" dirty="0"/>
              <a:t>map</a:t>
            </a:r>
            <a:r>
              <a:rPr kumimoji="1" lang="zh-CN" altLang="en-US" dirty="0"/>
              <a:t>等等。</a:t>
            </a:r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49225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屏幕快照 2013-10-16 下午11.02.2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02" y="2445076"/>
            <a:ext cx="9614343" cy="426767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OJ</a:t>
            </a:r>
            <a:r>
              <a:rPr lang="zh-CN" altLang="en-US" dirty="0"/>
              <a:t>地址：</a:t>
            </a:r>
            <a:r>
              <a:rPr lang="en-US" altLang="zh-CN" dirty="0">
                <a:hlinkClick r:id="rId3"/>
              </a:rPr>
              <a:t>http://dsa.cs.tsinghua.edu.cn/oj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448801" y="2410269"/>
            <a:ext cx="1496008" cy="38891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 rot="3005609">
            <a:off x="8844969" y="1911491"/>
            <a:ext cx="689850" cy="4167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6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758251" cy="4351338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在注册框内输入你的</a:t>
            </a:r>
            <a:r>
              <a:rPr lang="en-US" altLang="zh-CN" dirty="0"/>
              <a:t>E-Mail</a:t>
            </a:r>
            <a:r>
              <a:rPr lang="zh-CN" altLang="en-US" dirty="0"/>
              <a:t>邮箱、密码和昵称。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阅读页面左侧的声明，勾选“</a:t>
            </a:r>
            <a:r>
              <a:rPr lang="en-US" altLang="zh-CN" dirty="0"/>
              <a:t>I agree to the terms of service”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然后点击“</a:t>
            </a:r>
            <a:r>
              <a:rPr lang="en-US" altLang="zh-CN" dirty="0"/>
              <a:t>Register</a:t>
            </a:r>
            <a:r>
              <a:rPr lang="zh-CN" altLang="en-US" dirty="0"/>
              <a:t>！”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1-2</a:t>
            </a:r>
            <a:r>
              <a:rPr lang="zh-CN" altLang="en-US" dirty="0"/>
              <a:t>分钟内，一封邮件就会发往你填写的邮箱中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451" y="1128713"/>
            <a:ext cx="5362575" cy="50482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67215" y="2142813"/>
            <a:ext cx="4412785" cy="2799097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9"/>
          <p:cNvCxnSpPr>
            <a:endCxn id="5" idx="1"/>
          </p:cNvCxnSpPr>
          <p:nvPr/>
        </p:nvCxnSpPr>
        <p:spPr>
          <a:xfrm>
            <a:off x="4073954" y="2213171"/>
            <a:ext cx="2993261" cy="132919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9"/>
          <p:cNvCxnSpPr/>
          <p:nvPr/>
        </p:nvCxnSpPr>
        <p:spPr>
          <a:xfrm>
            <a:off x="5620548" y="3533528"/>
            <a:ext cx="1483724" cy="155928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9"/>
          <p:cNvCxnSpPr/>
          <p:nvPr/>
        </p:nvCxnSpPr>
        <p:spPr>
          <a:xfrm>
            <a:off x="4603572" y="4679341"/>
            <a:ext cx="2500700" cy="77813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894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打开你的邮箱，点击邮件中的链接，或者将链接复制到浏览器中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见到如下的网页内容说明你注册成功了：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379" y="2397901"/>
            <a:ext cx="8020050" cy="2505075"/>
          </a:xfrm>
          <a:prstGeom prst="rect">
            <a:avLst/>
          </a:prstGeom>
        </p:spPr>
      </p:pic>
      <p:pic>
        <p:nvPicPr>
          <p:cNvPr id="4" name="图片 3" descr="屏幕快照 2013-10-16 下午8.43.4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099" y="5926844"/>
            <a:ext cx="4127500" cy="4445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263309" y="4476642"/>
            <a:ext cx="7280306" cy="301796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78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屏幕快照 2013-10-16 下午11.02.2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02" y="2445076"/>
            <a:ext cx="9614343" cy="426767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登录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输入你的用户名和密码即可登录 </a:t>
            </a:r>
          </a:p>
        </p:txBody>
      </p:sp>
      <p:sp>
        <p:nvSpPr>
          <p:cNvPr id="5" name="矩形 4"/>
          <p:cNvSpPr/>
          <p:nvPr/>
        </p:nvSpPr>
        <p:spPr>
          <a:xfrm>
            <a:off x="7843936" y="3651240"/>
            <a:ext cx="2858276" cy="1583233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 rot="3005609">
            <a:off x="7240104" y="3152462"/>
            <a:ext cx="689850" cy="4167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75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选课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002" y="1140448"/>
            <a:ext cx="5610225" cy="1924050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 rot="20584867">
            <a:off x="3359020" y="1978090"/>
            <a:ext cx="1054360" cy="5318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7745543" y="2278335"/>
            <a:ext cx="130685" cy="3246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044506" y="2575629"/>
            <a:ext cx="288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输入在网络学堂发布给每个人人的代码。点击“</a:t>
            </a:r>
            <a:r>
              <a:rPr lang="en-US" altLang="zh-CN" sz="1400" dirty="0">
                <a:solidFill>
                  <a:srgbClr val="FF0000"/>
                </a:solidFill>
              </a:rPr>
              <a:t>OK</a:t>
            </a:r>
            <a:r>
              <a:rPr lang="zh-CN" altLang="en-US" sz="1400" dirty="0">
                <a:solidFill>
                  <a:srgbClr val="FF0000"/>
                </a:solidFill>
              </a:rPr>
              <a:t>”即可！</a:t>
            </a:r>
          </a:p>
        </p:txBody>
      </p:sp>
      <p:grpSp>
        <p:nvGrpSpPr>
          <p:cNvPr id="17" name="组 16"/>
          <p:cNvGrpSpPr/>
          <p:nvPr/>
        </p:nvGrpSpPr>
        <p:grpSpPr>
          <a:xfrm>
            <a:off x="641740" y="1697244"/>
            <a:ext cx="2438400" cy="1790700"/>
            <a:chOff x="679462" y="1370298"/>
            <a:chExt cx="2438400" cy="1790700"/>
          </a:xfrm>
        </p:grpSpPr>
        <p:pic>
          <p:nvPicPr>
            <p:cNvPr id="13" name="图片 12" descr="屏幕快照 2013-10-16 下午8.48.03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462" y="1370298"/>
              <a:ext cx="2438400" cy="1790700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994006" y="2414369"/>
              <a:ext cx="1822555" cy="238921"/>
            </a:xfrm>
            <a:prstGeom prst="rect">
              <a:avLst/>
            </a:prstGeom>
            <a:noFill/>
            <a:ln w="508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008093" y="2779038"/>
              <a:ext cx="1822555" cy="240424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右箭头 15"/>
          <p:cNvSpPr/>
          <p:nvPr/>
        </p:nvSpPr>
        <p:spPr>
          <a:xfrm rot="3056151">
            <a:off x="3222219" y="4004140"/>
            <a:ext cx="1054360" cy="53184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 descr="屏幕快照 2013-10-16 下午8.52.56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633" y="3595467"/>
            <a:ext cx="5801897" cy="3025346"/>
          </a:xfrm>
          <a:prstGeom prst="rect">
            <a:avLst/>
          </a:prstGeom>
        </p:spPr>
      </p:pic>
      <p:cxnSp>
        <p:nvCxnSpPr>
          <p:cNvPr id="21" name="直接箭头连接符 6"/>
          <p:cNvCxnSpPr/>
          <p:nvPr/>
        </p:nvCxnSpPr>
        <p:spPr>
          <a:xfrm flipH="1" flipV="1">
            <a:off x="4998310" y="5046301"/>
            <a:ext cx="471351" cy="66267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580783" y="5557367"/>
            <a:ext cx="28800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点选公开课程前面的</a:t>
            </a:r>
            <a:r>
              <a:rPr lang="en-US" altLang="zh-CN" sz="1400" dirty="0">
                <a:solidFill>
                  <a:srgbClr val="FF0000"/>
                </a:solidFill>
              </a:rPr>
              <a:t>“+”</a:t>
            </a:r>
            <a:r>
              <a:rPr lang="zh-CN" altLang="en-US" sz="1400" dirty="0">
                <a:solidFill>
                  <a:srgbClr val="FF0000"/>
                </a:solidFill>
              </a:rPr>
              <a:t>号即可选上该课程。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0423790" y="1648674"/>
            <a:ext cx="16550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清华校内</a:t>
            </a:r>
            <a:endParaRPr lang="en-US" altLang="zh-CN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</a:rPr>
              <a:t>课程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536956" y="4391492"/>
            <a:ext cx="16550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 err="1">
                <a:solidFill>
                  <a:srgbClr val="FF0000"/>
                </a:solidFill>
              </a:rPr>
              <a:t>xuetangX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课程</a:t>
            </a:r>
          </a:p>
        </p:txBody>
      </p:sp>
    </p:spTree>
    <p:extLst>
      <p:ext uri="{BB962C8B-B14F-4D97-AF65-F5344CB8AC3E}">
        <p14:creationId xmlns:p14="http://schemas.microsoft.com/office/powerpoint/2010/main" val="3028325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浏览和提交作业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53617"/>
            <a:ext cx="10515600" cy="4351338"/>
          </a:xfrm>
        </p:spPr>
        <p:txBody>
          <a:bodyPr/>
          <a:lstStyle/>
          <a:p>
            <a:r>
              <a:rPr lang="zh-CN" altLang="en-US" dirty="0"/>
              <a:t>点击课程名字进入课程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点击这里打开某一批作业，其中可能包含多道习题，成绩累计</a:t>
            </a:r>
          </a:p>
        </p:txBody>
      </p:sp>
      <p:grpSp>
        <p:nvGrpSpPr>
          <p:cNvPr id="8" name="组 7"/>
          <p:cNvGrpSpPr/>
          <p:nvPr/>
        </p:nvGrpSpPr>
        <p:grpSpPr>
          <a:xfrm>
            <a:off x="295452" y="4952168"/>
            <a:ext cx="11784206" cy="1512332"/>
            <a:chOff x="471487" y="2248579"/>
            <a:chExt cx="11784206" cy="151233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487" y="2248579"/>
              <a:ext cx="11249025" cy="923925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737117" y="2431324"/>
              <a:ext cx="886410" cy="321207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71208" y="2803172"/>
              <a:ext cx="101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Deadline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662333" y="2515116"/>
              <a:ext cx="1713723" cy="321207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662333" y="2837581"/>
              <a:ext cx="20313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作业名，点击可以</a:t>
              </a:r>
              <a:endParaRPr lang="en-US" altLang="zh-CN" dirty="0">
                <a:solidFill>
                  <a:srgbClr val="FF0000"/>
                </a:solidFill>
              </a:endParaRPr>
            </a:p>
            <a:p>
              <a:r>
                <a:rPr lang="zh-CN" altLang="en-US" dirty="0">
                  <a:solidFill>
                    <a:srgbClr val="FF0000"/>
                  </a:solidFill>
                </a:rPr>
                <a:t>展开作业内容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9178210" y="2431324"/>
              <a:ext cx="2074508" cy="321207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159974" y="2837581"/>
              <a:ext cx="309571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FF0000"/>
                  </a:solidFill>
                </a:rPr>
                <a:t>作业的目前得分情况，</a:t>
              </a:r>
              <a:endParaRPr lang="en-US" altLang="zh-CN" dirty="0">
                <a:solidFill>
                  <a:srgbClr val="FF0000"/>
                </a:solidFill>
              </a:endParaRPr>
            </a:p>
            <a:p>
              <a:r>
                <a:rPr lang="en-US" altLang="zh-CN" dirty="0">
                  <a:solidFill>
                    <a:srgbClr val="FF0000"/>
                  </a:solidFill>
                </a:rPr>
                <a:t>Deadline</a:t>
              </a:r>
              <a:r>
                <a:rPr lang="zh-CN" altLang="en-US" dirty="0">
                  <a:solidFill>
                    <a:srgbClr val="FF0000"/>
                  </a:solidFill>
                </a:rPr>
                <a:t>前仅供参考。</a:t>
              </a:r>
              <a:endParaRPr lang="en-US" altLang="zh-CN" dirty="0">
                <a:solidFill>
                  <a:srgbClr val="FF0000"/>
                </a:solidFill>
              </a:endParaRPr>
            </a:p>
            <a:p>
              <a:r>
                <a:rPr lang="en-US" altLang="zh-CN" dirty="0">
                  <a:solidFill>
                    <a:srgbClr val="FF0000"/>
                  </a:solidFill>
                </a:rPr>
                <a:t>Deadline</a:t>
              </a:r>
              <a:r>
                <a:rPr lang="zh-CN" altLang="en-US" dirty="0">
                  <a:solidFill>
                    <a:srgbClr val="FF0000"/>
                  </a:solidFill>
                </a:rPr>
                <a:t>后会有更详细的评测</a:t>
              </a:r>
            </a:p>
          </p:txBody>
        </p:sp>
      </p:grpSp>
      <p:pic>
        <p:nvPicPr>
          <p:cNvPr id="14" name="图片 13" descr="屏幕快照 2013-10-16 下午9.00.1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367" y="1607457"/>
            <a:ext cx="5863758" cy="2709532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5831071" y="2696897"/>
            <a:ext cx="1461809" cy="44681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373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浏览和提交作业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点开作业内容后：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46" y="2351410"/>
            <a:ext cx="11239500" cy="41148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35697" y="4408810"/>
            <a:ext cx="2211356" cy="121754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247053" y="4516666"/>
            <a:ext cx="46688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每一道题目的名字、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在作业中的分数比例、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还有你目前这道题的得分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点击题目名字可以打开这道题目的详细情况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244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AA08197-0F51-4451-9CF9-71B4C235A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177" y="1370302"/>
            <a:ext cx="8554997" cy="542292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浏览和提交作业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289121" y="3251843"/>
            <a:ext cx="12751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查看题目文本</a:t>
            </a: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7094635" y="3538315"/>
            <a:ext cx="356118" cy="22256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10011433" y="3574618"/>
            <a:ext cx="895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提交程序</a:t>
            </a:r>
          </a:p>
        </p:txBody>
      </p:sp>
      <p:cxnSp>
        <p:nvCxnSpPr>
          <p:cNvPr id="37" name="直接箭头连接符 36"/>
          <p:cNvCxnSpPr>
            <a:cxnSpLocks/>
          </p:cNvCxnSpPr>
          <p:nvPr/>
        </p:nvCxnSpPr>
        <p:spPr>
          <a:xfrm flipH="1">
            <a:off x="9706636" y="3737601"/>
            <a:ext cx="228984" cy="3379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36"/>
          <p:cNvCxnSpPr/>
          <p:nvPr/>
        </p:nvCxnSpPr>
        <p:spPr>
          <a:xfrm flipH="1">
            <a:off x="8083977" y="3358680"/>
            <a:ext cx="12574" cy="21377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7564306" y="3077573"/>
            <a:ext cx="1777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签署</a:t>
            </a:r>
            <a:r>
              <a:rPr lang="en-US" altLang="zh-CN" sz="1400" dirty="0">
                <a:solidFill>
                  <a:srgbClr val="FF0000"/>
                </a:solidFill>
              </a:rPr>
              <a:t>Honor code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34" name="直接箭头连接符 36"/>
          <p:cNvCxnSpPr>
            <a:cxnSpLocks/>
          </p:cNvCxnSpPr>
          <p:nvPr/>
        </p:nvCxnSpPr>
        <p:spPr>
          <a:xfrm flipH="1" flipV="1">
            <a:off x="8885855" y="3959850"/>
            <a:ext cx="1" cy="25343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8062136" y="4311330"/>
            <a:ext cx="1989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上传实验报告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本课不需要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77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25626" y="1825625"/>
            <a:ext cx="6102611" cy="4351338"/>
          </a:xfrm>
        </p:spPr>
        <p:txBody>
          <a:bodyPr/>
          <a:lstStyle/>
          <a:p>
            <a:r>
              <a:rPr kumimoji="1" lang="zh-CN" altLang="en-US" dirty="0"/>
              <a:t>提交的文件：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单个源程序文件</a:t>
            </a:r>
            <a:endParaRPr kumimoji="1" lang="en-US" altLang="zh-CN" dirty="0"/>
          </a:p>
          <a:p>
            <a:pPr lvl="2"/>
            <a:endParaRPr kumimoji="1" lang="en-US" altLang="zh-CN" dirty="0"/>
          </a:p>
          <a:p>
            <a:r>
              <a:rPr kumimoji="1" lang="zh-CN" altLang="en-US" dirty="0"/>
              <a:t>选择了提交的文件后点击</a:t>
            </a:r>
            <a:r>
              <a:rPr kumimoji="1" lang="en-US" altLang="zh-CN" dirty="0"/>
              <a:t>“Judge”</a:t>
            </a:r>
            <a:r>
              <a:rPr kumimoji="1" lang="zh-CN" altLang="en-US" dirty="0"/>
              <a:t>即可将程序提交到</a:t>
            </a:r>
            <a:r>
              <a:rPr kumimoji="1" lang="en-US" altLang="zh-CN" dirty="0"/>
              <a:t>OJ</a:t>
            </a:r>
          </a:p>
          <a:p>
            <a:pPr lvl="1"/>
            <a:endParaRPr kumimoji="1"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浏览和提交作业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343" y="2013873"/>
            <a:ext cx="4713995" cy="203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16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浏览和提交作业</a:t>
            </a:r>
            <a:endParaRPr kumimoji="1" lang="zh-CN" altLang="en-US" dirty="0"/>
          </a:p>
        </p:txBody>
      </p:sp>
      <p:pic>
        <p:nvPicPr>
          <p:cNvPr id="6" name="图片 5" descr="屏幕快照 2013-10-16 下午11.47.49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66" y="2543557"/>
            <a:ext cx="5444513" cy="2867600"/>
          </a:xfrm>
          <a:prstGeom prst="rect">
            <a:avLst/>
          </a:prstGeom>
        </p:spPr>
      </p:pic>
      <p:pic>
        <p:nvPicPr>
          <p:cNvPr id="7" name="图片 6" descr="屏幕快照 2013-10-16 下午11.46.1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763" y="2557817"/>
            <a:ext cx="5643759" cy="287451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175682" y="1312833"/>
            <a:ext cx="20313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你标记为最终版本的提交，如果没有标记会有醒目的提示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en-US" altLang="zh-CN" sz="1400" dirty="0">
                <a:solidFill>
                  <a:srgbClr val="FF0000"/>
                </a:solidFill>
              </a:rPr>
              <a:t>(deadline</a:t>
            </a:r>
            <a:r>
              <a:rPr lang="zh-CN" altLang="en-US" sz="1400" dirty="0">
                <a:solidFill>
                  <a:srgbClr val="FF0000"/>
                </a:solidFill>
              </a:rPr>
              <a:t>后的最终测试以标记的版本为准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5155315" y="2489817"/>
            <a:ext cx="867599" cy="60359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066943" y="5894404"/>
            <a:ext cx="2031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你得分最高的三次提交</a:t>
            </a:r>
          </a:p>
        </p:txBody>
      </p:sp>
      <p:cxnSp>
        <p:nvCxnSpPr>
          <p:cNvPr id="11" name="直接箭头连接符 13"/>
          <p:cNvCxnSpPr/>
          <p:nvPr/>
        </p:nvCxnSpPr>
        <p:spPr>
          <a:xfrm flipH="1" flipV="1">
            <a:off x="11203375" y="3596403"/>
            <a:ext cx="188608" cy="227604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501858" y="5701484"/>
            <a:ext cx="2031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你最近的三次提交</a:t>
            </a:r>
          </a:p>
        </p:txBody>
      </p:sp>
      <p:cxnSp>
        <p:nvCxnSpPr>
          <p:cNvPr id="13" name="直接箭头连接符 16"/>
          <p:cNvCxnSpPr/>
          <p:nvPr/>
        </p:nvCxnSpPr>
        <p:spPr>
          <a:xfrm flipH="1" flipV="1">
            <a:off x="8386815" y="4501791"/>
            <a:ext cx="25146" cy="113173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534410" y="6305918"/>
            <a:ext cx="2031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查看完整的提交列表</a:t>
            </a:r>
          </a:p>
        </p:txBody>
      </p:sp>
      <p:cxnSp>
        <p:nvCxnSpPr>
          <p:cNvPr id="15" name="直接箭头连接符 20"/>
          <p:cNvCxnSpPr/>
          <p:nvPr/>
        </p:nvCxnSpPr>
        <p:spPr>
          <a:xfrm flipV="1">
            <a:off x="5444513" y="5294005"/>
            <a:ext cx="12574" cy="9682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352839" y="5404243"/>
            <a:ext cx="15258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标记某个提交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zh-CN" altLang="en-US" sz="1400" dirty="0">
                <a:solidFill>
                  <a:srgbClr val="FF0000"/>
                </a:solidFill>
              </a:rPr>
              <a:t>为最终版本</a:t>
            </a:r>
          </a:p>
        </p:txBody>
      </p:sp>
      <p:cxnSp>
        <p:nvCxnSpPr>
          <p:cNvPr id="17" name="直接箭头连接符 24"/>
          <p:cNvCxnSpPr>
            <a:stCxn id="16" idx="0"/>
          </p:cNvCxnSpPr>
          <p:nvPr/>
        </p:nvCxnSpPr>
        <p:spPr>
          <a:xfrm flipV="1">
            <a:off x="4115763" y="4916760"/>
            <a:ext cx="486297" cy="487483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01942" y="5663852"/>
            <a:ext cx="2212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点击日期查看</a:t>
            </a:r>
            <a:endParaRPr lang="en-US" altLang="zh-CN" sz="1400" dirty="0">
              <a:solidFill>
                <a:srgbClr val="FF0000"/>
              </a:solidFill>
            </a:endParaRPr>
          </a:p>
          <a:p>
            <a:r>
              <a:rPr lang="zh-CN" altLang="en-US" sz="1400" dirty="0">
                <a:solidFill>
                  <a:srgbClr val="FF0000"/>
                </a:solidFill>
              </a:rPr>
              <a:t>评测的详细报告</a:t>
            </a:r>
          </a:p>
        </p:txBody>
      </p:sp>
      <p:cxnSp>
        <p:nvCxnSpPr>
          <p:cNvPr id="19" name="直接箭头连接符 29"/>
          <p:cNvCxnSpPr/>
          <p:nvPr/>
        </p:nvCxnSpPr>
        <p:spPr>
          <a:xfrm flipV="1">
            <a:off x="1169376" y="4992210"/>
            <a:ext cx="314348" cy="65389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222698" y="5165321"/>
            <a:ext cx="895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下载已提交的程序</a:t>
            </a:r>
          </a:p>
        </p:txBody>
      </p:sp>
      <p:cxnSp>
        <p:nvCxnSpPr>
          <p:cNvPr id="21" name="直接箭头连接符 24"/>
          <p:cNvCxnSpPr/>
          <p:nvPr/>
        </p:nvCxnSpPr>
        <p:spPr>
          <a:xfrm flipV="1">
            <a:off x="3118336" y="4841311"/>
            <a:ext cx="1257393" cy="5658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8"/>
          <p:cNvCxnSpPr>
            <a:stCxn id="8" idx="2"/>
          </p:cNvCxnSpPr>
          <p:nvPr/>
        </p:nvCxnSpPr>
        <p:spPr>
          <a:xfrm>
            <a:off x="6191345" y="2482384"/>
            <a:ext cx="497987" cy="59845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26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浏览和提交作业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6203203" cy="4351338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点击提交结果前面的日期能够打开评测报告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每个测试点都列出了结果、运行时间和内存使用等情况</a:t>
            </a:r>
            <a:r>
              <a:rPr kumimoji="1" lang="en-US" altLang="zh-CN" dirty="0"/>
              <a:t>，</a:t>
            </a:r>
            <a:r>
              <a:rPr kumimoji="1" lang="zh-CN" altLang="en-US" dirty="0"/>
              <a:t>只有正确结果能够得分</a:t>
            </a:r>
            <a:r>
              <a:rPr kumimoji="1" lang="en-US" altLang="zh-CN" dirty="0"/>
              <a:t>，</a:t>
            </a:r>
            <a:r>
              <a:rPr kumimoji="1" lang="zh-CN" altLang="en-US" dirty="0"/>
              <a:t>测试点的分值都相同。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非正确的结果有：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Wrong Answer: </a:t>
            </a:r>
            <a:r>
              <a:rPr kumimoji="1" lang="zh-CN" altLang="en-US" dirty="0"/>
              <a:t>结果错误。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请检查算法是否正确，输入、输出格式是否遵循题目描述。</a:t>
            </a:r>
          </a:p>
          <a:p>
            <a:pPr lvl="2"/>
            <a:r>
              <a:rPr kumimoji="1" lang="en-US" altLang="zh-CN" dirty="0"/>
              <a:t>Runtime Error: </a:t>
            </a:r>
            <a:r>
              <a:rPr kumimoji="1" lang="zh-CN" altLang="en-US" dirty="0"/>
              <a:t>该程序执行过程中产生了未处理的异常。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常见的有整数除以零</a:t>
            </a:r>
            <a:r>
              <a:rPr kumimoji="1" lang="en-US" altLang="zh-CN" dirty="0"/>
              <a:t>(1/0)</a:t>
            </a:r>
            <a:r>
              <a:rPr kumimoji="1" lang="zh-CN" altLang="en-US" dirty="0"/>
              <a:t>、</a:t>
            </a:r>
            <a:r>
              <a:rPr kumimoji="1" lang="en-US" altLang="zh-CN" dirty="0"/>
              <a:t>assert</a:t>
            </a:r>
            <a:r>
              <a:rPr kumimoji="1" lang="zh-CN" altLang="en-US" dirty="0"/>
              <a:t>失败、访问到了非法的内存等等。请进一步调试自己的程序。</a:t>
            </a:r>
          </a:p>
          <a:p>
            <a:pPr lvl="2"/>
            <a:r>
              <a:rPr kumimoji="1" lang="en-US" altLang="zh-CN" dirty="0"/>
              <a:t>Exceed Time Limit: </a:t>
            </a:r>
            <a:r>
              <a:rPr kumimoji="1" lang="zh-CN" altLang="en-US" dirty="0"/>
              <a:t>程序运行超时。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Exceed Memory Limit</a:t>
            </a:r>
            <a:r>
              <a:rPr kumimoji="1" lang="en-US" altLang="en-US" dirty="0"/>
              <a:t>：</a:t>
            </a:r>
            <a:r>
              <a:rPr kumimoji="1" lang="zh-CN" altLang="en-US" dirty="0"/>
              <a:t>程序使用了超过限制的内存。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上面两项请从算法和编码两个角度进一步优化自己的程序。</a:t>
            </a:r>
          </a:p>
        </p:txBody>
      </p:sp>
      <p:pic>
        <p:nvPicPr>
          <p:cNvPr id="5" name="图片 4" descr="屏幕快照 2013-10-17 上午12.06.2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8200" y="2393749"/>
            <a:ext cx="50038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534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浏览和提交作业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624802" cy="4351338"/>
          </a:xfrm>
        </p:spPr>
        <p:txBody>
          <a:bodyPr/>
          <a:lstStyle/>
          <a:p>
            <a:r>
              <a:rPr kumimoji="1" lang="zh-CN" altLang="en-US" dirty="0"/>
              <a:t>签署</a:t>
            </a:r>
            <a:r>
              <a:rPr kumimoji="1" lang="en-US" altLang="zh-CN" dirty="0"/>
              <a:t>Honor code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提及得到别人的帮助</a:t>
            </a:r>
            <a:r>
              <a:rPr kumimoji="1" lang="en-US" altLang="zh-CN" dirty="0"/>
              <a:t>(</a:t>
            </a:r>
            <a:r>
              <a:rPr kumimoji="1" lang="zh-CN" altLang="en-US" dirty="0"/>
              <a:t>非必须</a:t>
            </a:r>
            <a:r>
              <a:rPr kumimoji="1" lang="en-US" altLang="zh-CN" dirty="0"/>
              <a:t>)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提及参考的第三方资料</a:t>
            </a:r>
            <a:r>
              <a:rPr kumimoji="1" lang="en-US" altLang="zh-CN" dirty="0"/>
              <a:t>(</a:t>
            </a:r>
            <a:r>
              <a:rPr kumimoji="1" lang="zh-CN" altLang="en-US" dirty="0"/>
              <a:t>非必须</a:t>
            </a:r>
            <a:r>
              <a:rPr kumimoji="1" lang="en-US" altLang="zh-CN" dirty="0"/>
              <a:t>)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zh-CN" altLang="en-US" dirty="0"/>
              <a:t>签署自己的名字和日期</a:t>
            </a:r>
            <a:r>
              <a:rPr kumimoji="1" lang="en-US" altLang="zh-CN" dirty="0"/>
              <a:t>(</a:t>
            </a:r>
            <a:r>
              <a:rPr kumimoji="1" lang="zh-CN" altLang="en-US" dirty="0"/>
              <a:t>必须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pic>
        <p:nvPicPr>
          <p:cNvPr id="6" name="图片 5" descr="屏幕快照 2013-10-16 下午9.16.59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336" y="0"/>
            <a:ext cx="5521664" cy="6858000"/>
          </a:xfrm>
          <a:prstGeom prst="rect">
            <a:avLst/>
          </a:prstGeom>
        </p:spPr>
      </p:pic>
      <p:cxnSp>
        <p:nvCxnSpPr>
          <p:cNvPr id="7" name="直接箭头连接符 32"/>
          <p:cNvCxnSpPr/>
          <p:nvPr/>
        </p:nvCxnSpPr>
        <p:spPr>
          <a:xfrm flipV="1">
            <a:off x="5551956" y="2087422"/>
            <a:ext cx="1866665" cy="81927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32"/>
          <p:cNvCxnSpPr/>
          <p:nvPr/>
        </p:nvCxnSpPr>
        <p:spPr>
          <a:xfrm flipV="1">
            <a:off x="5855243" y="3357481"/>
            <a:ext cx="1739413" cy="34293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32"/>
          <p:cNvCxnSpPr/>
          <p:nvPr/>
        </p:nvCxnSpPr>
        <p:spPr>
          <a:xfrm>
            <a:off x="5503173" y="4542928"/>
            <a:ext cx="2166926" cy="101514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32"/>
          <p:cNvCxnSpPr/>
          <p:nvPr/>
        </p:nvCxnSpPr>
        <p:spPr>
          <a:xfrm>
            <a:off x="5519957" y="4526940"/>
            <a:ext cx="4099102" cy="101856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988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686</Words>
  <Application>Microsoft Macintosh PowerPoint</Application>
  <PresentationFormat>宽屏</PresentationFormat>
  <Paragraphs>115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主题</vt:lpstr>
      <vt:lpstr>Quick Guide To  Tsinghua Online Judge</vt:lpstr>
      <vt:lpstr>概览</vt:lpstr>
      <vt:lpstr>Tsinghua Online Judge介绍</vt:lpstr>
      <vt:lpstr>Tsinghua Online Judge介绍</vt:lpstr>
      <vt:lpstr>注册</vt:lpstr>
      <vt:lpstr>注册</vt:lpstr>
      <vt:lpstr>注册</vt:lpstr>
      <vt:lpstr>登录</vt:lpstr>
      <vt:lpstr>选课</vt:lpstr>
      <vt:lpstr>浏览和提交作业</vt:lpstr>
      <vt:lpstr>浏览和提交作业</vt:lpstr>
      <vt:lpstr>浏览和提交作业</vt:lpstr>
      <vt:lpstr>浏览和提交作业</vt:lpstr>
      <vt:lpstr>浏览和提交作业</vt:lpstr>
      <vt:lpstr>浏览和提交作业</vt:lpstr>
      <vt:lpstr>浏览和提交作业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Guide To Online Judge</dc:title>
  <dc:creator>Ruizhe Li</dc:creator>
  <cp:lastModifiedBy>柠泽 路</cp:lastModifiedBy>
  <cp:revision>52</cp:revision>
  <dcterms:created xsi:type="dcterms:W3CDTF">2013-09-15T15:16:15Z</dcterms:created>
  <dcterms:modified xsi:type="dcterms:W3CDTF">2026-03-10T09:00:06Z</dcterms:modified>
</cp:coreProperties>
</file>